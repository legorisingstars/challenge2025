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notesMasters/notesMaster1.xml" ContentType="application/vnd.openxmlformats-officedocument.presentationml.notes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707" r:id="rId1"/>
  </p:sldMasterIdLst>
  <p:notesMasterIdLst>
    <p:notesMasterId r:id="rId18"/>
  </p:notesMasterIdLst>
  <p:sldIdLst>
    <p:sldId id="256" r:id="rId2"/>
    <p:sldId id="270" r:id="rId3"/>
    <p:sldId id="257" r:id="rId4"/>
    <p:sldId id="259" r:id="rId5"/>
    <p:sldId id="258" r:id="rId6"/>
    <p:sldId id="262" r:id="rId7"/>
    <p:sldId id="263" r:id="rId8"/>
    <p:sldId id="264" r:id="rId9"/>
    <p:sldId id="266" r:id="rId10"/>
    <p:sldId id="265" r:id="rId11"/>
    <p:sldId id="261" r:id="rId12"/>
    <p:sldId id="267" r:id="rId13"/>
    <p:sldId id="268" r:id="rId14"/>
    <p:sldId id="269" r:id="rId15"/>
    <p:sldId id="271" r:id="rId16"/>
    <p:sldId id="272" r:id="rId17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vikas loomba" initials="vl" lastIdx="1" clrIdx="0">
    <p:extLst>
      <p:ext uri="{19B8F6BF-5375-455C-9EA6-DF929625EA0E}">
        <p15:presenceInfo xmlns:p15="http://schemas.microsoft.com/office/powerpoint/2012/main" userId="f63a4a0c17b82d16" providerId="Windows Live"/>
      </p:ext>
    </p:extLst>
  </p:cmAuthor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7025" autoAdjust="0"/>
    <p:restoredTop sz="96794" autoAdjust="0"/>
  </p:normalViewPr>
  <p:slideViewPr>
    <p:cSldViewPr snapToGrid="0">
      <p:cViewPr varScale="1">
        <p:scale>
          <a:sx n="120" d="100"/>
          <a:sy n="120" d="100"/>
        </p:scale>
        <p:origin x="114" y="312"/>
      </p:cViewPr>
      <p:guideLst/>
    </p:cSldViewPr>
  </p:slideViewPr>
  <p:notesTextViewPr>
    <p:cViewPr>
      <p:scale>
        <a:sx n="125" d="100"/>
        <a:sy n="125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21" Type="http://schemas.openxmlformats.org/officeDocument/2006/relationships/viewProps" Target="view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commentAuthors" Target="commentAuthor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C18FD63A-F8FC-4A0C-8540-00C7AED4F48E}" type="datetimeFigureOut">
              <a:rPr lang="en-US" smtClean="0"/>
              <a:t>11/30/2025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2F4228F8-FB73-46B0-A250-E6C5C0B176A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3464216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Riona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F4228F8-FB73-46B0-A250-E6C5C0B176A9}" type="slidenum">
              <a:rPr lang="en-US" smtClean="0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19279412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Riona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F4228F8-FB73-46B0-A250-E6C5C0B176A9}" type="slidenum">
              <a:rPr lang="en-US" smtClean="0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48425274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Shaivi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F4228F8-FB73-46B0-A250-E6C5C0B176A9}" type="slidenum">
              <a:rPr lang="en-US" smtClean="0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90192647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Shaivi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F4228F8-FB73-46B0-A250-E6C5C0B176A9}" type="slidenum">
              <a:rPr lang="en-US" smtClean="0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9766672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Zoey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F4228F8-FB73-46B0-A250-E6C5C0B176A9}" type="slidenum">
              <a:rPr lang="en-US" smtClean="0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93771289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Zoey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F4228F8-FB73-46B0-A250-E6C5C0B176A9}" type="slidenum">
              <a:rPr lang="en-US" smtClean="0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66795599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Saanvi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F4228F8-FB73-46B0-A250-E6C5C0B176A9}" type="slidenum">
              <a:rPr lang="en-US" smtClean="0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42573184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Saanvi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F4228F8-FB73-46B0-A250-E6C5C0B176A9}" type="slidenum">
              <a:rPr lang="en-US" smtClean="0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62226454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Saumya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F4228F8-FB73-46B0-A250-E6C5C0B176A9}" type="slidenum">
              <a:rPr lang="en-US" smtClean="0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57447878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Saumya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F4228F8-FB73-46B0-A250-E6C5C0B176A9}" type="slidenum">
              <a:rPr lang="en-US" smtClean="0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34391254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Girisha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F4228F8-FB73-46B0-A250-E6C5C0B176A9}" type="slidenum">
              <a:rPr lang="en-US" smtClean="0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19759822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Girisha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F4228F8-FB73-46B0-A250-E6C5C0B176A9}" type="slidenum">
              <a:rPr lang="en-US" smtClean="0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67326997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Riya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F4228F8-FB73-46B0-A250-E6C5C0B176A9}" type="slidenum">
              <a:rPr lang="en-US" smtClean="0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22305149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Riya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F4228F8-FB73-46B0-A250-E6C5C0B176A9}" type="slidenum">
              <a:rPr lang="en-US" smtClean="0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46948410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Group 6"/>
          <p:cNvGrpSpPr/>
          <p:nvPr/>
        </p:nvGrpSpPr>
        <p:grpSpPr>
          <a:xfrm>
            <a:off x="0" y="-8467"/>
            <a:ext cx="12192000" cy="6866467"/>
            <a:chOff x="0" y="-8467"/>
            <a:chExt cx="12192000" cy="6866467"/>
          </a:xfrm>
        </p:grpSpPr>
        <p:cxnSp>
          <p:nvCxnSpPr>
            <p:cNvPr id="32" name="Straight Connector 31"/>
            <p:cNvCxnSpPr/>
            <p:nvPr/>
          </p:nvCxnSpPr>
          <p:spPr>
            <a:xfrm>
              <a:off x="9371012" y="0"/>
              <a:ext cx="1219200" cy="6858000"/>
            </a:xfrm>
            <a:prstGeom prst="line">
              <a:avLst/>
            </a:prstGeom>
            <a:ln w="952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Straight Connector 20"/>
            <p:cNvCxnSpPr/>
            <p:nvPr/>
          </p:nvCxnSpPr>
          <p:spPr>
            <a:xfrm flipH="1">
              <a:off x="7425267" y="3681413"/>
              <a:ext cx="4763558" cy="3176587"/>
            </a:xfrm>
            <a:prstGeom prst="line">
              <a:avLst/>
            </a:prstGeom>
            <a:ln w="9525">
              <a:solidFill>
                <a:schemeClr val="bg1">
                  <a:lumMod val="8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4" name="Rectangle 23"/>
            <p:cNvSpPr/>
            <p:nvPr/>
          </p:nvSpPr>
          <p:spPr>
            <a:xfrm>
              <a:off x="9181476" y="-8467"/>
              <a:ext cx="3007349" cy="6866467"/>
            </a:xfrm>
            <a:custGeom>
              <a:avLst/>
              <a:gdLst/>
              <a:ahLst/>
              <a:cxnLst/>
              <a:rect l="l" t="t" r="r" b="b"/>
              <a:pathLst>
                <a:path w="3007349" h="6866467">
                  <a:moveTo>
                    <a:pt x="2045532" y="0"/>
                  </a:moveTo>
                  <a:lnTo>
                    <a:pt x="3007349" y="0"/>
                  </a:lnTo>
                  <a:lnTo>
                    <a:pt x="3007349" y="6866467"/>
                  </a:lnTo>
                  <a:lnTo>
                    <a:pt x="0" y="6866467"/>
                  </a:lnTo>
                  <a:lnTo>
                    <a:pt x="2045532" y="0"/>
                  </a:lnTo>
                  <a:close/>
                </a:path>
              </a:pathLst>
            </a:custGeom>
            <a:solidFill>
              <a:schemeClr val="accent1">
                <a:alpha val="3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6" name="Rectangle 25"/>
            <p:cNvSpPr/>
            <p:nvPr/>
          </p:nvSpPr>
          <p:spPr>
            <a:xfrm>
              <a:off x="9603442" y="-8467"/>
              <a:ext cx="2588558" cy="6866467"/>
            </a:xfrm>
            <a:custGeom>
              <a:avLst/>
              <a:gdLst/>
              <a:ahLst/>
              <a:cxnLst/>
              <a:rect l="l" t="t" r="r" b="b"/>
              <a:pathLst>
                <a:path w="2573311" h="6866467">
                  <a:moveTo>
                    <a:pt x="0" y="0"/>
                  </a:moveTo>
                  <a:lnTo>
                    <a:pt x="2573311" y="0"/>
                  </a:lnTo>
                  <a:lnTo>
                    <a:pt x="2573311" y="6866467"/>
                  </a:lnTo>
                  <a:lnTo>
                    <a:pt x="1202336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2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7" name="Isosceles Triangle 26"/>
            <p:cNvSpPr/>
            <p:nvPr/>
          </p:nvSpPr>
          <p:spPr>
            <a:xfrm>
              <a:off x="8932333" y="3048000"/>
              <a:ext cx="3259667" cy="3810000"/>
            </a:xfrm>
            <a:prstGeom prst="triangle">
              <a:avLst>
                <a:gd name="adj" fmla="val 100000"/>
              </a:avLst>
            </a:prstGeom>
            <a:solidFill>
              <a:schemeClr val="accent2">
                <a:alpha val="72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8" name="Rectangle 27"/>
            <p:cNvSpPr/>
            <p:nvPr/>
          </p:nvSpPr>
          <p:spPr>
            <a:xfrm>
              <a:off x="9334500" y="-8467"/>
              <a:ext cx="2854326" cy="6866467"/>
            </a:xfrm>
            <a:custGeom>
              <a:avLst/>
              <a:gdLst/>
              <a:ahLst/>
              <a:cxnLst/>
              <a:rect l="l" t="t" r="r" b="b"/>
              <a:pathLst>
                <a:path w="2858013" h="6866467">
                  <a:moveTo>
                    <a:pt x="0" y="0"/>
                  </a:moveTo>
                  <a:lnTo>
                    <a:pt x="2858013" y="0"/>
                  </a:lnTo>
                  <a:lnTo>
                    <a:pt x="2858013" y="6866467"/>
                  </a:lnTo>
                  <a:lnTo>
                    <a:pt x="2473942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2">
                <a:lumMod val="75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9" name="Rectangle 28"/>
            <p:cNvSpPr/>
            <p:nvPr/>
          </p:nvSpPr>
          <p:spPr>
            <a:xfrm>
              <a:off x="10898730" y="-8467"/>
              <a:ext cx="1290094" cy="6866467"/>
            </a:xfrm>
            <a:custGeom>
              <a:avLst/>
              <a:gdLst/>
              <a:ahLst/>
              <a:cxnLst/>
              <a:rect l="l" t="t" r="r" b="b"/>
              <a:pathLst>
                <a:path w="1290094" h="6858000">
                  <a:moveTo>
                    <a:pt x="1019735" y="0"/>
                  </a:moveTo>
                  <a:lnTo>
                    <a:pt x="1290094" y="0"/>
                  </a:lnTo>
                  <a:lnTo>
                    <a:pt x="1290094" y="6858000"/>
                  </a:lnTo>
                  <a:lnTo>
                    <a:pt x="0" y="6858000"/>
                  </a:lnTo>
                  <a:lnTo>
                    <a:pt x="1019735" y="0"/>
                  </a:lnTo>
                  <a:close/>
                </a:path>
              </a:pathLst>
            </a:custGeom>
            <a:solidFill>
              <a:schemeClr val="accent1">
                <a:lumMod val="60000"/>
                <a:lumOff val="40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30" name="Rectangle 29"/>
            <p:cNvSpPr/>
            <p:nvPr/>
          </p:nvSpPr>
          <p:spPr>
            <a:xfrm>
              <a:off x="10938999" y="-8467"/>
              <a:ext cx="1249825" cy="6866467"/>
            </a:xfrm>
            <a:custGeom>
              <a:avLst/>
              <a:gdLst/>
              <a:ahLst/>
              <a:cxnLst/>
              <a:rect l="l" t="t" r="r" b="b"/>
              <a:pathLst>
                <a:path w="1249825" h="6858000">
                  <a:moveTo>
                    <a:pt x="0" y="0"/>
                  </a:moveTo>
                  <a:lnTo>
                    <a:pt x="1249825" y="0"/>
                  </a:lnTo>
                  <a:lnTo>
                    <a:pt x="1249825" y="6858000"/>
                  </a:lnTo>
                  <a:lnTo>
                    <a:pt x="1109382" y="6858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6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31" name="Isosceles Triangle 30"/>
            <p:cNvSpPr/>
            <p:nvPr/>
          </p:nvSpPr>
          <p:spPr>
            <a:xfrm>
              <a:off x="10371666" y="3589867"/>
              <a:ext cx="1817159" cy="3268133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alpha val="8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9" name="Isosceles Triangle 18"/>
            <p:cNvSpPr/>
            <p:nvPr/>
          </p:nvSpPr>
          <p:spPr>
            <a:xfrm rot="10800000">
              <a:off x="0" y="0"/>
              <a:ext cx="842596" cy="5666154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alpha val="8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</p:grp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07067" y="2404534"/>
            <a:ext cx="7766936" cy="1646302"/>
          </a:xfrm>
        </p:spPr>
        <p:txBody>
          <a:bodyPr anchor="b">
            <a:noAutofit/>
          </a:bodyPr>
          <a:lstStyle>
            <a:lvl1pPr algn="r">
              <a:defRPr sz="5400">
                <a:solidFill>
                  <a:schemeClr val="accent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07067" y="4050833"/>
            <a:ext cx="7766936" cy="1096899"/>
          </a:xfrm>
        </p:spPr>
        <p:txBody>
          <a:bodyPr anchor="t"/>
          <a:lstStyle>
            <a:lvl1pPr marL="0" indent="0" algn="r">
              <a:buNone/>
              <a:defRPr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214EFA7-94EC-4BC8-BC85-3E595F55699A}" type="datetimeFigureOut">
              <a:rPr lang="en-US" smtClean="0"/>
              <a:t>11/30/2025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A1EA9D-5C1F-45F4-9F1C-6EC2EC60525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7862714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>
            <a:lvl1pPr>
              <a:defRPr sz="3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214EFA7-94EC-4BC8-BC85-3E595F55699A}" type="datetimeFigureOut">
              <a:rPr lang="en-US" smtClean="0"/>
              <a:t>11/30/2025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A1EA9D-5C1F-45F4-9F1C-6EC2EC60525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5592018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5" y="2700867"/>
            <a:ext cx="8596668" cy="1826581"/>
          </a:xfrm>
        </p:spPr>
        <p:txBody>
          <a:bodyPr anchor="b"/>
          <a:lstStyle>
            <a:lvl1pPr algn="l">
              <a:defRPr sz="40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527448"/>
            <a:ext cx="8596668" cy="860400"/>
          </a:xfrm>
        </p:spPr>
        <p:txBody>
          <a:bodyPr anchor="t"/>
          <a:lstStyle>
            <a:lvl1pPr marL="0" indent="0" algn="l">
              <a:buNone/>
              <a:defRPr sz="20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214EFA7-94EC-4BC8-BC85-3E595F55699A}" type="datetimeFigureOut">
              <a:rPr lang="en-US" smtClean="0"/>
              <a:t>11/30/2025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A1EA9D-5C1F-45F4-9F1C-6EC2EC60525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2486995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77334" y="2160589"/>
            <a:ext cx="4184035" cy="388077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089970" y="2160589"/>
            <a:ext cx="4184034" cy="3880773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214EFA7-94EC-4BC8-BC85-3E595F55699A}" type="datetimeFigureOut">
              <a:rPr lang="en-US" smtClean="0"/>
              <a:t>11/30/2025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A1EA9D-5C1F-45F4-9F1C-6EC2EC60525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124241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5745" y="2160983"/>
            <a:ext cx="4185623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75745" y="2737245"/>
            <a:ext cx="4185623" cy="3304117"/>
          </a:xfrm>
        </p:spPr>
        <p:txBody>
          <a:bodyPr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5088383" y="2160983"/>
            <a:ext cx="4185618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5088384" y="2737245"/>
            <a:ext cx="4185617" cy="3304117"/>
          </a:xfrm>
        </p:spPr>
        <p:txBody>
          <a:bodyPr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214EFA7-94EC-4BC8-BC85-3E595F55699A}" type="datetimeFigureOut">
              <a:rPr lang="en-US" smtClean="0"/>
              <a:t>11/30/2025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A1EA9D-5C1F-45F4-9F1C-6EC2EC60525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9298526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4" y="609600"/>
            <a:ext cx="8596668" cy="1320800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214EFA7-94EC-4BC8-BC85-3E595F55699A}" type="datetimeFigureOut">
              <a:rPr lang="en-US" smtClean="0"/>
              <a:t>11/30/2025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A1EA9D-5C1F-45F4-9F1C-6EC2EC60525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2754772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214EFA7-94EC-4BC8-BC85-3E595F55699A}" type="datetimeFigureOut">
              <a:rPr lang="en-US" smtClean="0"/>
              <a:t>11/30/2025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A1EA9D-5C1F-45F4-9F1C-6EC2EC60525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6062912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4" y="1498604"/>
            <a:ext cx="3854528" cy="1278466"/>
          </a:xfrm>
        </p:spPr>
        <p:txBody>
          <a:bodyPr anchor="b">
            <a:normAutofit/>
          </a:bodyPr>
          <a:lstStyle>
            <a:lvl1pPr>
              <a:defRPr sz="2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60461" y="514924"/>
            <a:ext cx="4513541" cy="5526437"/>
          </a:xfrm>
        </p:spPr>
        <p:txBody>
          <a:bodyPr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77334" y="2777069"/>
            <a:ext cx="3854528" cy="2584449"/>
          </a:xfrm>
        </p:spPr>
        <p:txBody>
          <a:bodyPr>
            <a:normAutofit/>
          </a:bodyPr>
          <a:lstStyle>
            <a:lvl1pPr marL="0" indent="0">
              <a:buNone/>
              <a:defRPr sz="1400"/>
            </a:lvl1pPr>
            <a:lvl2pPr marL="457063" indent="0">
              <a:buNone/>
              <a:defRPr sz="1400"/>
            </a:lvl2pPr>
            <a:lvl3pPr marL="914126" indent="0">
              <a:buNone/>
              <a:defRPr sz="1200"/>
            </a:lvl3pPr>
            <a:lvl4pPr marL="1371189" indent="0">
              <a:buNone/>
              <a:defRPr sz="1000"/>
            </a:lvl4pPr>
            <a:lvl5pPr marL="1828251" indent="0">
              <a:buNone/>
              <a:defRPr sz="1000"/>
            </a:lvl5pPr>
            <a:lvl6pPr marL="2285314" indent="0">
              <a:buNone/>
              <a:defRPr sz="1000"/>
            </a:lvl6pPr>
            <a:lvl7pPr marL="2742377" indent="0">
              <a:buNone/>
              <a:defRPr sz="1000"/>
            </a:lvl7pPr>
            <a:lvl8pPr marL="3199440" indent="0">
              <a:buNone/>
              <a:defRPr sz="1000"/>
            </a:lvl8pPr>
            <a:lvl9pPr marL="3656503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214EFA7-94EC-4BC8-BC85-3E595F55699A}" type="datetimeFigureOut">
              <a:rPr lang="en-US" smtClean="0"/>
              <a:t>11/30/2025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A1EA9D-5C1F-45F4-9F1C-6EC2EC60525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6660531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4" y="4800600"/>
            <a:ext cx="8596667" cy="566738"/>
          </a:xfrm>
        </p:spPr>
        <p:txBody>
          <a:bodyPr anchor="b">
            <a:normAutofit/>
          </a:bodyPr>
          <a:lstStyle>
            <a:lvl1pPr algn="l">
              <a:defRPr sz="24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677334" y="609600"/>
            <a:ext cx="8596668" cy="3845718"/>
          </a:xfrm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77334" y="5367338"/>
            <a:ext cx="8596667" cy="674024"/>
          </a:xfrm>
        </p:spPr>
        <p:txBody>
          <a:bodyPr>
            <a:normAutofit/>
          </a:bodyPr>
          <a:lstStyle>
            <a:lvl1pPr marL="0" indent="0">
              <a:buNone/>
              <a:defRPr sz="12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214EFA7-94EC-4BC8-BC85-3E595F55699A}" type="datetimeFigureOut">
              <a:rPr lang="en-US" smtClean="0"/>
              <a:t>11/30/2025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A1EA9D-5C1F-45F4-9F1C-6EC2EC60525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737147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5" y="609600"/>
            <a:ext cx="8596668" cy="3403600"/>
          </a:xfrm>
        </p:spPr>
        <p:txBody>
          <a:bodyPr anchor="ctr">
            <a:normAutofit/>
          </a:bodyPr>
          <a:lstStyle>
            <a:lvl1pPr algn="l">
              <a:defRPr sz="44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470400"/>
            <a:ext cx="8596668" cy="1570962"/>
          </a:xfrm>
        </p:spPr>
        <p:txBody>
          <a:bodyPr anchor="ctr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214EFA7-94EC-4BC8-BC85-3E595F55699A}" type="datetimeFigureOut">
              <a:rPr lang="en-US" smtClean="0"/>
              <a:t>11/30/2025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A1EA9D-5C1F-45F4-9F1C-6EC2EC60525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258535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31334" y="609600"/>
            <a:ext cx="8094134" cy="3022600"/>
          </a:xfrm>
        </p:spPr>
        <p:txBody>
          <a:bodyPr anchor="ctr">
            <a:normAutofit/>
          </a:bodyPr>
          <a:lstStyle>
            <a:lvl1pPr algn="l">
              <a:defRPr sz="44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23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1366139" y="3632200"/>
            <a:ext cx="7224524" cy="381000"/>
          </a:xfrm>
        </p:spPr>
        <p:txBody>
          <a:bodyPr anchor="ctr">
            <a:noAutofit/>
          </a:bodyPr>
          <a:lstStyle>
            <a:lvl1pPr marL="0" indent="0">
              <a:buFontTx/>
              <a:buNone/>
              <a:defRPr sz="16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470400"/>
            <a:ext cx="8596668" cy="1570962"/>
          </a:xfrm>
        </p:spPr>
        <p:txBody>
          <a:bodyPr anchor="ctr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214EFA7-94EC-4BC8-BC85-3E595F55699A}" type="datetimeFigureOut">
              <a:rPr lang="en-US" smtClean="0"/>
              <a:t>11/30/2025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A1EA9D-5C1F-45F4-9F1C-6EC2EC60525E}" type="slidenum">
              <a:rPr lang="en-US" smtClean="0"/>
              <a:t>‹#›</a:t>
            </a:fld>
            <a:endParaRPr lang="en-US"/>
          </a:p>
        </p:txBody>
      </p:sp>
      <p:sp>
        <p:nvSpPr>
          <p:cNvPr id="20" name="TextBox 19"/>
          <p:cNvSpPr txBox="1"/>
          <p:nvPr/>
        </p:nvSpPr>
        <p:spPr>
          <a:xfrm>
            <a:off x="541870" y="790378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effectLst/>
                <a:latin typeface="Arial"/>
              </a:rPr>
              <a:t>“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893011" y="2886556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latin typeface="Arial"/>
              </a:rPr>
              <a:t>”</a:t>
            </a:r>
            <a:endParaRPr lang="en-US" dirty="0">
              <a:solidFill>
                <a:schemeClr val="accent1">
                  <a:lumMod val="60000"/>
                  <a:lumOff val="40000"/>
                </a:schemeClr>
              </a:solidFill>
              <a:latin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1923811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5" y="1931988"/>
            <a:ext cx="8596668" cy="2595460"/>
          </a:xfrm>
        </p:spPr>
        <p:txBody>
          <a:bodyPr anchor="b">
            <a:normAutofit/>
          </a:bodyPr>
          <a:lstStyle>
            <a:lvl1pPr algn="l">
              <a:defRPr sz="44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527448"/>
            <a:ext cx="8596668" cy="1513914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214EFA7-94EC-4BC8-BC85-3E595F55699A}" type="datetimeFigureOut">
              <a:rPr lang="en-US" smtClean="0"/>
              <a:t>11/30/2025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A1EA9D-5C1F-45F4-9F1C-6EC2EC60525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49579772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31334" y="609600"/>
            <a:ext cx="8094134" cy="3022600"/>
          </a:xfrm>
        </p:spPr>
        <p:txBody>
          <a:bodyPr anchor="ctr">
            <a:normAutofit/>
          </a:bodyPr>
          <a:lstStyle>
            <a:lvl1pPr algn="l">
              <a:defRPr sz="44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23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677332" y="4013200"/>
            <a:ext cx="8596669" cy="514248"/>
          </a:xfrm>
        </p:spPr>
        <p:txBody>
          <a:bodyPr anchor="b">
            <a:noAutofit/>
          </a:bodyPr>
          <a:lstStyle>
            <a:lvl1pPr marL="0" indent="0">
              <a:buFontTx/>
              <a:buNone/>
              <a:defRPr sz="24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527448"/>
            <a:ext cx="8596668" cy="1513914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214EFA7-94EC-4BC8-BC85-3E595F55699A}" type="datetimeFigureOut">
              <a:rPr lang="en-US" smtClean="0"/>
              <a:t>11/30/2025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A1EA9D-5C1F-45F4-9F1C-6EC2EC60525E}" type="slidenum">
              <a:rPr lang="en-US" smtClean="0"/>
              <a:t>‹#›</a:t>
            </a:fld>
            <a:endParaRPr lang="en-US"/>
          </a:p>
        </p:txBody>
      </p:sp>
      <p:sp>
        <p:nvSpPr>
          <p:cNvPr id="24" name="TextBox 23"/>
          <p:cNvSpPr txBox="1"/>
          <p:nvPr/>
        </p:nvSpPr>
        <p:spPr>
          <a:xfrm>
            <a:off x="541870" y="790378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effectLst/>
                <a:latin typeface="Arial"/>
              </a:rPr>
              <a:t>“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893011" y="2886556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effectLst/>
                <a:latin typeface="Arial"/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3797158332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rue or Fals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799" y="609600"/>
            <a:ext cx="8588203" cy="3022600"/>
          </a:xfrm>
        </p:spPr>
        <p:txBody>
          <a:bodyPr anchor="ctr">
            <a:normAutofit/>
          </a:bodyPr>
          <a:lstStyle>
            <a:lvl1pPr algn="l">
              <a:defRPr sz="44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23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677332" y="4013200"/>
            <a:ext cx="8596669" cy="514248"/>
          </a:xfrm>
        </p:spPr>
        <p:txBody>
          <a:bodyPr anchor="b">
            <a:noAutofit/>
          </a:bodyPr>
          <a:lstStyle>
            <a:lvl1pPr marL="0" indent="0">
              <a:buFontTx/>
              <a:buNone/>
              <a:defRPr sz="2400">
                <a:solidFill>
                  <a:schemeClr val="accent1"/>
                </a:solidFill>
              </a:defRPr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527448"/>
            <a:ext cx="8596668" cy="1513914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214EFA7-94EC-4BC8-BC85-3E595F55699A}" type="datetimeFigureOut">
              <a:rPr lang="en-US" smtClean="0"/>
              <a:t>11/30/2025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A1EA9D-5C1F-45F4-9F1C-6EC2EC60525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6285077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214EFA7-94EC-4BC8-BC85-3E595F55699A}" type="datetimeFigureOut">
              <a:rPr lang="en-US" smtClean="0"/>
              <a:t>11/30/2025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A1EA9D-5C1F-45F4-9F1C-6EC2EC60525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19581392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7967673" y="609599"/>
            <a:ext cx="1304743" cy="5251451"/>
          </a:xfrm>
        </p:spPr>
        <p:txBody>
          <a:bodyPr vert="eaVert" anchor="ctr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77335" y="609600"/>
            <a:ext cx="7060150" cy="5251450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214EFA7-94EC-4BC8-BC85-3E595F55699A}" type="datetimeFigureOut">
              <a:rPr lang="en-US" smtClean="0"/>
              <a:t>11/30/2025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A1EA9D-5C1F-45F4-9F1C-6EC2EC60525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3906473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Group 6"/>
          <p:cNvGrpSpPr/>
          <p:nvPr/>
        </p:nvGrpSpPr>
        <p:grpSpPr>
          <a:xfrm>
            <a:off x="0" y="-8467"/>
            <a:ext cx="12192000" cy="6866467"/>
            <a:chOff x="0" y="-8467"/>
            <a:chExt cx="12192000" cy="6866467"/>
          </a:xfrm>
        </p:grpSpPr>
        <p:cxnSp>
          <p:nvCxnSpPr>
            <p:cNvPr id="20" name="Straight Connector 19"/>
            <p:cNvCxnSpPr/>
            <p:nvPr/>
          </p:nvCxnSpPr>
          <p:spPr>
            <a:xfrm>
              <a:off x="9371012" y="0"/>
              <a:ext cx="1219200" cy="6858000"/>
            </a:xfrm>
            <a:prstGeom prst="line">
              <a:avLst/>
            </a:prstGeom>
            <a:ln w="952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Straight Connector 20"/>
            <p:cNvCxnSpPr/>
            <p:nvPr/>
          </p:nvCxnSpPr>
          <p:spPr>
            <a:xfrm flipH="1">
              <a:off x="7425267" y="3681413"/>
              <a:ext cx="4763558" cy="3176587"/>
            </a:xfrm>
            <a:prstGeom prst="line">
              <a:avLst/>
            </a:prstGeom>
            <a:ln w="9525">
              <a:solidFill>
                <a:schemeClr val="bg1">
                  <a:lumMod val="8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2" name="Rectangle 23"/>
            <p:cNvSpPr/>
            <p:nvPr/>
          </p:nvSpPr>
          <p:spPr>
            <a:xfrm>
              <a:off x="9181476" y="-8467"/>
              <a:ext cx="3007349" cy="6866467"/>
            </a:xfrm>
            <a:custGeom>
              <a:avLst/>
              <a:gdLst/>
              <a:ahLst/>
              <a:cxnLst/>
              <a:rect l="l" t="t" r="r" b="b"/>
              <a:pathLst>
                <a:path w="3007349" h="6866467">
                  <a:moveTo>
                    <a:pt x="2045532" y="0"/>
                  </a:moveTo>
                  <a:lnTo>
                    <a:pt x="3007349" y="0"/>
                  </a:lnTo>
                  <a:lnTo>
                    <a:pt x="3007349" y="6866467"/>
                  </a:lnTo>
                  <a:lnTo>
                    <a:pt x="0" y="6866467"/>
                  </a:lnTo>
                  <a:lnTo>
                    <a:pt x="2045532" y="0"/>
                  </a:lnTo>
                  <a:close/>
                </a:path>
              </a:pathLst>
            </a:custGeom>
            <a:solidFill>
              <a:schemeClr val="accent1">
                <a:alpha val="3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3" name="Rectangle 25"/>
            <p:cNvSpPr/>
            <p:nvPr/>
          </p:nvSpPr>
          <p:spPr>
            <a:xfrm>
              <a:off x="9603442" y="-8467"/>
              <a:ext cx="2588558" cy="6866467"/>
            </a:xfrm>
            <a:custGeom>
              <a:avLst/>
              <a:gdLst/>
              <a:ahLst/>
              <a:cxnLst/>
              <a:rect l="l" t="t" r="r" b="b"/>
              <a:pathLst>
                <a:path w="2573311" h="6866467">
                  <a:moveTo>
                    <a:pt x="0" y="0"/>
                  </a:moveTo>
                  <a:lnTo>
                    <a:pt x="2573311" y="0"/>
                  </a:lnTo>
                  <a:lnTo>
                    <a:pt x="2573311" y="6866467"/>
                  </a:lnTo>
                  <a:lnTo>
                    <a:pt x="1202336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2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4" name="Isosceles Triangle 23"/>
            <p:cNvSpPr/>
            <p:nvPr/>
          </p:nvSpPr>
          <p:spPr>
            <a:xfrm>
              <a:off x="8932333" y="3048000"/>
              <a:ext cx="3259667" cy="3810000"/>
            </a:xfrm>
            <a:prstGeom prst="triangle">
              <a:avLst>
                <a:gd name="adj" fmla="val 100000"/>
              </a:avLst>
            </a:prstGeom>
            <a:solidFill>
              <a:schemeClr val="accent2">
                <a:alpha val="72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5" name="Rectangle 27"/>
            <p:cNvSpPr/>
            <p:nvPr/>
          </p:nvSpPr>
          <p:spPr>
            <a:xfrm>
              <a:off x="9334500" y="-8467"/>
              <a:ext cx="2854326" cy="6866467"/>
            </a:xfrm>
            <a:custGeom>
              <a:avLst/>
              <a:gdLst/>
              <a:ahLst/>
              <a:cxnLst/>
              <a:rect l="l" t="t" r="r" b="b"/>
              <a:pathLst>
                <a:path w="2858013" h="6866467">
                  <a:moveTo>
                    <a:pt x="0" y="0"/>
                  </a:moveTo>
                  <a:lnTo>
                    <a:pt x="2858013" y="0"/>
                  </a:lnTo>
                  <a:lnTo>
                    <a:pt x="2858013" y="6866467"/>
                  </a:lnTo>
                  <a:lnTo>
                    <a:pt x="2473942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2">
                <a:lumMod val="75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6" name="Rectangle 28"/>
            <p:cNvSpPr/>
            <p:nvPr/>
          </p:nvSpPr>
          <p:spPr>
            <a:xfrm>
              <a:off x="10898730" y="-8467"/>
              <a:ext cx="1290094" cy="6866467"/>
            </a:xfrm>
            <a:custGeom>
              <a:avLst/>
              <a:gdLst/>
              <a:ahLst/>
              <a:cxnLst/>
              <a:rect l="l" t="t" r="r" b="b"/>
              <a:pathLst>
                <a:path w="1290094" h="6858000">
                  <a:moveTo>
                    <a:pt x="1019735" y="0"/>
                  </a:moveTo>
                  <a:lnTo>
                    <a:pt x="1290094" y="0"/>
                  </a:lnTo>
                  <a:lnTo>
                    <a:pt x="1290094" y="6858000"/>
                  </a:lnTo>
                  <a:lnTo>
                    <a:pt x="0" y="6858000"/>
                  </a:lnTo>
                  <a:lnTo>
                    <a:pt x="1019735" y="0"/>
                  </a:lnTo>
                  <a:close/>
                </a:path>
              </a:pathLst>
            </a:custGeom>
            <a:solidFill>
              <a:schemeClr val="accent1">
                <a:lumMod val="60000"/>
                <a:lumOff val="40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7" name="Rectangle 29"/>
            <p:cNvSpPr/>
            <p:nvPr/>
          </p:nvSpPr>
          <p:spPr>
            <a:xfrm>
              <a:off x="10938999" y="-8467"/>
              <a:ext cx="1249825" cy="6866467"/>
            </a:xfrm>
            <a:custGeom>
              <a:avLst/>
              <a:gdLst/>
              <a:ahLst/>
              <a:cxnLst/>
              <a:rect l="l" t="t" r="r" b="b"/>
              <a:pathLst>
                <a:path w="1249825" h="6858000">
                  <a:moveTo>
                    <a:pt x="0" y="0"/>
                  </a:moveTo>
                  <a:lnTo>
                    <a:pt x="1249825" y="0"/>
                  </a:lnTo>
                  <a:lnTo>
                    <a:pt x="1249825" y="6858000"/>
                  </a:lnTo>
                  <a:lnTo>
                    <a:pt x="1109382" y="6858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6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8" name="Isosceles Triangle 27"/>
            <p:cNvSpPr/>
            <p:nvPr/>
          </p:nvSpPr>
          <p:spPr>
            <a:xfrm>
              <a:off x="10371666" y="3589867"/>
              <a:ext cx="1817159" cy="3268133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alpha val="8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9" name="Isosceles Triangle 28"/>
            <p:cNvSpPr/>
            <p:nvPr/>
          </p:nvSpPr>
          <p:spPr>
            <a:xfrm>
              <a:off x="0" y="4013200"/>
              <a:ext cx="448733" cy="2844800"/>
            </a:xfrm>
            <a:prstGeom prst="triangle">
              <a:avLst>
                <a:gd name="adj" fmla="val 0"/>
              </a:avLst>
            </a:prstGeom>
            <a:solidFill>
              <a:schemeClr val="accent1">
                <a:alpha val="8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</p:grp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77334" y="609600"/>
            <a:ext cx="8596668" cy="1320800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4" y="2160589"/>
            <a:ext cx="8596668" cy="388077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7205133" y="6041362"/>
            <a:ext cx="91193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214EFA7-94EC-4BC8-BC85-3E595F55699A}" type="datetimeFigureOut">
              <a:rPr lang="en-US" smtClean="0"/>
              <a:t>11/30/2025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677334" y="6041362"/>
            <a:ext cx="629761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590663" y="6041362"/>
            <a:ext cx="68333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accent1"/>
                </a:solidFill>
              </a:defRPr>
            </a:lvl1pPr>
          </a:lstStyle>
          <a:p>
            <a:fld id="{4BA1EA9D-5C1F-45F4-9F1C-6EC2EC60525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9580634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08" r:id="rId1"/>
    <p:sldLayoutId id="2147483709" r:id="rId2"/>
    <p:sldLayoutId id="2147483710" r:id="rId3"/>
    <p:sldLayoutId id="2147483711" r:id="rId4"/>
    <p:sldLayoutId id="2147483712" r:id="rId5"/>
    <p:sldLayoutId id="2147483713" r:id="rId6"/>
    <p:sldLayoutId id="2147483714" r:id="rId7"/>
    <p:sldLayoutId id="2147483715" r:id="rId8"/>
    <p:sldLayoutId id="2147483716" r:id="rId9"/>
    <p:sldLayoutId id="2147483717" r:id="rId10"/>
    <p:sldLayoutId id="2147483718" r:id="rId11"/>
    <p:sldLayoutId id="2147483719" r:id="rId12"/>
    <p:sldLayoutId id="2147483720" r:id="rId13"/>
    <p:sldLayoutId id="2147483721" r:id="rId14"/>
    <p:sldLayoutId id="2147483722" r:id="rId15"/>
    <p:sldLayoutId id="2147483723" r:id="rId16"/>
  </p:sldLayoutIdLst>
  <p:txStyles>
    <p:titleStyle>
      <a:lvl1pPr algn="l" defTabSz="457200" rtl="0" eaLnBrk="1" latinLnBrk="0" hangingPunct="1">
        <a:spcBef>
          <a:spcPct val="0"/>
        </a:spcBef>
        <a:buNone/>
        <a:defRPr sz="3600" kern="1200">
          <a:solidFill>
            <a:schemeClr val="accent1"/>
          </a:solidFill>
          <a:latin typeface="+mj-lt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342900" indent="-3429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8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6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6.png"/><Relationship Id="rId4" Type="http://schemas.openxmlformats.org/officeDocument/2006/relationships/image" Target="../media/image5.jpe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7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8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9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0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B2DD650-1FF8-FB32-698D-F85DF4810BA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001838"/>
          </a:xfrm>
        </p:spPr>
        <p:txBody>
          <a:bodyPr/>
          <a:lstStyle/>
          <a:p>
            <a:r>
              <a:rPr lang="en-US" dirty="0"/>
              <a:t>Unearthed </a:t>
            </a:r>
            <a:br>
              <a:rPr lang="en-US" dirty="0"/>
            </a:br>
            <a:r>
              <a:rPr lang="en-US" dirty="0"/>
              <a:t>Innovation Project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35EB4715-2A8C-222C-81BD-2B78B7A44363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429000"/>
            <a:ext cx="9144000" cy="1828800"/>
          </a:xfrm>
        </p:spPr>
        <p:txBody>
          <a:bodyPr>
            <a:normAutofit fontScale="92500" lnSpcReduction="10000"/>
          </a:bodyPr>
          <a:lstStyle/>
          <a:p>
            <a:r>
              <a:rPr lang="en-US" sz="4300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Natural dyes</a:t>
            </a:r>
          </a:p>
          <a:p>
            <a:endParaRPr lang="en-US" dirty="0"/>
          </a:p>
          <a:p>
            <a:r>
              <a:rPr lang="en-US" b="1" dirty="0"/>
              <a:t>Rising Stars</a:t>
            </a:r>
          </a:p>
          <a:p>
            <a:r>
              <a:rPr lang="en-US" dirty="0"/>
              <a:t>(Riona, Shaivi, Zoey, Saanvi, Saumya, Girisha, Riya)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6CBE4791-EC22-901E-E662-877929D7A135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b="47337"/>
          <a:stretch>
            <a:fillRect/>
          </a:stretch>
        </p:blipFill>
        <p:spPr>
          <a:xfrm>
            <a:off x="9006840" y="5735637"/>
            <a:ext cx="3028343" cy="691924"/>
          </a:xfrm>
          <a:prstGeom prst="rect">
            <a:avLst/>
          </a:prstGeom>
        </p:spPr>
      </p:pic>
      <p:pic>
        <p:nvPicPr>
          <p:cNvPr id="6" name="Picture 2" descr="FIRST LEGO League seizoen 2025-2026 | Beleef je Beroep">
            <a:extLst>
              <a:ext uri="{FF2B5EF4-FFF2-40B4-BE49-F238E27FC236}">
                <a16:creationId xmlns:a16="http://schemas.microsoft.com/office/drawing/2014/main" id="{4B4F0C95-FC26-D780-5976-6F83304D04C9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8383" r="46643" b="15440"/>
          <a:stretch>
            <a:fillRect/>
          </a:stretch>
        </p:blipFill>
        <p:spPr bwMode="auto">
          <a:xfrm>
            <a:off x="306215" y="5257800"/>
            <a:ext cx="1454385" cy="138977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AB225521-AC09-450D-5057-2EB57E543A82}"/>
              </a:ext>
            </a:extLst>
          </p:cNvPr>
          <p:cNvSpPr txBox="1"/>
          <p:nvPr/>
        </p:nvSpPr>
        <p:spPr>
          <a:xfrm>
            <a:off x="11512297" y="9525"/>
            <a:ext cx="66576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1400" dirty="0"/>
              <a:t>Riona</a:t>
            </a:r>
          </a:p>
        </p:txBody>
      </p:sp>
    </p:spTree>
    <p:extLst>
      <p:ext uri="{BB962C8B-B14F-4D97-AF65-F5344CB8AC3E}">
        <p14:creationId xmlns:p14="http://schemas.microsoft.com/office/powerpoint/2010/main" val="210765702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A3DC890-69BB-9742-61C0-5D71BACD4E1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/>
              <a:t>Identify</a:t>
            </a:r>
            <a:r>
              <a:rPr lang="en-US" dirty="0"/>
              <a:t> / Problem Selection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E6985DE-A26B-1E05-5030-D0FE88AFD37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dirty="0"/>
              <a:t>Ideas Explored</a:t>
            </a:r>
          </a:p>
          <a:p>
            <a:r>
              <a:rPr lang="en-US" sz="2400" dirty="0"/>
              <a:t>Robotic Arm in Field of Archaeology </a:t>
            </a:r>
          </a:p>
          <a:p>
            <a:r>
              <a:rPr lang="en-US" sz="2400" dirty="0"/>
              <a:t>LIDAR / SONAR</a:t>
            </a:r>
          </a:p>
          <a:p>
            <a:r>
              <a:rPr lang="en-US" sz="2400" dirty="0"/>
              <a:t>Natural Cooling / Wind Tower</a:t>
            </a:r>
          </a:p>
          <a:p>
            <a:r>
              <a:rPr lang="en-US" sz="2400" dirty="0"/>
              <a:t>Artificial Dyes in Jewelry</a:t>
            </a:r>
          </a:p>
          <a:p>
            <a:r>
              <a:rPr lang="en-US" sz="2400" b="1" dirty="0"/>
              <a:t>Artificial Dyes in Food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74437F4B-AA17-7742-0A99-8123D537C038}"/>
              </a:ext>
            </a:extLst>
          </p:cNvPr>
          <p:cNvSpPr txBox="1"/>
          <p:nvPr/>
        </p:nvSpPr>
        <p:spPr>
          <a:xfrm>
            <a:off x="11055097" y="9525"/>
            <a:ext cx="112296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1400" dirty="0"/>
              <a:t>Riona</a:t>
            </a:r>
          </a:p>
        </p:txBody>
      </p:sp>
    </p:spTree>
    <p:extLst>
      <p:ext uri="{BB962C8B-B14F-4D97-AF65-F5344CB8AC3E}">
        <p14:creationId xmlns:p14="http://schemas.microsoft.com/office/powerpoint/2010/main" val="32685357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7E405A8-5DE7-008B-019F-17BF40CCEFA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/>
              <a:t>Identify</a:t>
            </a:r>
            <a:r>
              <a:rPr lang="en-US" dirty="0"/>
              <a:t> / Problem Details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E824097-824E-0D0F-5F63-7102FC79371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460498"/>
            <a:ext cx="10515600" cy="5397501"/>
          </a:xfrm>
        </p:spPr>
        <p:txBody>
          <a:bodyPr>
            <a:normAutofit/>
          </a:bodyPr>
          <a:lstStyle/>
          <a:p>
            <a:r>
              <a:rPr lang="en-US" dirty="0"/>
              <a:t>Artificial dyes cause lots of pollution </a:t>
            </a:r>
          </a:p>
          <a:p>
            <a:pPr lvl="1"/>
            <a:r>
              <a:rPr lang="en-US" dirty="0"/>
              <a:t>Water pollution</a:t>
            </a:r>
          </a:p>
          <a:p>
            <a:pPr lvl="1"/>
            <a:r>
              <a:rPr lang="en-US" dirty="0"/>
              <a:t>Soil pollution </a:t>
            </a:r>
          </a:p>
          <a:p>
            <a:pPr lvl="1"/>
            <a:r>
              <a:rPr lang="en-US" dirty="0"/>
              <a:t>Air pollution </a:t>
            </a:r>
          </a:p>
          <a:p>
            <a:r>
              <a:rPr lang="en-US" dirty="0"/>
              <a:t>The pollution that comes from artificial dyes can cause health issues </a:t>
            </a:r>
          </a:p>
          <a:p>
            <a:pPr lvl="1"/>
            <a:r>
              <a:rPr lang="en-US" dirty="0"/>
              <a:t>Cancer</a:t>
            </a:r>
          </a:p>
          <a:p>
            <a:pPr lvl="1"/>
            <a:r>
              <a:rPr lang="en-US" dirty="0"/>
              <a:t>Behavior issues </a:t>
            </a:r>
          </a:p>
          <a:p>
            <a:pPr lvl="1"/>
            <a:r>
              <a:rPr lang="en-US" dirty="0"/>
              <a:t>DNA damage</a:t>
            </a:r>
          </a:p>
          <a:p>
            <a:pPr lvl="1"/>
            <a:r>
              <a:rPr lang="en-US" dirty="0"/>
              <a:t>Allergic reactions </a:t>
            </a:r>
          </a:p>
          <a:p>
            <a:r>
              <a:rPr lang="en-US" dirty="0"/>
              <a:t>Artificial dyes also affect Wildlife and Aquatic life</a:t>
            </a:r>
          </a:p>
          <a:p>
            <a:r>
              <a:rPr lang="en-US" dirty="0"/>
              <a:t>Civilization moved away from natural dyes because of cost, consistency, </a:t>
            </a:r>
          </a:p>
          <a:p>
            <a:pPr marL="0" indent="0">
              <a:buNone/>
            </a:pPr>
            <a:r>
              <a:rPr lang="en-US" dirty="0"/>
              <a:t>	and availability of natural ingredients </a:t>
            </a:r>
          </a:p>
          <a:p>
            <a:endParaRPr lang="en-US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63B595D4-309F-9A70-2002-627AF7D9B9B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773642" y="4704947"/>
            <a:ext cx="2418358" cy="2153053"/>
          </a:xfrm>
          <a:prstGeom prst="rect">
            <a:avLst/>
          </a:prstGeom>
        </p:spPr>
      </p:pic>
      <p:sp>
        <p:nvSpPr>
          <p:cNvPr id="5" name="Rectangle 4">
            <a:extLst>
              <a:ext uri="{FF2B5EF4-FFF2-40B4-BE49-F238E27FC236}">
                <a16:creationId xmlns:a16="http://schemas.microsoft.com/office/drawing/2014/main" id="{22668759-70EB-CBD0-4572-36F693CF8DDE}"/>
              </a:ext>
            </a:extLst>
          </p:cNvPr>
          <p:cNvSpPr/>
          <p:nvPr/>
        </p:nvSpPr>
        <p:spPr>
          <a:xfrm rot="5400000">
            <a:off x="10777148" y="4464152"/>
            <a:ext cx="493776" cy="994581"/>
          </a:xfrm>
          <a:prstGeom prst="rect">
            <a:avLst/>
          </a:prstGeom>
          <a:noFill/>
          <a:ln w="31750"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65B0E84E-115E-CA65-12DD-0FE4C3CFE83F}"/>
              </a:ext>
            </a:extLst>
          </p:cNvPr>
          <p:cNvSpPr txBox="1"/>
          <p:nvPr/>
        </p:nvSpPr>
        <p:spPr>
          <a:xfrm>
            <a:off x="11521327" y="9525"/>
            <a:ext cx="656731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1400" dirty="0"/>
              <a:t>Shaivi</a:t>
            </a:r>
          </a:p>
        </p:txBody>
      </p:sp>
    </p:spTree>
    <p:extLst>
      <p:ext uri="{BB962C8B-B14F-4D97-AF65-F5344CB8AC3E}">
        <p14:creationId xmlns:p14="http://schemas.microsoft.com/office/powerpoint/2010/main" val="381242986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BC284F77-C713-02F6-61FF-7CC7F14663A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773642" y="4704947"/>
            <a:ext cx="2418358" cy="2153053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58937A5B-1D18-623E-6A48-536617413AA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/>
              <a:t>Design</a:t>
            </a:r>
            <a:r>
              <a:rPr lang="en-US" dirty="0"/>
              <a:t> / Solution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1393777-B058-D83B-4F87-CBA704E0284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Replace use of artificial dyes with natural dyes</a:t>
            </a:r>
          </a:p>
          <a:p>
            <a:r>
              <a:rPr lang="en-US" dirty="0"/>
              <a:t>Solve the problem using Artificial Intelligence (AI)</a:t>
            </a:r>
          </a:p>
          <a:p>
            <a:r>
              <a:rPr lang="en-US" dirty="0"/>
              <a:t>Control mass production using AI color detection</a:t>
            </a:r>
          </a:p>
          <a:p>
            <a:r>
              <a:rPr lang="en-US" dirty="0"/>
              <a:t>Maintain color consistency using AI color detection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5CB4D86D-C4A2-5A74-905C-A259AD278813}"/>
              </a:ext>
            </a:extLst>
          </p:cNvPr>
          <p:cNvSpPr/>
          <p:nvPr/>
        </p:nvSpPr>
        <p:spPr>
          <a:xfrm rot="10089229">
            <a:off x="11491649" y="5045119"/>
            <a:ext cx="493776" cy="994581"/>
          </a:xfrm>
          <a:prstGeom prst="rect">
            <a:avLst/>
          </a:prstGeom>
          <a:noFill/>
          <a:ln w="31750"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AF1EFBD0-7677-4200-5947-676CFF71335D}"/>
              </a:ext>
            </a:extLst>
          </p:cNvPr>
          <p:cNvSpPr txBox="1"/>
          <p:nvPr/>
        </p:nvSpPr>
        <p:spPr>
          <a:xfrm>
            <a:off x="11479697" y="9525"/>
            <a:ext cx="69836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1400" dirty="0"/>
              <a:t>Zoey</a:t>
            </a:r>
          </a:p>
        </p:txBody>
      </p:sp>
    </p:spTree>
    <p:extLst>
      <p:ext uri="{BB962C8B-B14F-4D97-AF65-F5344CB8AC3E}">
        <p14:creationId xmlns:p14="http://schemas.microsoft.com/office/powerpoint/2010/main" val="4333236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C6359AD-0219-4A61-A16D-F5A527C9D95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b="1" dirty="0"/>
              <a:t>Create </a:t>
            </a:r>
            <a:r>
              <a:rPr lang="en-US" dirty="0"/>
              <a:t>/ Summary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D6C6946-801E-45D3-5F0E-0162F962156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16864" y="1430135"/>
            <a:ext cx="10515600" cy="4351338"/>
          </a:xfrm>
        </p:spPr>
        <p:txBody>
          <a:bodyPr/>
          <a:lstStyle/>
          <a:p>
            <a:r>
              <a:rPr lang="en-US" dirty="0"/>
              <a:t>We researched about how different civilizations used natural dyes in their life style</a:t>
            </a:r>
          </a:p>
          <a:p>
            <a:r>
              <a:rPr lang="en-US" dirty="0"/>
              <a:t>Ancient civilizations used different methods to dye stuff such as</a:t>
            </a:r>
          </a:p>
          <a:p>
            <a:pPr lvl="1"/>
            <a:r>
              <a:rPr lang="en-US" dirty="0"/>
              <a:t>Boiling plants to turn them into dyes</a:t>
            </a:r>
          </a:p>
          <a:p>
            <a:pPr lvl="1"/>
            <a:r>
              <a:rPr lang="en-US" dirty="0"/>
              <a:t>Crushing the plants to make dyes</a:t>
            </a:r>
          </a:p>
          <a:p>
            <a:pPr lvl="1"/>
            <a:r>
              <a:rPr lang="en-US" dirty="0"/>
              <a:t>Rubbing the plants/rocks to turn them into dyes</a:t>
            </a:r>
          </a:p>
          <a:p>
            <a:endParaRPr lang="en-US" dirty="0"/>
          </a:p>
          <a:p>
            <a:endParaRPr lang="en-US" dirty="0"/>
          </a:p>
          <a:p>
            <a:endParaRPr lang="en-US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505216FF-BDA1-7006-4A01-291E0E3EF14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837650" y="4704947"/>
            <a:ext cx="2418358" cy="2153053"/>
          </a:xfrm>
          <a:prstGeom prst="rect">
            <a:avLst/>
          </a:prstGeom>
        </p:spPr>
      </p:pic>
      <p:sp>
        <p:nvSpPr>
          <p:cNvPr id="6" name="Rectangle 5">
            <a:extLst>
              <a:ext uri="{FF2B5EF4-FFF2-40B4-BE49-F238E27FC236}">
                <a16:creationId xmlns:a16="http://schemas.microsoft.com/office/drawing/2014/main" id="{AD684466-82A4-5A20-3858-E26D3DED1825}"/>
              </a:ext>
            </a:extLst>
          </p:cNvPr>
          <p:cNvSpPr/>
          <p:nvPr/>
        </p:nvSpPr>
        <p:spPr>
          <a:xfrm rot="14650361">
            <a:off x="11196297" y="5921833"/>
            <a:ext cx="493776" cy="994581"/>
          </a:xfrm>
          <a:prstGeom prst="rect">
            <a:avLst/>
          </a:prstGeom>
          <a:noFill/>
          <a:ln w="31750"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A274CE8A-94BA-0F60-55CF-3BB0D047D456}"/>
              </a:ext>
            </a:extLst>
          </p:cNvPr>
          <p:cNvSpPr txBox="1"/>
          <p:nvPr/>
        </p:nvSpPr>
        <p:spPr>
          <a:xfrm>
            <a:off x="11569149" y="9525"/>
            <a:ext cx="60891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1400" dirty="0"/>
              <a:t>Zoey</a:t>
            </a:r>
          </a:p>
        </p:txBody>
      </p:sp>
      <p:pic>
        <p:nvPicPr>
          <p:cNvPr id="7" name="Content Placeholder 4">
            <a:extLst>
              <a:ext uri="{FF2B5EF4-FFF2-40B4-BE49-F238E27FC236}">
                <a16:creationId xmlns:a16="http://schemas.microsoft.com/office/drawing/2014/main" id="{7C2DCCC1-1712-310C-231E-4D3BEB1521E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938162" y="3736540"/>
            <a:ext cx="3584448" cy="312146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1511716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0C2FF71-5FF3-ACBC-363C-A7CE047170A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9F6A710-E808-F060-8603-D3CFDDF3DAE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b="1" dirty="0"/>
              <a:t>Create</a:t>
            </a:r>
            <a:r>
              <a:rPr lang="en-US" dirty="0"/>
              <a:t>/ Egyptian Civilization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A58EBF1-7530-945B-8702-7D1C62167A7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Egyptian women crushed lapis lazuli </a:t>
            </a:r>
          </a:p>
          <a:p>
            <a:r>
              <a:rPr lang="en-US" dirty="0"/>
              <a:t>Heating a mixture of crushed limestone, sand, and copper-bearing minerals like azurite or malachite to make a blue color</a:t>
            </a:r>
          </a:p>
          <a:p>
            <a:endParaRPr lang="en-US" dirty="0"/>
          </a:p>
          <a:p>
            <a:endParaRPr lang="en-US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7F0110FD-AE2E-243A-3214-8A7884152C6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773642" y="4704947"/>
            <a:ext cx="2418358" cy="2153053"/>
          </a:xfrm>
          <a:prstGeom prst="rect">
            <a:avLst/>
          </a:prstGeom>
        </p:spPr>
      </p:pic>
      <p:sp>
        <p:nvSpPr>
          <p:cNvPr id="8" name="Rectangle 7">
            <a:extLst>
              <a:ext uri="{FF2B5EF4-FFF2-40B4-BE49-F238E27FC236}">
                <a16:creationId xmlns:a16="http://schemas.microsoft.com/office/drawing/2014/main" id="{199A9338-486A-F014-4EB1-EE68012F28DF}"/>
              </a:ext>
            </a:extLst>
          </p:cNvPr>
          <p:cNvSpPr/>
          <p:nvPr/>
        </p:nvSpPr>
        <p:spPr>
          <a:xfrm rot="14650361">
            <a:off x="11196297" y="5921833"/>
            <a:ext cx="493776" cy="994581"/>
          </a:xfrm>
          <a:prstGeom prst="rect">
            <a:avLst/>
          </a:prstGeom>
          <a:noFill/>
          <a:ln w="31750"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97A7B1D1-43E8-C50A-43A2-70DD4F55A87F}"/>
              </a:ext>
            </a:extLst>
          </p:cNvPr>
          <p:cNvSpPr txBox="1"/>
          <p:nvPr/>
        </p:nvSpPr>
        <p:spPr>
          <a:xfrm>
            <a:off x="9912096" y="576072"/>
            <a:ext cx="1737360" cy="646331"/>
          </a:xfrm>
          <a:prstGeom prst="rect">
            <a:avLst/>
          </a:prstGeom>
          <a:noFill/>
          <a:ln w="25400"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b="1" dirty="0"/>
              <a:t>Artificial Dye</a:t>
            </a:r>
          </a:p>
          <a:p>
            <a:pPr algn="ctr"/>
            <a:r>
              <a:rPr lang="en-US" dirty="0">
                <a:highlight>
                  <a:srgbClr val="00FFFF"/>
                </a:highlight>
              </a:rPr>
              <a:t>Blue 1</a:t>
            </a:r>
          </a:p>
        </p:txBody>
      </p:sp>
      <p:pic>
        <p:nvPicPr>
          <p:cNvPr id="1028" name="Picture 4" descr="FD&amp;C Blue 1 Alum Lake">
            <a:extLst>
              <a:ext uri="{FF2B5EF4-FFF2-40B4-BE49-F238E27FC236}">
                <a16:creationId xmlns:a16="http://schemas.microsoft.com/office/drawing/2014/main" id="{C0B96F18-150A-ED32-257E-C332C9AD47E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385102" y="4001294"/>
            <a:ext cx="2530411" cy="253041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FF937E1B-4155-6B8C-4716-81C628518695}"/>
              </a:ext>
            </a:extLst>
          </p:cNvPr>
          <p:cNvSpPr txBox="1"/>
          <p:nvPr/>
        </p:nvSpPr>
        <p:spPr>
          <a:xfrm>
            <a:off x="11353801" y="9525"/>
            <a:ext cx="824258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1400" dirty="0"/>
              <a:t>Saanvi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0D5E4517-8C32-AE63-1D7C-0618AE6B4157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419430" y="3603908"/>
            <a:ext cx="2997135" cy="281521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8549020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2657D4A-E573-8819-AA99-E8EF81613C8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8EA9565-E19F-0FDE-59FF-A9618698F67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b="1" dirty="0"/>
              <a:t>Create</a:t>
            </a:r>
            <a:r>
              <a:rPr lang="en-US" dirty="0"/>
              <a:t>/ Indus River Valley Civilization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B3E04F3-CBE7-2D31-9109-ADBFBAFA2F7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Used turmeric to create yellow dye</a:t>
            </a:r>
          </a:p>
          <a:p>
            <a:pPr lvl="1"/>
            <a:r>
              <a:rPr lang="en-US" b="1" dirty="0"/>
              <a:t>Turmeric rhizomes</a:t>
            </a:r>
            <a:r>
              <a:rPr lang="en-US" dirty="0"/>
              <a:t> were dug up, cleaned, boiled, and dried and crushed the cleaned Turmeric</a:t>
            </a:r>
          </a:p>
          <a:p>
            <a:pPr lvl="1"/>
            <a:r>
              <a:rPr lang="en-US" dirty="0"/>
              <a:t>The fabric would then be </a:t>
            </a:r>
            <a:r>
              <a:rPr lang="en-US" b="1" dirty="0"/>
              <a:t>soaked in the dye bath</a:t>
            </a:r>
            <a:r>
              <a:rPr lang="en-US" dirty="0"/>
              <a:t>, allowing the color to absorb into the fibers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15DC30C-67B0-8751-E36D-BDFC5CC14308}"/>
              </a:ext>
            </a:extLst>
          </p:cNvPr>
          <p:cNvSpPr txBox="1"/>
          <p:nvPr/>
        </p:nvSpPr>
        <p:spPr>
          <a:xfrm>
            <a:off x="9912096" y="576072"/>
            <a:ext cx="1737360" cy="646331"/>
          </a:xfrm>
          <a:prstGeom prst="rect">
            <a:avLst/>
          </a:prstGeom>
          <a:noFill/>
          <a:ln w="25400"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b="1" dirty="0"/>
              <a:t>Artificial Dye</a:t>
            </a:r>
          </a:p>
          <a:p>
            <a:pPr algn="ctr"/>
            <a:r>
              <a:rPr lang="en-US" dirty="0">
                <a:highlight>
                  <a:srgbClr val="FFFF00"/>
                </a:highlight>
              </a:rPr>
              <a:t>Yellow 5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594EF5D9-A453-0A68-27C0-A1F89D86FC0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773642" y="4704947"/>
            <a:ext cx="2418358" cy="2153053"/>
          </a:xfrm>
          <a:prstGeom prst="rect">
            <a:avLst/>
          </a:prstGeom>
        </p:spPr>
      </p:pic>
      <p:sp>
        <p:nvSpPr>
          <p:cNvPr id="6" name="Rectangle 5">
            <a:extLst>
              <a:ext uri="{FF2B5EF4-FFF2-40B4-BE49-F238E27FC236}">
                <a16:creationId xmlns:a16="http://schemas.microsoft.com/office/drawing/2014/main" id="{D03ADAD3-E25C-FFAC-86B9-DCADDB9E3ADA}"/>
              </a:ext>
            </a:extLst>
          </p:cNvPr>
          <p:cNvSpPr/>
          <p:nvPr/>
        </p:nvSpPr>
        <p:spPr>
          <a:xfrm rot="14650361">
            <a:off x="11196297" y="5921833"/>
            <a:ext cx="493776" cy="994581"/>
          </a:xfrm>
          <a:prstGeom prst="rect">
            <a:avLst/>
          </a:prstGeom>
          <a:noFill/>
          <a:ln w="31750"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8B00B2D5-6B4A-4253-56CF-E6DBA5410A68}"/>
              </a:ext>
            </a:extLst>
          </p:cNvPr>
          <p:cNvSpPr txBox="1"/>
          <p:nvPr/>
        </p:nvSpPr>
        <p:spPr>
          <a:xfrm>
            <a:off x="11353801" y="9525"/>
            <a:ext cx="824258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1400" dirty="0"/>
              <a:t>Saanvi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35443C77-4B0F-59E7-4E4D-D9BAFCA7722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789912" y="3746381"/>
            <a:ext cx="4252081" cy="278373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57372231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7BA49B2-24BD-925B-15BE-19466D65478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52E33BA-D91C-1E9F-A331-47C58004DD4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b="1" dirty="0"/>
              <a:t>Create</a:t>
            </a:r>
            <a:r>
              <a:rPr lang="en-US" dirty="0"/>
              <a:t>/ Chinese Civilization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292B9F2-999C-B388-6041-84CE1CEB673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Crushed matcha leaves to make green powder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95F02276-E34F-937A-D10F-12BAA0AA73D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773642" y="4704947"/>
            <a:ext cx="2418358" cy="2153053"/>
          </a:xfrm>
          <a:prstGeom prst="rect">
            <a:avLst/>
          </a:prstGeom>
        </p:spPr>
      </p:pic>
      <p:sp>
        <p:nvSpPr>
          <p:cNvPr id="6" name="Rectangle 5">
            <a:extLst>
              <a:ext uri="{FF2B5EF4-FFF2-40B4-BE49-F238E27FC236}">
                <a16:creationId xmlns:a16="http://schemas.microsoft.com/office/drawing/2014/main" id="{89447B40-F09A-21E1-E2C2-9D8F150788E6}"/>
              </a:ext>
            </a:extLst>
          </p:cNvPr>
          <p:cNvSpPr/>
          <p:nvPr/>
        </p:nvSpPr>
        <p:spPr>
          <a:xfrm rot="14650361">
            <a:off x="11196297" y="5921833"/>
            <a:ext cx="493776" cy="994581"/>
          </a:xfrm>
          <a:prstGeom prst="rect">
            <a:avLst/>
          </a:prstGeom>
          <a:noFill/>
          <a:ln w="31750"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02479571-A6C0-9F84-4E73-77692F39ACF0}"/>
              </a:ext>
            </a:extLst>
          </p:cNvPr>
          <p:cNvSpPr txBox="1"/>
          <p:nvPr/>
        </p:nvSpPr>
        <p:spPr>
          <a:xfrm>
            <a:off x="9912096" y="576072"/>
            <a:ext cx="1737360" cy="646331"/>
          </a:xfrm>
          <a:prstGeom prst="rect">
            <a:avLst/>
          </a:prstGeom>
          <a:noFill/>
          <a:ln w="25400"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b="1" dirty="0"/>
              <a:t>Artificial Dye</a:t>
            </a:r>
          </a:p>
          <a:p>
            <a:pPr algn="ctr"/>
            <a:r>
              <a:rPr lang="en-US" dirty="0">
                <a:highlight>
                  <a:srgbClr val="00FF00"/>
                </a:highlight>
              </a:rPr>
              <a:t>Green 3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E4B2D0D5-A8F5-6441-B9D4-8B4A8BA6F27E}"/>
              </a:ext>
            </a:extLst>
          </p:cNvPr>
          <p:cNvSpPr txBox="1"/>
          <p:nvPr/>
        </p:nvSpPr>
        <p:spPr>
          <a:xfrm>
            <a:off x="11265409" y="9525"/>
            <a:ext cx="91265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1400" dirty="0"/>
              <a:t>Saumya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72BFBB69-1CE8-6897-DCAE-5ADA68E6330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440180" y="2748381"/>
            <a:ext cx="5287094" cy="331220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95656997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CA6B338-EE5C-DF32-C21A-76C2E332BA9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5355E19-876D-C276-0AEC-9E54BD9905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b="1" dirty="0"/>
              <a:t>Create</a:t>
            </a:r>
            <a:r>
              <a:rPr lang="en-US" dirty="0"/>
              <a:t>/ Aztec &amp; Maya Civilization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321A689-8533-F1DC-8A29-9B87B7D9144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In the Maya civilization they used cochineal insects and hematite to create a vibrant red color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8E258119-89A8-0CE5-E5D6-43D5BF86B16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773642" y="4704947"/>
            <a:ext cx="2418358" cy="2153053"/>
          </a:xfrm>
          <a:prstGeom prst="rect">
            <a:avLst/>
          </a:prstGeom>
        </p:spPr>
      </p:pic>
      <p:sp>
        <p:nvSpPr>
          <p:cNvPr id="6" name="Rectangle 5">
            <a:extLst>
              <a:ext uri="{FF2B5EF4-FFF2-40B4-BE49-F238E27FC236}">
                <a16:creationId xmlns:a16="http://schemas.microsoft.com/office/drawing/2014/main" id="{4E57C9B7-81FD-1CE3-38C6-030E9BDD8CB9}"/>
              </a:ext>
            </a:extLst>
          </p:cNvPr>
          <p:cNvSpPr/>
          <p:nvPr/>
        </p:nvSpPr>
        <p:spPr>
          <a:xfrm rot="14650361">
            <a:off x="11196297" y="5921833"/>
            <a:ext cx="493776" cy="994581"/>
          </a:xfrm>
          <a:prstGeom prst="rect">
            <a:avLst/>
          </a:prstGeom>
          <a:noFill/>
          <a:ln w="31750"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D7B16AFF-7DAD-B81F-2612-B7326D38383F}"/>
              </a:ext>
            </a:extLst>
          </p:cNvPr>
          <p:cNvSpPr txBox="1"/>
          <p:nvPr/>
        </p:nvSpPr>
        <p:spPr>
          <a:xfrm>
            <a:off x="9912096" y="576072"/>
            <a:ext cx="1737360" cy="646331"/>
          </a:xfrm>
          <a:prstGeom prst="rect">
            <a:avLst/>
          </a:prstGeom>
          <a:noFill/>
          <a:ln w="25400"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b="1" dirty="0"/>
              <a:t>Artificial Dye</a:t>
            </a:r>
          </a:p>
          <a:p>
            <a:pPr algn="ctr"/>
            <a:r>
              <a:rPr lang="en-US" dirty="0">
                <a:highlight>
                  <a:srgbClr val="FF0000"/>
                </a:highlight>
              </a:rPr>
              <a:t>Red 40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9A811250-BAE5-9A19-8A19-5AD4F0B7CA71}"/>
              </a:ext>
            </a:extLst>
          </p:cNvPr>
          <p:cNvSpPr txBox="1"/>
          <p:nvPr/>
        </p:nvSpPr>
        <p:spPr>
          <a:xfrm>
            <a:off x="11353801" y="9525"/>
            <a:ext cx="824258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1400" dirty="0"/>
              <a:t>Saumya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668C725D-7D46-F60E-A015-9ABE51662FB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439576" y="3090014"/>
            <a:ext cx="4390627" cy="289023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08702863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7FA057A-F055-3DC1-EEED-486AAA2D6C8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5F3E989-0B98-33C6-899F-C7AD207D2F4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b="1" dirty="0"/>
              <a:t>Create</a:t>
            </a:r>
            <a:r>
              <a:rPr lang="en-US" dirty="0"/>
              <a:t>/ Greece Civilization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8361126-4FB4-FDDF-6353-D6FC8245D0E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People in Greece the mucus glands of specific sea snails, primarily the spiny dye-murex (Murex </a:t>
            </a:r>
            <a:r>
              <a:rPr lang="en-US" dirty="0" err="1"/>
              <a:t>brandaris</a:t>
            </a:r>
            <a:r>
              <a:rPr lang="en-US" dirty="0"/>
              <a:t>) to a purple color</a:t>
            </a:r>
          </a:p>
          <a:p>
            <a:endParaRPr lang="en-US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7059D971-7889-FDBC-ED42-639F15550F6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773642" y="4704947"/>
            <a:ext cx="2418358" cy="2153053"/>
          </a:xfrm>
          <a:prstGeom prst="rect">
            <a:avLst/>
          </a:prstGeom>
        </p:spPr>
      </p:pic>
      <p:sp>
        <p:nvSpPr>
          <p:cNvPr id="6" name="Rectangle 5">
            <a:extLst>
              <a:ext uri="{FF2B5EF4-FFF2-40B4-BE49-F238E27FC236}">
                <a16:creationId xmlns:a16="http://schemas.microsoft.com/office/drawing/2014/main" id="{033BD36C-373D-51EC-E40A-A9E9CED9CF54}"/>
              </a:ext>
            </a:extLst>
          </p:cNvPr>
          <p:cNvSpPr/>
          <p:nvPr/>
        </p:nvSpPr>
        <p:spPr>
          <a:xfrm rot="14650361">
            <a:off x="11196297" y="5921833"/>
            <a:ext cx="493776" cy="994581"/>
          </a:xfrm>
          <a:prstGeom prst="rect">
            <a:avLst/>
          </a:prstGeom>
          <a:noFill/>
          <a:ln w="31750"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45C66CB7-93C0-0C31-3171-3A5DBCBE04DB}"/>
              </a:ext>
            </a:extLst>
          </p:cNvPr>
          <p:cNvSpPr txBox="1"/>
          <p:nvPr/>
        </p:nvSpPr>
        <p:spPr>
          <a:xfrm>
            <a:off x="9912095" y="576072"/>
            <a:ext cx="1800175" cy="646331"/>
          </a:xfrm>
          <a:prstGeom prst="rect">
            <a:avLst/>
          </a:prstGeom>
          <a:noFill/>
          <a:ln w="25400"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b="1" dirty="0"/>
              <a:t>Artificial Dye</a:t>
            </a:r>
          </a:p>
          <a:p>
            <a:pPr algn="ctr"/>
            <a:r>
              <a:rPr lang="en-US" dirty="0">
                <a:highlight>
                  <a:srgbClr val="800080"/>
                </a:highlight>
              </a:rPr>
              <a:t>Reed 40+Blue 1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AE0022F8-BF0C-27BD-BEC4-3DBE905BB82B}"/>
              </a:ext>
            </a:extLst>
          </p:cNvPr>
          <p:cNvSpPr txBox="1"/>
          <p:nvPr/>
        </p:nvSpPr>
        <p:spPr>
          <a:xfrm>
            <a:off x="11353801" y="9525"/>
            <a:ext cx="824258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1400" dirty="0"/>
              <a:t>Girisha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99130080-F91E-B9B0-DEDA-8AA6252F1DC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728856" y="3273247"/>
            <a:ext cx="3529189" cy="286339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78750218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B8575A7-E03E-FF8C-8A33-2475C3689AE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/>
              <a:t>Create</a:t>
            </a:r>
            <a:r>
              <a:rPr lang="en-US" dirty="0"/>
              <a:t>/ AI Model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4052893-6BD8-DC5B-C5AC-FC0AC9C992E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Color detection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C9ECD615-8D93-C488-87F0-ED3E269D42A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773642" y="4704947"/>
            <a:ext cx="2418358" cy="2153053"/>
          </a:xfrm>
          <a:prstGeom prst="rect">
            <a:avLst/>
          </a:prstGeom>
        </p:spPr>
      </p:pic>
      <p:sp>
        <p:nvSpPr>
          <p:cNvPr id="5" name="Rectangle 4">
            <a:extLst>
              <a:ext uri="{FF2B5EF4-FFF2-40B4-BE49-F238E27FC236}">
                <a16:creationId xmlns:a16="http://schemas.microsoft.com/office/drawing/2014/main" id="{488B1C20-E08B-9CF1-06C9-E48A52E3BEE2}"/>
              </a:ext>
            </a:extLst>
          </p:cNvPr>
          <p:cNvSpPr/>
          <p:nvPr/>
        </p:nvSpPr>
        <p:spPr>
          <a:xfrm rot="14650361">
            <a:off x="11196297" y="5921833"/>
            <a:ext cx="493776" cy="994581"/>
          </a:xfrm>
          <a:prstGeom prst="rect">
            <a:avLst/>
          </a:prstGeom>
          <a:noFill/>
          <a:ln w="31750"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A7E05224-556E-621F-9FA2-DE9982B8275C}"/>
              </a:ext>
            </a:extLst>
          </p:cNvPr>
          <p:cNvSpPr/>
          <p:nvPr/>
        </p:nvSpPr>
        <p:spPr>
          <a:xfrm>
            <a:off x="3678277" y="3097392"/>
            <a:ext cx="1801368" cy="1115568"/>
          </a:xfrm>
          <a:prstGeom prst="rect">
            <a:avLst/>
          </a:prstGeom>
          <a:solidFill>
            <a:schemeClr val="accent3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EAFFECC4-54C4-CCE6-BD7E-6D5B02F71D25}"/>
              </a:ext>
            </a:extLst>
          </p:cNvPr>
          <p:cNvSpPr/>
          <p:nvPr/>
        </p:nvSpPr>
        <p:spPr>
          <a:xfrm>
            <a:off x="6733897" y="4651872"/>
            <a:ext cx="1801368" cy="1115568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AI Model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D2911394-8284-0C91-0C20-951539BF822D}"/>
              </a:ext>
            </a:extLst>
          </p:cNvPr>
          <p:cNvSpPr txBox="1"/>
          <p:nvPr/>
        </p:nvSpPr>
        <p:spPr>
          <a:xfrm>
            <a:off x="6601694" y="4282540"/>
            <a:ext cx="294614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ML4K AI Model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34BB68BF-FC7A-3E85-91FC-DDB116E85B48}"/>
              </a:ext>
            </a:extLst>
          </p:cNvPr>
          <p:cNvSpPr txBox="1"/>
          <p:nvPr/>
        </p:nvSpPr>
        <p:spPr>
          <a:xfrm>
            <a:off x="3565134" y="2787496"/>
            <a:ext cx="196959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MIT App Inventor</a:t>
            </a:r>
          </a:p>
        </p:txBody>
      </p: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1F9AB206-212A-D075-C9BF-4F0BAA804FDE}"/>
              </a:ext>
            </a:extLst>
          </p:cNvPr>
          <p:cNvCxnSpPr>
            <a:cxnSpLocks/>
            <a:endCxn id="7" idx="1"/>
          </p:cNvCxnSpPr>
          <p:nvPr/>
        </p:nvCxnSpPr>
        <p:spPr>
          <a:xfrm>
            <a:off x="5479645" y="4179811"/>
            <a:ext cx="1254252" cy="1029845"/>
          </a:xfrm>
          <a:prstGeom prst="straightConnector1">
            <a:avLst/>
          </a:prstGeom>
          <a:ln w="22225">
            <a:solidFill>
              <a:schemeClr val="tx1"/>
            </a:solidFill>
            <a:headEnd w="lg" len="lg"/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920963DD-AD07-617F-BCB6-2D806D18F6A4}"/>
              </a:ext>
            </a:extLst>
          </p:cNvPr>
          <p:cNvCxnSpPr>
            <a:cxnSpLocks/>
            <a:stCxn id="6" idx="3"/>
          </p:cNvCxnSpPr>
          <p:nvPr/>
        </p:nvCxnSpPr>
        <p:spPr>
          <a:xfrm>
            <a:off x="5479645" y="3655176"/>
            <a:ext cx="1283136" cy="1020856"/>
          </a:xfrm>
          <a:prstGeom prst="straightConnector1">
            <a:avLst/>
          </a:prstGeom>
          <a:ln w="22225">
            <a:solidFill>
              <a:schemeClr val="tx1"/>
            </a:solidFill>
            <a:headEnd type="stealth" w="lg" len="lg"/>
            <a:tailEnd type="non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TextBox 11">
            <a:extLst>
              <a:ext uri="{FF2B5EF4-FFF2-40B4-BE49-F238E27FC236}">
                <a16:creationId xmlns:a16="http://schemas.microsoft.com/office/drawing/2014/main" id="{8B7DD31C-9083-74A4-F58B-AAAA77E2FFE0}"/>
              </a:ext>
            </a:extLst>
          </p:cNvPr>
          <p:cNvSpPr txBox="1"/>
          <p:nvPr/>
        </p:nvSpPr>
        <p:spPr>
          <a:xfrm>
            <a:off x="2112910" y="6335697"/>
            <a:ext cx="400830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ML4K is Machine Learning for Kids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9B6F56B4-1194-D5DB-B60B-8B7D6BD1939B}"/>
              </a:ext>
            </a:extLst>
          </p:cNvPr>
          <p:cNvSpPr/>
          <p:nvPr/>
        </p:nvSpPr>
        <p:spPr>
          <a:xfrm>
            <a:off x="2287728" y="3188578"/>
            <a:ext cx="969484" cy="908396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/>
              <a:t>Camera</a:t>
            </a:r>
          </a:p>
          <a:p>
            <a:pPr algn="ctr"/>
            <a:r>
              <a:rPr lang="en-US" sz="1400" dirty="0"/>
              <a:t>/</a:t>
            </a:r>
          </a:p>
          <a:p>
            <a:pPr algn="ctr"/>
            <a:r>
              <a:rPr lang="en-US" sz="1400" dirty="0"/>
              <a:t>Sensor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93B26CA9-87B1-1403-FCD6-8586C25472CD}"/>
              </a:ext>
            </a:extLst>
          </p:cNvPr>
          <p:cNvSpPr/>
          <p:nvPr/>
        </p:nvSpPr>
        <p:spPr>
          <a:xfrm>
            <a:off x="6733897" y="5767440"/>
            <a:ext cx="1801368" cy="63336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Training Data</a:t>
            </a:r>
          </a:p>
        </p:txBody>
      </p: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B828630E-F9A0-BAC8-B7D3-5D0F79385264}"/>
              </a:ext>
            </a:extLst>
          </p:cNvPr>
          <p:cNvCxnSpPr>
            <a:stCxn id="13" idx="3"/>
            <a:endCxn id="6" idx="1"/>
          </p:cNvCxnSpPr>
          <p:nvPr/>
        </p:nvCxnSpPr>
        <p:spPr>
          <a:xfrm>
            <a:off x="3257212" y="3642776"/>
            <a:ext cx="421065" cy="12400"/>
          </a:xfrm>
          <a:prstGeom prst="straightConnector1">
            <a:avLst/>
          </a:prstGeom>
          <a:ln w="22225">
            <a:solidFill>
              <a:schemeClr val="tx1"/>
            </a:solidFill>
            <a:headEnd w="lg" len="lg"/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" name="TextBox 15">
            <a:extLst>
              <a:ext uri="{FF2B5EF4-FFF2-40B4-BE49-F238E27FC236}">
                <a16:creationId xmlns:a16="http://schemas.microsoft.com/office/drawing/2014/main" id="{12FB96E1-9F60-F8FA-59A8-61C88AF6E0ED}"/>
              </a:ext>
            </a:extLst>
          </p:cNvPr>
          <p:cNvSpPr txBox="1"/>
          <p:nvPr/>
        </p:nvSpPr>
        <p:spPr>
          <a:xfrm>
            <a:off x="2287246" y="4117818"/>
            <a:ext cx="969485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dirty="0"/>
              <a:t>Android Phone</a:t>
            </a:r>
          </a:p>
          <a:p>
            <a:r>
              <a:rPr lang="en-US" sz="1000" dirty="0"/>
              <a:t>Laptop Camera</a:t>
            </a:r>
          </a:p>
        </p:txBody>
      </p:sp>
      <p:sp>
        <p:nvSpPr>
          <p:cNvPr id="17" name="Oval 16">
            <a:extLst>
              <a:ext uri="{FF2B5EF4-FFF2-40B4-BE49-F238E27FC236}">
                <a16:creationId xmlns:a16="http://schemas.microsoft.com/office/drawing/2014/main" id="{AB1DF032-846B-92D1-05FB-B6CB85FAFBF1}"/>
              </a:ext>
            </a:extLst>
          </p:cNvPr>
          <p:cNvSpPr/>
          <p:nvPr/>
        </p:nvSpPr>
        <p:spPr>
          <a:xfrm>
            <a:off x="701079" y="3284478"/>
            <a:ext cx="969484" cy="650494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Sample</a:t>
            </a:r>
          </a:p>
        </p:txBody>
      </p:sp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7C0ACF8D-B085-FAE4-90A5-70EBB6329336}"/>
              </a:ext>
            </a:extLst>
          </p:cNvPr>
          <p:cNvCxnSpPr>
            <a:cxnSpLocks/>
            <a:stCxn id="17" idx="6"/>
            <a:endCxn id="13" idx="1"/>
          </p:cNvCxnSpPr>
          <p:nvPr/>
        </p:nvCxnSpPr>
        <p:spPr>
          <a:xfrm>
            <a:off x="1670563" y="3609725"/>
            <a:ext cx="617165" cy="33051"/>
          </a:xfrm>
          <a:prstGeom prst="straightConnector1">
            <a:avLst/>
          </a:prstGeom>
          <a:ln w="22225">
            <a:solidFill>
              <a:schemeClr val="tx1"/>
            </a:solidFill>
            <a:headEnd w="lg" len="lg"/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" name="TextBox 18">
            <a:extLst>
              <a:ext uri="{FF2B5EF4-FFF2-40B4-BE49-F238E27FC236}">
                <a16:creationId xmlns:a16="http://schemas.microsoft.com/office/drawing/2014/main" id="{364D66DE-659D-5290-76C3-FF14F10A37E2}"/>
              </a:ext>
            </a:extLst>
          </p:cNvPr>
          <p:cNvSpPr txBox="1"/>
          <p:nvPr/>
        </p:nvSpPr>
        <p:spPr>
          <a:xfrm>
            <a:off x="11430001" y="9525"/>
            <a:ext cx="748058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1400" dirty="0"/>
              <a:t>Girisha</a:t>
            </a:r>
          </a:p>
        </p:txBody>
      </p:sp>
    </p:spTree>
    <p:extLst>
      <p:ext uri="{BB962C8B-B14F-4D97-AF65-F5344CB8AC3E}">
        <p14:creationId xmlns:p14="http://schemas.microsoft.com/office/powerpoint/2010/main" val="484753558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76A0C1C-77DA-E24A-3D8C-A4E8F896CA6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/>
              <a:t>Iterate</a:t>
            </a:r>
            <a:r>
              <a:rPr lang="en-US" dirty="0"/>
              <a:t>/ AI Model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9DBE903-E5C2-DDC3-4EA0-A2903376230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Trained the model</a:t>
            </a:r>
          </a:p>
          <a:p>
            <a:pPr lvl="1"/>
            <a:r>
              <a:rPr lang="en-US" dirty="0"/>
              <a:t> By giving it 10 or more samples for each color</a:t>
            </a:r>
          </a:p>
          <a:p>
            <a:r>
              <a:rPr lang="en-US" dirty="0"/>
              <a:t>Adjusted the model as we went on</a:t>
            </a:r>
          </a:p>
          <a:p>
            <a:pPr lvl="1"/>
            <a:r>
              <a:rPr lang="en-US" dirty="0"/>
              <a:t>Reviewed the results and trained the model further</a:t>
            </a:r>
          </a:p>
          <a:p>
            <a:endParaRPr lang="en-US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01955568-F3AE-CF97-D3B1-23437155C04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773642" y="4704947"/>
            <a:ext cx="2418358" cy="2153053"/>
          </a:xfrm>
          <a:prstGeom prst="rect">
            <a:avLst/>
          </a:prstGeom>
        </p:spPr>
      </p:pic>
      <p:sp>
        <p:nvSpPr>
          <p:cNvPr id="5" name="Rectangle 4">
            <a:extLst>
              <a:ext uri="{FF2B5EF4-FFF2-40B4-BE49-F238E27FC236}">
                <a16:creationId xmlns:a16="http://schemas.microsoft.com/office/drawing/2014/main" id="{CCD1CAEB-D38F-253B-0F05-78CBF9857CF0}"/>
              </a:ext>
            </a:extLst>
          </p:cNvPr>
          <p:cNvSpPr/>
          <p:nvPr/>
        </p:nvSpPr>
        <p:spPr>
          <a:xfrm rot="18252979">
            <a:off x="10254288" y="5814608"/>
            <a:ext cx="493776" cy="994581"/>
          </a:xfrm>
          <a:prstGeom prst="rect">
            <a:avLst/>
          </a:prstGeom>
          <a:noFill/>
          <a:ln w="31750"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B24AF995-DBA9-26D7-930E-EC6D43868E11}"/>
              </a:ext>
            </a:extLst>
          </p:cNvPr>
          <p:cNvSpPr txBox="1"/>
          <p:nvPr/>
        </p:nvSpPr>
        <p:spPr>
          <a:xfrm>
            <a:off x="11654183" y="9525"/>
            <a:ext cx="523875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Riya</a:t>
            </a:r>
            <a:endParaRPr lang="en-US" sz="1400" dirty="0"/>
          </a:p>
        </p:txBody>
      </p:sp>
    </p:spTree>
    <p:extLst>
      <p:ext uri="{BB962C8B-B14F-4D97-AF65-F5344CB8AC3E}">
        <p14:creationId xmlns:p14="http://schemas.microsoft.com/office/powerpoint/2010/main" val="3165588497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72C09F5-AF71-8266-8D3E-17C4B2659BE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/>
              <a:t>Communicate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C0B09F1-7F89-AE78-4DC0-A332028BC20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Result, Learning and Outcome</a:t>
            </a:r>
          </a:p>
          <a:p>
            <a:pPr lvl="1"/>
            <a:r>
              <a:rPr lang="en-US" dirty="0"/>
              <a:t>Natural dyes are better for everyone’s health and the environment</a:t>
            </a:r>
          </a:p>
          <a:p>
            <a:pPr lvl="1"/>
            <a:r>
              <a:rPr lang="en-US" dirty="0"/>
              <a:t>AI can help to keep consistency with the manufacturing of the colors using natural resources or ingredients</a:t>
            </a:r>
          </a:p>
          <a:p>
            <a:pPr lvl="1"/>
            <a:r>
              <a:rPr lang="en-US" dirty="0"/>
              <a:t>Team is working on creating a Functional App to raise awareness</a:t>
            </a:r>
          </a:p>
          <a:p>
            <a:pPr lvl="1"/>
            <a:endParaRPr lang="en-US" dirty="0"/>
          </a:p>
          <a:p>
            <a:r>
              <a:rPr lang="en-US" dirty="0"/>
              <a:t>Recommendation (hand out samples) </a:t>
            </a:r>
          </a:p>
          <a:p>
            <a:pPr lvl="1"/>
            <a:r>
              <a:rPr lang="en-US" dirty="0"/>
              <a:t>Switch to start using natural dyes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129114F7-5359-53FF-001D-3BF437F60F7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773642" y="4704947"/>
            <a:ext cx="2418358" cy="2153053"/>
          </a:xfrm>
          <a:prstGeom prst="rect">
            <a:avLst/>
          </a:prstGeom>
        </p:spPr>
      </p:pic>
      <p:sp>
        <p:nvSpPr>
          <p:cNvPr id="5" name="Rectangle 4">
            <a:extLst>
              <a:ext uri="{FF2B5EF4-FFF2-40B4-BE49-F238E27FC236}">
                <a16:creationId xmlns:a16="http://schemas.microsoft.com/office/drawing/2014/main" id="{C48310FE-A76F-FED1-0967-7DEBB2B71440}"/>
              </a:ext>
            </a:extLst>
          </p:cNvPr>
          <p:cNvSpPr/>
          <p:nvPr/>
        </p:nvSpPr>
        <p:spPr>
          <a:xfrm rot="1524279">
            <a:off x="10034833" y="4939153"/>
            <a:ext cx="493776" cy="994581"/>
          </a:xfrm>
          <a:prstGeom prst="rect">
            <a:avLst/>
          </a:prstGeom>
          <a:noFill/>
          <a:ln w="31750"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9A056B6F-6177-C561-635A-DE0F5A86D997}"/>
              </a:ext>
            </a:extLst>
          </p:cNvPr>
          <p:cNvSpPr txBox="1"/>
          <p:nvPr/>
        </p:nvSpPr>
        <p:spPr>
          <a:xfrm>
            <a:off x="11654183" y="9525"/>
            <a:ext cx="523875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1400" dirty="0"/>
              <a:t>Riya</a:t>
            </a:r>
          </a:p>
        </p:txBody>
      </p:sp>
    </p:spTree>
    <p:extLst>
      <p:ext uri="{BB962C8B-B14F-4D97-AF65-F5344CB8AC3E}">
        <p14:creationId xmlns:p14="http://schemas.microsoft.com/office/powerpoint/2010/main" val="707282042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E39F1516-B9E3-49F5-790A-A2427C605ECC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Thank you!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CCD6555E-04CB-559A-A3E5-C028AA8BDF6B}"/>
              </a:ext>
            </a:extLst>
          </p:cNvPr>
          <p:cNvSpPr txBox="1"/>
          <p:nvPr/>
        </p:nvSpPr>
        <p:spPr>
          <a:xfrm>
            <a:off x="11654183" y="9525"/>
            <a:ext cx="523875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1400" dirty="0"/>
              <a:t>Riya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E5DD5846-ECE7-825A-4B55-A3C828546FF7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b="47337"/>
          <a:stretch>
            <a:fillRect/>
          </a:stretch>
        </p:blipFill>
        <p:spPr>
          <a:xfrm>
            <a:off x="9006840" y="5735637"/>
            <a:ext cx="3028343" cy="691924"/>
          </a:xfrm>
          <a:prstGeom prst="rect">
            <a:avLst/>
          </a:prstGeom>
        </p:spPr>
      </p:pic>
      <p:pic>
        <p:nvPicPr>
          <p:cNvPr id="8" name="Picture 2" descr="FIRST LEGO League seizoen 2025-2026 | Beleef je Beroep">
            <a:extLst>
              <a:ext uri="{FF2B5EF4-FFF2-40B4-BE49-F238E27FC236}">
                <a16:creationId xmlns:a16="http://schemas.microsoft.com/office/drawing/2014/main" id="{C015F4A7-5256-DF88-7287-756DDAD80533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8383" r="46643" b="15440"/>
          <a:stretch>
            <a:fillRect/>
          </a:stretch>
        </p:blipFill>
        <p:spPr bwMode="auto">
          <a:xfrm>
            <a:off x="306215" y="5257800"/>
            <a:ext cx="1454385" cy="138977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46328822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45F471E7-6DD3-F741-4D94-A47532469A7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1025581"/>
            <a:ext cx="12192000" cy="480683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44081615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EC9674F-65CE-C57B-8504-2EE694BA991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103889"/>
            <a:ext cx="10515600" cy="1325563"/>
          </a:xfrm>
        </p:spPr>
        <p:txBody>
          <a:bodyPr>
            <a:normAutofit/>
          </a:bodyPr>
          <a:lstStyle/>
          <a:p>
            <a:r>
              <a:rPr lang="en-US" sz="2800" dirty="0"/>
              <a:t>Civilizations Researched</a:t>
            </a:r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0BEB83BA-713B-4B5A-CBEE-76DE759DBCFF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2961200" y="2305593"/>
            <a:ext cx="4029637" cy="3591426"/>
          </a:xfrm>
          <a:prstGeom prst="rect">
            <a:avLst/>
          </a:prstGeom>
        </p:spPr>
      </p:pic>
      <p:sp>
        <p:nvSpPr>
          <p:cNvPr id="7" name="Title 1">
            <a:extLst>
              <a:ext uri="{FF2B5EF4-FFF2-40B4-BE49-F238E27FC236}">
                <a16:creationId xmlns:a16="http://schemas.microsoft.com/office/drawing/2014/main" id="{3B46F890-7E7E-4692-FB79-F1B7B8BC1433}"/>
              </a:ext>
            </a:extLst>
          </p:cNvPr>
          <p:cNvSpPr txBox="1">
            <a:spLocks/>
          </p:cNvSpPr>
          <p:nvPr/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b="1"/>
              <a:t>Create </a:t>
            </a:r>
            <a:r>
              <a:rPr lang="en-US"/>
              <a:t>/ Summary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034437179"/>
      </p:ext>
    </p:extLst>
  </p:cSld>
  <p:clrMapOvr>
    <a:masterClrMapping/>
  </p:clrMapOvr>
</p:sld>
</file>

<file path=ppt/theme/theme1.xml><?xml version="1.0" encoding="utf-8"?>
<a:theme xmlns:a="http://schemas.openxmlformats.org/drawingml/2006/main" name="Facet">
  <a:themeElements>
    <a:clrScheme name="Facet">
      <a:dk1>
        <a:sysClr val="windowText" lastClr="000000"/>
      </a:dk1>
      <a:lt1>
        <a:sysClr val="window" lastClr="FFFFFF"/>
      </a:lt1>
      <a:dk2>
        <a:srgbClr val="2C3C43"/>
      </a:dk2>
      <a:lt2>
        <a:srgbClr val="EBEBEB"/>
      </a:lt2>
      <a:accent1>
        <a:srgbClr val="90C226"/>
      </a:accent1>
      <a:accent2>
        <a:srgbClr val="54A021"/>
      </a:accent2>
      <a:accent3>
        <a:srgbClr val="E6B91E"/>
      </a:accent3>
      <a:accent4>
        <a:srgbClr val="E76618"/>
      </a:accent4>
      <a:accent5>
        <a:srgbClr val="C42F1A"/>
      </a:accent5>
      <a:accent6>
        <a:srgbClr val="918655"/>
      </a:accent6>
      <a:hlink>
        <a:srgbClr val="99CA3C"/>
      </a:hlink>
      <a:folHlink>
        <a:srgbClr val="B9D181"/>
      </a:folHlink>
    </a:clrScheme>
    <a:fontScheme name="Facet">
      <a:majorFont>
        <a:latin typeface="Trebuchet MS" panose="020B0603020202020204"/>
        <a:ea typeface=""/>
        <a:cs typeface=""/>
        <a:font script="Jpan" typeface="メイリオ"/>
        <a:font script="Hang" typeface="맑은 고딕"/>
        <a:font script="Hans" typeface="方正姚体"/>
        <a:font script="Hant" typeface="微軟正黑體"/>
        <a:font script="Arab" typeface="Tahoma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Trebuchet MS" panose="020B0603020202020204"/>
        <a:ea typeface=""/>
        <a:cs typeface=""/>
        <a:font script="Jpan" typeface="メイリオ"/>
        <a:font script="Hang" typeface="HY그래픽M"/>
        <a:font script="Hans" typeface="华文新魏"/>
        <a:font script="Hant" typeface="微軟正黑體"/>
        <a:font script="Arab" typeface="Tahoma"/>
        <a:font script="Hebr" typeface="Gisha"/>
        <a:font script="Thai" typeface="Iris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Facet">
      <a:fillStyleLst>
        <a:solidFill>
          <a:schemeClr val="phClr"/>
        </a:solidFill>
        <a:gradFill rotWithShape="1">
          <a:gsLst>
            <a:gs pos="0">
              <a:schemeClr val="phClr">
                <a:tint val="65000"/>
                <a:lumMod val="110000"/>
              </a:schemeClr>
            </a:gs>
            <a:gs pos="88000">
              <a:schemeClr val="phClr">
                <a:tint val="90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6000"/>
                <a:lumMod val="100000"/>
              </a:schemeClr>
            </a:gs>
            <a:gs pos="78000">
              <a:schemeClr val="phClr">
                <a:shade val="94000"/>
                <a:lumMod val="94000"/>
              </a:schemeClr>
            </a:gs>
          </a:gsLst>
          <a:lin ang="5400000" scaled="0"/>
        </a:gradFill>
      </a:fillStyleLst>
      <a:lnStyleLst>
        <a:ln w="12700" cap="rnd" cmpd="sng" algn="ctr">
          <a:solidFill>
            <a:schemeClr val="phClr"/>
          </a:solidFill>
          <a:prstDash val="solid"/>
        </a:ln>
        <a:ln w="19050" cap="rnd" cmpd="sng" algn="ctr">
          <a:solidFill>
            <a:schemeClr val="phClr"/>
          </a:solidFill>
          <a:prstDash val="solid"/>
        </a:ln>
        <a:ln w="25400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50800" dist="381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l"/>
          </a:scene3d>
          <a:sp3d prstMaterial="plastic">
            <a:bevelT w="0" h="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0000"/>
                <a:lumMod val="104000"/>
              </a:schemeClr>
            </a:gs>
            <a:gs pos="94000">
              <a:schemeClr val="phClr">
                <a:shade val="96000"/>
                <a:lumMod val="82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0000"/>
                <a:lumMod val="110000"/>
              </a:schemeClr>
            </a:gs>
            <a:gs pos="100000">
              <a:schemeClr val="phClr">
                <a:shade val="94000"/>
                <a:lumMod val="96000"/>
              </a:schemeClr>
            </a:gs>
          </a:gsLst>
          <a:path path="circle">
            <a:fillToRect l="50000" t="50000" r="100000" b="10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Facet" id="{C0C680CD-088A-49FC-A102-D699147F32B2}" vid="{CFBC31BA-B70F-4F30-BCAA-4F3011E16C4D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Facet</Template>
  <TotalTime>3765</TotalTime>
  <Words>524</Words>
  <Application>Microsoft Office PowerPoint</Application>
  <PresentationFormat>Widescreen</PresentationFormat>
  <Paragraphs>131</Paragraphs>
  <Slides>16</Slides>
  <Notes>14</Notes>
  <HiddenSlides>1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21" baseType="lpstr">
      <vt:lpstr>Arial</vt:lpstr>
      <vt:lpstr>Calibri</vt:lpstr>
      <vt:lpstr>Trebuchet MS</vt:lpstr>
      <vt:lpstr>Wingdings 3</vt:lpstr>
      <vt:lpstr>Facet</vt:lpstr>
      <vt:lpstr>Unearthed  Innovation Project</vt:lpstr>
      <vt:lpstr>Identify / Problem Selection</vt:lpstr>
      <vt:lpstr>Identify / Problem Details</vt:lpstr>
      <vt:lpstr>Design / Solution</vt:lpstr>
      <vt:lpstr>Create / Summary</vt:lpstr>
      <vt:lpstr>Create/ Egyptian Civilization</vt:lpstr>
      <vt:lpstr>Create/ Indus River Valley Civilization</vt:lpstr>
      <vt:lpstr>Create/ Chinese Civilization</vt:lpstr>
      <vt:lpstr>Create/ Aztec &amp; Maya Civilization</vt:lpstr>
      <vt:lpstr>Create/ Greece Civilization</vt:lpstr>
      <vt:lpstr>Create/ AI Model</vt:lpstr>
      <vt:lpstr>Iterate/ AI Model</vt:lpstr>
      <vt:lpstr>Communicate</vt:lpstr>
      <vt:lpstr>Thank you!</vt:lpstr>
      <vt:lpstr>PowerPoint Presentation</vt:lpstr>
      <vt:lpstr>Civilizations Researched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vikas loomba</dc:creator>
  <cp:lastModifiedBy>vikas loomba</cp:lastModifiedBy>
  <cp:revision>68</cp:revision>
  <dcterms:created xsi:type="dcterms:W3CDTF">2025-10-11T21:23:57Z</dcterms:created>
  <dcterms:modified xsi:type="dcterms:W3CDTF">2025-11-30T21:42:01Z</dcterms:modified>
</cp:coreProperties>
</file>