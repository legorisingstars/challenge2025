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7" r:id="rId1"/>
  </p:sldMasterIdLst>
  <p:notesMasterIdLst>
    <p:notesMasterId r:id="rId19"/>
  </p:notesMasterIdLst>
  <p:sldIdLst>
    <p:sldId id="256" r:id="rId2"/>
    <p:sldId id="270" r:id="rId3"/>
    <p:sldId id="257" r:id="rId4"/>
    <p:sldId id="273" r:id="rId5"/>
    <p:sldId id="259" r:id="rId6"/>
    <p:sldId id="258" r:id="rId7"/>
    <p:sldId id="262" r:id="rId8"/>
    <p:sldId id="263" r:id="rId9"/>
    <p:sldId id="264" r:id="rId10"/>
    <p:sldId id="266" r:id="rId11"/>
    <p:sldId id="265" r:id="rId12"/>
    <p:sldId id="261" r:id="rId13"/>
    <p:sldId id="267" r:id="rId14"/>
    <p:sldId id="268" r:id="rId15"/>
    <p:sldId id="269"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ikas loomba" initials="vl" lastIdx="1" clrIdx="0">
    <p:extLst>
      <p:ext uri="{19B8F6BF-5375-455C-9EA6-DF929625EA0E}">
        <p15:presenceInfo xmlns:p15="http://schemas.microsoft.com/office/powerpoint/2012/main" userId="f63a4a0c17b82d1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25" autoAdjust="0"/>
    <p:restoredTop sz="96794" autoAdjust="0"/>
  </p:normalViewPr>
  <p:slideViewPr>
    <p:cSldViewPr snapToGrid="0">
      <p:cViewPr>
        <p:scale>
          <a:sx n="120" d="100"/>
          <a:sy n="120" d="100"/>
        </p:scale>
        <p:origin x="114" y="312"/>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8FD63A-F8FC-4A0C-8540-00C7AED4F48E}" type="datetimeFigureOut">
              <a:rPr lang="en-US" smtClean="0"/>
              <a:t>12/17/2025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4228F8-FB73-46B0-A250-E6C5C0B176A9}" type="slidenum">
              <a:rPr lang="en-US" smtClean="0"/>
              <a:t>‹#›</a:t>
            </a:fld>
            <a:endParaRPr lang="en-US"/>
          </a:p>
        </p:txBody>
      </p:sp>
    </p:spTree>
    <p:extLst>
      <p:ext uri="{BB962C8B-B14F-4D97-AF65-F5344CB8AC3E}">
        <p14:creationId xmlns:p14="http://schemas.microsoft.com/office/powerpoint/2010/main" val="10346421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Riona</a:t>
            </a:r>
          </a:p>
        </p:txBody>
      </p:sp>
      <p:sp>
        <p:nvSpPr>
          <p:cNvPr id="4" name="Slide Number Placeholder 3"/>
          <p:cNvSpPr>
            <a:spLocks noGrp="1"/>
          </p:cNvSpPr>
          <p:nvPr>
            <p:ph type="sldNum" sz="quarter" idx="5"/>
          </p:nvPr>
        </p:nvSpPr>
        <p:spPr/>
        <p:txBody>
          <a:bodyPr/>
          <a:lstStyle/>
          <a:p>
            <a:fld id="{2F4228F8-FB73-46B0-A250-E6C5C0B176A9}" type="slidenum">
              <a:rPr lang="en-US" smtClean="0"/>
              <a:t>1</a:t>
            </a:fld>
            <a:endParaRPr lang="en-US"/>
          </a:p>
        </p:txBody>
      </p:sp>
    </p:spTree>
    <p:extLst>
      <p:ext uri="{BB962C8B-B14F-4D97-AF65-F5344CB8AC3E}">
        <p14:creationId xmlns:p14="http://schemas.microsoft.com/office/powerpoint/2010/main" val="37192794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Riona</a:t>
            </a:r>
          </a:p>
        </p:txBody>
      </p:sp>
      <p:sp>
        <p:nvSpPr>
          <p:cNvPr id="4" name="Slide Number Placeholder 3"/>
          <p:cNvSpPr>
            <a:spLocks noGrp="1"/>
          </p:cNvSpPr>
          <p:nvPr>
            <p:ph type="sldNum" sz="quarter" idx="5"/>
          </p:nvPr>
        </p:nvSpPr>
        <p:spPr/>
        <p:txBody>
          <a:bodyPr/>
          <a:lstStyle/>
          <a:p>
            <a:fld id="{2F4228F8-FB73-46B0-A250-E6C5C0B176A9}" type="slidenum">
              <a:rPr lang="en-US" smtClean="0"/>
              <a:t>2</a:t>
            </a:fld>
            <a:endParaRPr lang="en-US"/>
          </a:p>
        </p:txBody>
      </p:sp>
    </p:spTree>
    <p:extLst>
      <p:ext uri="{BB962C8B-B14F-4D97-AF65-F5344CB8AC3E}">
        <p14:creationId xmlns:p14="http://schemas.microsoft.com/office/powerpoint/2010/main" val="12484252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Shaivi</a:t>
            </a:r>
          </a:p>
        </p:txBody>
      </p:sp>
      <p:sp>
        <p:nvSpPr>
          <p:cNvPr id="4" name="Slide Number Placeholder 3"/>
          <p:cNvSpPr>
            <a:spLocks noGrp="1"/>
          </p:cNvSpPr>
          <p:nvPr>
            <p:ph type="sldNum" sz="quarter" idx="5"/>
          </p:nvPr>
        </p:nvSpPr>
        <p:spPr/>
        <p:txBody>
          <a:bodyPr/>
          <a:lstStyle/>
          <a:p>
            <a:fld id="{2F4228F8-FB73-46B0-A250-E6C5C0B176A9}" type="slidenum">
              <a:rPr lang="en-US" smtClean="0"/>
              <a:t>3</a:t>
            </a:fld>
            <a:endParaRPr lang="en-US"/>
          </a:p>
        </p:txBody>
      </p:sp>
    </p:spTree>
    <p:extLst>
      <p:ext uri="{BB962C8B-B14F-4D97-AF65-F5344CB8AC3E}">
        <p14:creationId xmlns:p14="http://schemas.microsoft.com/office/powerpoint/2010/main" val="13901926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Shaivi</a:t>
            </a:r>
          </a:p>
        </p:txBody>
      </p:sp>
      <p:sp>
        <p:nvSpPr>
          <p:cNvPr id="4" name="Slide Number Placeholder 3"/>
          <p:cNvSpPr>
            <a:spLocks noGrp="1"/>
          </p:cNvSpPr>
          <p:nvPr>
            <p:ph type="sldNum" sz="quarter" idx="5"/>
          </p:nvPr>
        </p:nvSpPr>
        <p:spPr/>
        <p:txBody>
          <a:bodyPr/>
          <a:lstStyle/>
          <a:p>
            <a:fld id="{2F4228F8-FB73-46B0-A250-E6C5C0B176A9}" type="slidenum">
              <a:rPr lang="en-US" smtClean="0"/>
              <a:t>5</a:t>
            </a:fld>
            <a:endParaRPr lang="en-US"/>
          </a:p>
        </p:txBody>
      </p:sp>
    </p:spTree>
    <p:extLst>
      <p:ext uri="{BB962C8B-B14F-4D97-AF65-F5344CB8AC3E}">
        <p14:creationId xmlns:p14="http://schemas.microsoft.com/office/powerpoint/2010/main" val="1697666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Zoey</a:t>
            </a:r>
          </a:p>
        </p:txBody>
      </p:sp>
      <p:sp>
        <p:nvSpPr>
          <p:cNvPr id="4" name="Slide Number Placeholder 3"/>
          <p:cNvSpPr>
            <a:spLocks noGrp="1"/>
          </p:cNvSpPr>
          <p:nvPr>
            <p:ph type="sldNum" sz="quarter" idx="5"/>
          </p:nvPr>
        </p:nvSpPr>
        <p:spPr/>
        <p:txBody>
          <a:bodyPr/>
          <a:lstStyle/>
          <a:p>
            <a:fld id="{2F4228F8-FB73-46B0-A250-E6C5C0B176A9}" type="slidenum">
              <a:rPr lang="en-US" smtClean="0"/>
              <a:t>6</a:t>
            </a:fld>
            <a:endParaRPr lang="en-US"/>
          </a:p>
        </p:txBody>
      </p:sp>
    </p:spTree>
    <p:extLst>
      <p:ext uri="{BB962C8B-B14F-4D97-AF65-F5344CB8AC3E}">
        <p14:creationId xmlns:p14="http://schemas.microsoft.com/office/powerpoint/2010/main" val="5937712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Zoey</a:t>
            </a:r>
          </a:p>
        </p:txBody>
      </p:sp>
      <p:sp>
        <p:nvSpPr>
          <p:cNvPr id="4" name="Slide Number Placeholder 3"/>
          <p:cNvSpPr>
            <a:spLocks noGrp="1"/>
          </p:cNvSpPr>
          <p:nvPr>
            <p:ph type="sldNum" sz="quarter" idx="5"/>
          </p:nvPr>
        </p:nvSpPr>
        <p:spPr/>
        <p:txBody>
          <a:bodyPr/>
          <a:lstStyle/>
          <a:p>
            <a:fld id="{2F4228F8-FB73-46B0-A250-E6C5C0B176A9}" type="slidenum">
              <a:rPr lang="en-US" smtClean="0"/>
              <a:t>7</a:t>
            </a:fld>
            <a:endParaRPr lang="en-US"/>
          </a:p>
        </p:txBody>
      </p:sp>
    </p:spTree>
    <p:extLst>
      <p:ext uri="{BB962C8B-B14F-4D97-AF65-F5344CB8AC3E}">
        <p14:creationId xmlns:p14="http://schemas.microsoft.com/office/powerpoint/2010/main" val="34667955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Saanvi</a:t>
            </a:r>
          </a:p>
        </p:txBody>
      </p:sp>
      <p:sp>
        <p:nvSpPr>
          <p:cNvPr id="4" name="Slide Number Placeholder 3"/>
          <p:cNvSpPr>
            <a:spLocks noGrp="1"/>
          </p:cNvSpPr>
          <p:nvPr>
            <p:ph type="sldNum" sz="quarter" idx="5"/>
          </p:nvPr>
        </p:nvSpPr>
        <p:spPr/>
        <p:txBody>
          <a:bodyPr/>
          <a:lstStyle/>
          <a:p>
            <a:fld id="{2F4228F8-FB73-46B0-A250-E6C5C0B176A9}" type="slidenum">
              <a:rPr lang="en-US" smtClean="0"/>
              <a:t>8</a:t>
            </a:fld>
            <a:endParaRPr lang="en-US"/>
          </a:p>
        </p:txBody>
      </p:sp>
    </p:spTree>
    <p:extLst>
      <p:ext uri="{BB962C8B-B14F-4D97-AF65-F5344CB8AC3E}">
        <p14:creationId xmlns:p14="http://schemas.microsoft.com/office/powerpoint/2010/main" val="31425731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Saanvi</a:t>
            </a:r>
          </a:p>
        </p:txBody>
      </p:sp>
      <p:sp>
        <p:nvSpPr>
          <p:cNvPr id="4" name="Slide Number Placeholder 3"/>
          <p:cNvSpPr>
            <a:spLocks noGrp="1"/>
          </p:cNvSpPr>
          <p:nvPr>
            <p:ph type="sldNum" sz="quarter" idx="5"/>
          </p:nvPr>
        </p:nvSpPr>
        <p:spPr/>
        <p:txBody>
          <a:bodyPr/>
          <a:lstStyle/>
          <a:p>
            <a:fld id="{2F4228F8-FB73-46B0-A250-E6C5C0B176A9}" type="slidenum">
              <a:rPr lang="en-US" smtClean="0"/>
              <a:t>9</a:t>
            </a:fld>
            <a:endParaRPr lang="en-US"/>
          </a:p>
        </p:txBody>
      </p:sp>
    </p:spTree>
    <p:extLst>
      <p:ext uri="{BB962C8B-B14F-4D97-AF65-F5344CB8AC3E}">
        <p14:creationId xmlns:p14="http://schemas.microsoft.com/office/powerpoint/2010/main" val="6622264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Saumya</a:t>
            </a:r>
          </a:p>
        </p:txBody>
      </p:sp>
      <p:sp>
        <p:nvSpPr>
          <p:cNvPr id="4" name="Slide Number Placeholder 3"/>
          <p:cNvSpPr>
            <a:spLocks noGrp="1"/>
          </p:cNvSpPr>
          <p:nvPr>
            <p:ph type="sldNum" sz="quarter" idx="5"/>
          </p:nvPr>
        </p:nvSpPr>
        <p:spPr/>
        <p:txBody>
          <a:bodyPr/>
          <a:lstStyle/>
          <a:p>
            <a:fld id="{2F4228F8-FB73-46B0-A250-E6C5C0B176A9}" type="slidenum">
              <a:rPr lang="en-US" smtClean="0"/>
              <a:t>10</a:t>
            </a:fld>
            <a:endParaRPr lang="en-US"/>
          </a:p>
        </p:txBody>
      </p:sp>
    </p:spTree>
    <p:extLst>
      <p:ext uri="{BB962C8B-B14F-4D97-AF65-F5344CB8AC3E}">
        <p14:creationId xmlns:p14="http://schemas.microsoft.com/office/powerpoint/2010/main" val="5574478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Saumya</a:t>
            </a:r>
          </a:p>
        </p:txBody>
      </p:sp>
      <p:sp>
        <p:nvSpPr>
          <p:cNvPr id="4" name="Slide Number Placeholder 3"/>
          <p:cNvSpPr>
            <a:spLocks noGrp="1"/>
          </p:cNvSpPr>
          <p:nvPr>
            <p:ph type="sldNum" sz="quarter" idx="5"/>
          </p:nvPr>
        </p:nvSpPr>
        <p:spPr/>
        <p:txBody>
          <a:bodyPr/>
          <a:lstStyle/>
          <a:p>
            <a:fld id="{2F4228F8-FB73-46B0-A250-E6C5C0B176A9}" type="slidenum">
              <a:rPr lang="en-US" smtClean="0"/>
              <a:t>11</a:t>
            </a:fld>
            <a:endParaRPr lang="en-US"/>
          </a:p>
        </p:txBody>
      </p:sp>
    </p:spTree>
    <p:extLst>
      <p:ext uri="{BB962C8B-B14F-4D97-AF65-F5344CB8AC3E}">
        <p14:creationId xmlns:p14="http://schemas.microsoft.com/office/powerpoint/2010/main" val="39343912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Girisha</a:t>
            </a:r>
          </a:p>
        </p:txBody>
      </p:sp>
      <p:sp>
        <p:nvSpPr>
          <p:cNvPr id="4" name="Slide Number Placeholder 3"/>
          <p:cNvSpPr>
            <a:spLocks noGrp="1"/>
          </p:cNvSpPr>
          <p:nvPr>
            <p:ph type="sldNum" sz="quarter" idx="5"/>
          </p:nvPr>
        </p:nvSpPr>
        <p:spPr/>
        <p:txBody>
          <a:bodyPr/>
          <a:lstStyle/>
          <a:p>
            <a:fld id="{2F4228F8-FB73-46B0-A250-E6C5C0B176A9}" type="slidenum">
              <a:rPr lang="en-US" smtClean="0"/>
              <a:t>12</a:t>
            </a:fld>
            <a:endParaRPr lang="en-US"/>
          </a:p>
        </p:txBody>
      </p:sp>
    </p:spTree>
    <p:extLst>
      <p:ext uri="{BB962C8B-B14F-4D97-AF65-F5344CB8AC3E}">
        <p14:creationId xmlns:p14="http://schemas.microsoft.com/office/powerpoint/2010/main" val="32197598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Girisha</a:t>
            </a:r>
          </a:p>
        </p:txBody>
      </p:sp>
      <p:sp>
        <p:nvSpPr>
          <p:cNvPr id="4" name="Slide Number Placeholder 3"/>
          <p:cNvSpPr>
            <a:spLocks noGrp="1"/>
          </p:cNvSpPr>
          <p:nvPr>
            <p:ph type="sldNum" sz="quarter" idx="5"/>
          </p:nvPr>
        </p:nvSpPr>
        <p:spPr/>
        <p:txBody>
          <a:bodyPr/>
          <a:lstStyle/>
          <a:p>
            <a:fld id="{2F4228F8-FB73-46B0-A250-E6C5C0B176A9}" type="slidenum">
              <a:rPr lang="en-US" smtClean="0"/>
              <a:t>13</a:t>
            </a:fld>
            <a:endParaRPr lang="en-US"/>
          </a:p>
        </p:txBody>
      </p:sp>
    </p:spTree>
    <p:extLst>
      <p:ext uri="{BB962C8B-B14F-4D97-AF65-F5344CB8AC3E}">
        <p14:creationId xmlns:p14="http://schemas.microsoft.com/office/powerpoint/2010/main" val="20673269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Riya</a:t>
            </a:r>
          </a:p>
        </p:txBody>
      </p:sp>
      <p:sp>
        <p:nvSpPr>
          <p:cNvPr id="4" name="Slide Number Placeholder 3"/>
          <p:cNvSpPr>
            <a:spLocks noGrp="1"/>
          </p:cNvSpPr>
          <p:nvPr>
            <p:ph type="sldNum" sz="quarter" idx="5"/>
          </p:nvPr>
        </p:nvSpPr>
        <p:spPr/>
        <p:txBody>
          <a:bodyPr/>
          <a:lstStyle/>
          <a:p>
            <a:fld id="{2F4228F8-FB73-46B0-A250-E6C5C0B176A9}" type="slidenum">
              <a:rPr lang="en-US" smtClean="0"/>
              <a:t>14</a:t>
            </a:fld>
            <a:endParaRPr lang="en-US"/>
          </a:p>
        </p:txBody>
      </p:sp>
    </p:spTree>
    <p:extLst>
      <p:ext uri="{BB962C8B-B14F-4D97-AF65-F5344CB8AC3E}">
        <p14:creationId xmlns:p14="http://schemas.microsoft.com/office/powerpoint/2010/main" val="14223051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Riya</a:t>
            </a:r>
          </a:p>
        </p:txBody>
      </p:sp>
      <p:sp>
        <p:nvSpPr>
          <p:cNvPr id="4" name="Slide Number Placeholder 3"/>
          <p:cNvSpPr>
            <a:spLocks noGrp="1"/>
          </p:cNvSpPr>
          <p:nvPr>
            <p:ph type="sldNum" sz="quarter" idx="5"/>
          </p:nvPr>
        </p:nvSpPr>
        <p:spPr/>
        <p:txBody>
          <a:bodyPr/>
          <a:lstStyle/>
          <a:p>
            <a:fld id="{2F4228F8-FB73-46B0-A250-E6C5C0B176A9}" type="slidenum">
              <a:rPr lang="en-US" smtClean="0"/>
              <a:t>15</a:t>
            </a:fld>
            <a:endParaRPr lang="en-US"/>
          </a:p>
        </p:txBody>
      </p:sp>
    </p:spTree>
    <p:extLst>
      <p:ext uri="{BB962C8B-B14F-4D97-AF65-F5344CB8AC3E}">
        <p14:creationId xmlns:p14="http://schemas.microsoft.com/office/powerpoint/2010/main" val="19469484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214EFA7-94EC-4BC8-BC85-3E595F55699A}"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A1EA9D-5C1F-45F4-9F1C-6EC2EC60525E}" type="slidenum">
              <a:rPr lang="en-US" smtClean="0"/>
              <a:t>‹#›</a:t>
            </a:fld>
            <a:endParaRPr lang="en-US"/>
          </a:p>
        </p:txBody>
      </p:sp>
    </p:spTree>
    <p:extLst>
      <p:ext uri="{BB962C8B-B14F-4D97-AF65-F5344CB8AC3E}">
        <p14:creationId xmlns:p14="http://schemas.microsoft.com/office/powerpoint/2010/main" val="878627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14EFA7-94EC-4BC8-BC85-3E595F55699A}"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A1EA9D-5C1F-45F4-9F1C-6EC2EC60525E}" type="slidenum">
              <a:rPr lang="en-US" smtClean="0"/>
              <a:t>‹#›</a:t>
            </a:fld>
            <a:endParaRPr lang="en-US"/>
          </a:p>
        </p:txBody>
      </p:sp>
    </p:spTree>
    <p:extLst>
      <p:ext uri="{BB962C8B-B14F-4D97-AF65-F5344CB8AC3E}">
        <p14:creationId xmlns:p14="http://schemas.microsoft.com/office/powerpoint/2010/main" val="38559201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214EFA7-94EC-4BC8-BC85-3E595F55699A}"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A1EA9D-5C1F-45F4-9F1C-6EC2EC60525E}" type="slidenum">
              <a:rPr lang="en-US" smtClean="0"/>
              <a:t>‹#›</a:t>
            </a:fld>
            <a:endParaRPr lang="en-US"/>
          </a:p>
        </p:txBody>
      </p:sp>
    </p:spTree>
    <p:extLst>
      <p:ext uri="{BB962C8B-B14F-4D97-AF65-F5344CB8AC3E}">
        <p14:creationId xmlns:p14="http://schemas.microsoft.com/office/powerpoint/2010/main" val="34248699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214EFA7-94EC-4BC8-BC85-3E595F55699A}" type="datetimeFigureOut">
              <a:rPr lang="en-US" smtClean="0"/>
              <a:t>12/17/2025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A1EA9D-5C1F-45F4-9F1C-6EC2EC60525E}" type="slidenum">
              <a:rPr lang="en-US" smtClean="0"/>
              <a:t>‹#›</a:t>
            </a:fld>
            <a:endParaRPr lang="en-US"/>
          </a:p>
        </p:txBody>
      </p:sp>
    </p:spTree>
    <p:extLst>
      <p:ext uri="{BB962C8B-B14F-4D97-AF65-F5344CB8AC3E}">
        <p14:creationId xmlns:p14="http://schemas.microsoft.com/office/powerpoint/2010/main" val="41124241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214EFA7-94EC-4BC8-BC85-3E595F55699A}" type="datetimeFigureOut">
              <a:rPr lang="en-US" smtClean="0"/>
              <a:t>12/17/2025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BA1EA9D-5C1F-45F4-9F1C-6EC2EC60525E}" type="slidenum">
              <a:rPr lang="en-US" smtClean="0"/>
              <a:t>‹#›</a:t>
            </a:fld>
            <a:endParaRPr lang="en-US"/>
          </a:p>
        </p:txBody>
      </p:sp>
    </p:spTree>
    <p:extLst>
      <p:ext uri="{BB962C8B-B14F-4D97-AF65-F5344CB8AC3E}">
        <p14:creationId xmlns:p14="http://schemas.microsoft.com/office/powerpoint/2010/main" val="12929852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214EFA7-94EC-4BC8-BC85-3E595F55699A}" type="datetimeFigureOut">
              <a:rPr lang="en-US" smtClean="0"/>
              <a:t>12/17/2025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BA1EA9D-5C1F-45F4-9F1C-6EC2EC60525E}" type="slidenum">
              <a:rPr lang="en-US" smtClean="0"/>
              <a:t>‹#›</a:t>
            </a:fld>
            <a:endParaRPr lang="en-US"/>
          </a:p>
        </p:txBody>
      </p:sp>
    </p:spTree>
    <p:extLst>
      <p:ext uri="{BB962C8B-B14F-4D97-AF65-F5344CB8AC3E}">
        <p14:creationId xmlns:p14="http://schemas.microsoft.com/office/powerpoint/2010/main" val="28275477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214EFA7-94EC-4BC8-BC85-3E595F55699A}" type="datetimeFigureOut">
              <a:rPr lang="en-US" smtClean="0"/>
              <a:t>12/17/2025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BA1EA9D-5C1F-45F4-9F1C-6EC2EC60525E}" type="slidenum">
              <a:rPr lang="en-US" smtClean="0"/>
              <a:t>‹#›</a:t>
            </a:fld>
            <a:endParaRPr lang="en-US"/>
          </a:p>
        </p:txBody>
      </p:sp>
    </p:spTree>
    <p:extLst>
      <p:ext uri="{BB962C8B-B14F-4D97-AF65-F5344CB8AC3E}">
        <p14:creationId xmlns:p14="http://schemas.microsoft.com/office/powerpoint/2010/main" val="7606291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214EFA7-94EC-4BC8-BC85-3E595F55699A}" type="datetimeFigureOut">
              <a:rPr lang="en-US" smtClean="0"/>
              <a:t>12/17/2025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A1EA9D-5C1F-45F4-9F1C-6EC2EC60525E}" type="slidenum">
              <a:rPr lang="en-US" smtClean="0"/>
              <a:t>‹#›</a:t>
            </a:fld>
            <a:endParaRPr lang="en-US"/>
          </a:p>
        </p:txBody>
      </p:sp>
    </p:spTree>
    <p:extLst>
      <p:ext uri="{BB962C8B-B14F-4D97-AF65-F5344CB8AC3E}">
        <p14:creationId xmlns:p14="http://schemas.microsoft.com/office/powerpoint/2010/main" val="26666053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214EFA7-94EC-4BC8-BC85-3E595F55699A}" type="datetimeFigureOut">
              <a:rPr lang="en-US" smtClean="0"/>
              <a:t>12/17/2025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A1EA9D-5C1F-45F4-9F1C-6EC2EC60525E}" type="slidenum">
              <a:rPr lang="en-US" smtClean="0"/>
              <a:t>‹#›</a:t>
            </a:fld>
            <a:endParaRPr lang="en-US"/>
          </a:p>
        </p:txBody>
      </p:sp>
    </p:spTree>
    <p:extLst>
      <p:ext uri="{BB962C8B-B14F-4D97-AF65-F5344CB8AC3E}">
        <p14:creationId xmlns:p14="http://schemas.microsoft.com/office/powerpoint/2010/main" val="9973714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214EFA7-94EC-4BC8-BC85-3E595F55699A}"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A1EA9D-5C1F-45F4-9F1C-6EC2EC60525E}" type="slidenum">
              <a:rPr lang="en-US" smtClean="0"/>
              <a:t>‹#›</a:t>
            </a:fld>
            <a:endParaRPr lang="en-US"/>
          </a:p>
        </p:txBody>
      </p:sp>
    </p:spTree>
    <p:extLst>
      <p:ext uri="{BB962C8B-B14F-4D97-AF65-F5344CB8AC3E}">
        <p14:creationId xmlns:p14="http://schemas.microsoft.com/office/powerpoint/2010/main" val="8258535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214EFA7-94EC-4BC8-BC85-3E595F55699A}"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A1EA9D-5C1F-45F4-9F1C-6EC2EC60525E}"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9238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214EFA7-94EC-4BC8-BC85-3E595F55699A}"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A1EA9D-5C1F-45F4-9F1C-6EC2EC60525E}" type="slidenum">
              <a:rPr lang="en-US" smtClean="0"/>
              <a:t>‹#›</a:t>
            </a:fld>
            <a:endParaRPr lang="en-US"/>
          </a:p>
        </p:txBody>
      </p:sp>
    </p:spTree>
    <p:extLst>
      <p:ext uri="{BB962C8B-B14F-4D97-AF65-F5344CB8AC3E}">
        <p14:creationId xmlns:p14="http://schemas.microsoft.com/office/powerpoint/2010/main" val="12495797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214EFA7-94EC-4BC8-BC85-3E595F55699A}"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A1EA9D-5C1F-45F4-9F1C-6EC2EC60525E}"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7971583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214EFA7-94EC-4BC8-BC85-3E595F55699A}"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A1EA9D-5C1F-45F4-9F1C-6EC2EC60525E}" type="slidenum">
              <a:rPr lang="en-US" smtClean="0"/>
              <a:t>‹#›</a:t>
            </a:fld>
            <a:endParaRPr lang="en-US"/>
          </a:p>
        </p:txBody>
      </p:sp>
    </p:spTree>
    <p:extLst>
      <p:ext uri="{BB962C8B-B14F-4D97-AF65-F5344CB8AC3E}">
        <p14:creationId xmlns:p14="http://schemas.microsoft.com/office/powerpoint/2010/main" val="18462850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14EFA7-94EC-4BC8-BC85-3E595F55699A}"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A1EA9D-5C1F-45F4-9F1C-6EC2EC60525E}" type="slidenum">
              <a:rPr lang="en-US" smtClean="0"/>
              <a:t>‹#›</a:t>
            </a:fld>
            <a:endParaRPr lang="en-US"/>
          </a:p>
        </p:txBody>
      </p:sp>
    </p:spTree>
    <p:extLst>
      <p:ext uri="{BB962C8B-B14F-4D97-AF65-F5344CB8AC3E}">
        <p14:creationId xmlns:p14="http://schemas.microsoft.com/office/powerpoint/2010/main" val="16195813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14EFA7-94EC-4BC8-BC85-3E595F55699A}"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A1EA9D-5C1F-45F4-9F1C-6EC2EC60525E}" type="slidenum">
              <a:rPr lang="en-US" smtClean="0"/>
              <a:t>‹#›</a:t>
            </a:fld>
            <a:endParaRPr lang="en-US"/>
          </a:p>
        </p:txBody>
      </p:sp>
    </p:spTree>
    <p:extLst>
      <p:ext uri="{BB962C8B-B14F-4D97-AF65-F5344CB8AC3E}">
        <p14:creationId xmlns:p14="http://schemas.microsoft.com/office/powerpoint/2010/main" val="9390647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214EFA7-94EC-4BC8-BC85-3E595F55699A}" type="datetimeFigureOut">
              <a:rPr lang="en-US" smtClean="0"/>
              <a:t>12/17/2025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4BA1EA9D-5C1F-45F4-9F1C-6EC2EC60525E}" type="slidenum">
              <a:rPr lang="en-US" smtClean="0"/>
              <a:t>‹#›</a:t>
            </a:fld>
            <a:endParaRPr lang="en-US"/>
          </a:p>
        </p:txBody>
      </p:sp>
    </p:spTree>
    <p:extLst>
      <p:ext uri="{BB962C8B-B14F-4D97-AF65-F5344CB8AC3E}">
        <p14:creationId xmlns:p14="http://schemas.microsoft.com/office/powerpoint/2010/main" val="4095806349"/>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DD650-1FF8-FB32-698D-F85DF4810BAE}"/>
              </a:ext>
            </a:extLst>
          </p:cNvPr>
          <p:cNvSpPr>
            <a:spLocks noGrp="1"/>
          </p:cNvSpPr>
          <p:nvPr>
            <p:ph type="ctrTitle"/>
          </p:nvPr>
        </p:nvSpPr>
        <p:spPr>
          <a:xfrm>
            <a:off x="1524000" y="1122363"/>
            <a:ext cx="9144000" cy="2001838"/>
          </a:xfrm>
        </p:spPr>
        <p:txBody>
          <a:bodyPr/>
          <a:lstStyle/>
          <a:p>
            <a:r>
              <a:rPr lang="en-US" dirty="0"/>
              <a:t>Unearthed </a:t>
            </a:r>
            <a:br>
              <a:rPr lang="en-US" dirty="0"/>
            </a:br>
            <a:r>
              <a:rPr lang="en-US" dirty="0"/>
              <a:t>Innovation Project</a:t>
            </a:r>
          </a:p>
        </p:txBody>
      </p:sp>
      <p:sp>
        <p:nvSpPr>
          <p:cNvPr id="3" name="Subtitle 2">
            <a:extLst>
              <a:ext uri="{FF2B5EF4-FFF2-40B4-BE49-F238E27FC236}">
                <a16:creationId xmlns:a16="http://schemas.microsoft.com/office/drawing/2014/main" id="{35EB4715-2A8C-222C-81BD-2B78B7A44363}"/>
              </a:ext>
            </a:extLst>
          </p:cNvPr>
          <p:cNvSpPr>
            <a:spLocks noGrp="1"/>
          </p:cNvSpPr>
          <p:nvPr>
            <p:ph type="subTitle" idx="1"/>
          </p:nvPr>
        </p:nvSpPr>
        <p:spPr>
          <a:xfrm>
            <a:off x="1524000" y="3429000"/>
            <a:ext cx="9144000" cy="1828800"/>
          </a:xfrm>
        </p:spPr>
        <p:txBody>
          <a:bodyPr>
            <a:normAutofit fontScale="92500" lnSpcReduction="10000"/>
          </a:bodyPr>
          <a:lstStyle/>
          <a:p>
            <a:r>
              <a:rPr lang="en-US" sz="4300" b="1" dirty="0">
                <a:effectLst>
                  <a:outerShdw blurRad="38100" dist="38100" dir="2700000" algn="tl">
                    <a:srgbClr val="000000">
                      <a:alpha val="43137"/>
                    </a:srgbClr>
                  </a:outerShdw>
                </a:effectLst>
              </a:rPr>
              <a:t>Natural dyes</a:t>
            </a:r>
          </a:p>
          <a:p>
            <a:endParaRPr lang="en-US" dirty="0"/>
          </a:p>
          <a:p>
            <a:r>
              <a:rPr lang="en-US" b="1" dirty="0"/>
              <a:t>Rising Stars</a:t>
            </a:r>
          </a:p>
          <a:p>
            <a:r>
              <a:rPr lang="en-US" dirty="0"/>
              <a:t>(Riona, Shaivi, Zoey, Saanvi, Saumya, Girisha, Riya)</a:t>
            </a:r>
          </a:p>
        </p:txBody>
      </p:sp>
      <p:pic>
        <p:nvPicPr>
          <p:cNvPr id="5" name="Picture 4">
            <a:extLst>
              <a:ext uri="{FF2B5EF4-FFF2-40B4-BE49-F238E27FC236}">
                <a16:creationId xmlns:a16="http://schemas.microsoft.com/office/drawing/2014/main" id="{6CBE4791-EC22-901E-E662-877929D7A135}"/>
              </a:ext>
            </a:extLst>
          </p:cNvPr>
          <p:cNvPicPr>
            <a:picLocks noChangeAspect="1"/>
          </p:cNvPicPr>
          <p:nvPr/>
        </p:nvPicPr>
        <p:blipFill>
          <a:blip r:embed="rId3"/>
          <a:srcRect b="47337"/>
          <a:stretch>
            <a:fillRect/>
          </a:stretch>
        </p:blipFill>
        <p:spPr>
          <a:xfrm>
            <a:off x="9006840" y="5735637"/>
            <a:ext cx="3028343" cy="691924"/>
          </a:xfrm>
          <a:prstGeom prst="rect">
            <a:avLst/>
          </a:prstGeom>
        </p:spPr>
      </p:pic>
      <p:pic>
        <p:nvPicPr>
          <p:cNvPr id="6" name="Picture 2" descr="FIRST LEGO League seizoen 2025-2026 | Beleef je Beroep">
            <a:extLst>
              <a:ext uri="{FF2B5EF4-FFF2-40B4-BE49-F238E27FC236}">
                <a16:creationId xmlns:a16="http://schemas.microsoft.com/office/drawing/2014/main" id="{4B4F0C95-FC26-D780-5976-6F83304D04C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8383" r="46643" b="15440"/>
          <a:stretch>
            <a:fillRect/>
          </a:stretch>
        </p:blipFill>
        <p:spPr bwMode="auto">
          <a:xfrm>
            <a:off x="306215" y="5257800"/>
            <a:ext cx="1454385" cy="1389779"/>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AB225521-AC09-450D-5057-2EB57E543A82}"/>
              </a:ext>
            </a:extLst>
          </p:cNvPr>
          <p:cNvSpPr txBox="1"/>
          <p:nvPr/>
        </p:nvSpPr>
        <p:spPr>
          <a:xfrm>
            <a:off x="11512297" y="9525"/>
            <a:ext cx="665762" cy="307777"/>
          </a:xfrm>
          <a:prstGeom prst="rect">
            <a:avLst/>
          </a:prstGeom>
          <a:noFill/>
        </p:spPr>
        <p:txBody>
          <a:bodyPr wrap="square" rtlCol="0">
            <a:spAutoFit/>
          </a:bodyPr>
          <a:lstStyle/>
          <a:p>
            <a:pPr algn="r"/>
            <a:r>
              <a:rPr lang="en-US" sz="1400" dirty="0"/>
              <a:t>Riona</a:t>
            </a:r>
          </a:p>
        </p:txBody>
      </p:sp>
    </p:spTree>
    <p:extLst>
      <p:ext uri="{BB962C8B-B14F-4D97-AF65-F5344CB8AC3E}">
        <p14:creationId xmlns:p14="http://schemas.microsoft.com/office/powerpoint/2010/main" val="21076570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DC890-69BB-9742-61C0-5D71BACD4E12}"/>
              </a:ext>
            </a:extLst>
          </p:cNvPr>
          <p:cNvSpPr>
            <a:spLocks noGrp="1"/>
          </p:cNvSpPr>
          <p:nvPr>
            <p:ph type="title"/>
          </p:nvPr>
        </p:nvSpPr>
        <p:spPr/>
        <p:txBody>
          <a:bodyPr/>
          <a:lstStyle/>
          <a:p>
            <a:r>
              <a:rPr lang="en-US" b="1" dirty="0"/>
              <a:t>Identify</a:t>
            </a:r>
            <a:r>
              <a:rPr lang="en-US" dirty="0"/>
              <a:t> / Problem Selection</a:t>
            </a:r>
          </a:p>
        </p:txBody>
      </p:sp>
      <p:sp>
        <p:nvSpPr>
          <p:cNvPr id="3" name="Content Placeholder 2">
            <a:extLst>
              <a:ext uri="{FF2B5EF4-FFF2-40B4-BE49-F238E27FC236}">
                <a16:creationId xmlns:a16="http://schemas.microsoft.com/office/drawing/2014/main" id="{7E6985DE-A26B-1E05-5030-D0FE88AFD376}"/>
              </a:ext>
            </a:extLst>
          </p:cNvPr>
          <p:cNvSpPr>
            <a:spLocks noGrp="1"/>
          </p:cNvSpPr>
          <p:nvPr>
            <p:ph idx="1"/>
          </p:nvPr>
        </p:nvSpPr>
        <p:spPr>
          <a:xfrm>
            <a:off x="677333" y="1675561"/>
            <a:ext cx="10377763" cy="4645726"/>
          </a:xfrm>
        </p:spPr>
        <p:txBody>
          <a:bodyPr>
            <a:normAutofit/>
          </a:bodyPr>
          <a:lstStyle/>
          <a:p>
            <a:pPr marL="0" indent="0">
              <a:buNone/>
            </a:pPr>
            <a:r>
              <a:rPr lang="en-US" sz="4400" dirty="0"/>
              <a:t>Ideas Explored before choosing our project:</a:t>
            </a:r>
          </a:p>
          <a:p>
            <a:r>
              <a:rPr lang="en-US" sz="3200" dirty="0"/>
              <a:t>Robotic Arm in Field of Archaeology </a:t>
            </a:r>
          </a:p>
          <a:p>
            <a:r>
              <a:rPr lang="en-US" sz="3200" dirty="0"/>
              <a:t>LIDAR / SONAR</a:t>
            </a:r>
          </a:p>
          <a:p>
            <a:r>
              <a:rPr lang="en-US" sz="3200" dirty="0"/>
              <a:t>Natural Cooling / Wind Tower</a:t>
            </a:r>
          </a:p>
          <a:p>
            <a:r>
              <a:rPr lang="en-US" sz="3200" dirty="0"/>
              <a:t>Artificial Dyes in Jewelry</a:t>
            </a:r>
          </a:p>
          <a:p>
            <a:r>
              <a:rPr lang="en-US" sz="4000" b="1" dirty="0"/>
              <a:t>Artificial Dyes in Food</a:t>
            </a:r>
          </a:p>
        </p:txBody>
      </p:sp>
      <p:sp>
        <p:nvSpPr>
          <p:cNvPr id="4" name="TextBox 3">
            <a:extLst>
              <a:ext uri="{FF2B5EF4-FFF2-40B4-BE49-F238E27FC236}">
                <a16:creationId xmlns:a16="http://schemas.microsoft.com/office/drawing/2014/main" id="{74437F4B-AA17-7742-0A99-8123D537C038}"/>
              </a:ext>
            </a:extLst>
          </p:cNvPr>
          <p:cNvSpPr txBox="1"/>
          <p:nvPr/>
        </p:nvSpPr>
        <p:spPr>
          <a:xfrm>
            <a:off x="11055097" y="9525"/>
            <a:ext cx="1122962" cy="307777"/>
          </a:xfrm>
          <a:prstGeom prst="rect">
            <a:avLst/>
          </a:prstGeom>
          <a:noFill/>
        </p:spPr>
        <p:txBody>
          <a:bodyPr wrap="square" rtlCol="0">
            <a:spAutoFit/>
          </a:bodyPr>
          <a:lstStyle/>
          <a:p>
            <a:pPr algn="r"/>
            <a:r>
              <a:rPr lang="en-US" sz="1400" dirty="0"/>
              <a:t>Riona</a:t>
            </a:r>
          </a:p>
        </p:txBody>
      </p:sp>
    </p:spTree>
    <p:extLst>
      <p:ext uri="{BB962C8B-B14F-4D97-AF65-F5344CB8AC3E}">
        <p14:creationId xmlns:p14="http://schemas.microsoft.com/office/powerpoint/2010/main" val="3268535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405A8-5DE7-008B-019F-17BF40CCEFAF}"/>
              </a:ext>
            </a:extLst>
          </p:cNvPr>
          <p:cNvSpPr>
            <a:spLocks noGrp="1"/>
          </p:cNvSpPr>
          <p:nvPr>
            <p:ph type="title"/>
          </p:nvPr>
        </p:nvSpPr>
        <p:spPr/>
        <p:txBody>
          <a:bodyPr/>
          <a:lstStyle/>
          <a:p>
            <a:r>
              <a:rPr lang="en-US" b="1" dirty="0"/>
              <a:t>Identify</a:t>
            </a:r>
            <a:r>
              <a:rPr lang="en-US" dirty="0"/>
              <a:t> / Problem Details</a:t>
            </a:r>
          </a:p>
        </p:txBody>
      </p:sp>
      <p:sp>
        <p:nvSpPr>
          <p:cNvPr id="3" name="Content Placeholder 2">
            <a:extLst>
              <a:ext uri="{FF2B5EF4-FFF2-40B4-BE49-F238E27FC236}">
                <a16:creationId xmlns:a16="http://schemas.microsoft.com/office/drawing/2014/main" id="{9E824097-824E-0D0F-5F63-7102FC793719}"/>
              </a:ext>
            </a:extLst>
          </p:cNvPr>
          <p:cNvSpPr>
            <a:spLocks noGrp="1"/>
          </p:cNvSpPr>
          <p:nvPr>
            <p:ph idx="1"/>
          </p:nvPr>
        </p:nvSpPr>
        <p:spPr>
          <a:xfrm>
            <a:off x="838200" y="1460498"/>
            <a:ext cx="10515600" cy="5397501"/>
          </a:xfrm>
        </p:spPr>
        <p:txBody>
          <a:bodyPr>
            <a:normAutofit/>
          </a:bodyPr>
          <a:lstStyle/>
          <a:p>
            <a:r>
              <a:rPr lang="en-US" dirty="0"/>
              <a:t>Today, </a:t>
            </a:r>
            <a:r>
              <a:rPr lang="en-US" b="1" dirty="0"/>
              <a:t>synthetic dyes</a:t>
            </a:r>
            <a:r>
              <a:rPr lang="en-US" dirty="0"/>
              <a:t> are used in many things, like </a:t>
            </a:r>
            <a:r>
              <a:rPr lang="en-US" b="1" dirty="0"/>
              <a:t>clothes and food</a:t>
            </a:r>
            <a:r>
              <a:rPr lang="en-US" dirty="0"/>
              <a:t>.</a:t>
            </a:r>
          </a:p>
          <a:p>
            <a:r>
              <a:rPr lang="en-US" b="1" dirty="0"/>
              <a:t>Textile dyes</a:t>
            </a:r>
            <a:r>
              <a:rPr lang="en-US" dirty="0"/>
              <a:t> can leak into soil and water from factories and waste.</a:t>
            </a:r>
          </a:p>
          <a:p>
            <a:r>
              <a:rPr lang="en-US" b="1" dirty="0"/>
              <a:t>Food dyes</a:t>
            </a:r>
            <a:r>
              <a:rPr lang="en-US" dirty="0"/>
              <a:t> go into our bodies and also into water systems through waste.</a:t>
            </a:r>
          </a:p>
          <a:p>
            <a:r>
              <a:rPr lang="en-US" dirty="0"/>
              <a:t>Some artificial food dyes are linked to </a:t>
            </a:r>
            <a:r>
              <a:rPr lang="en-US" b="1" dirty="0"/>
              <a:t>health concerns</a:t>
            </a:r>
            <a:r>
              <a:rPr lang="en-US" dirty="0"/>
              <a:t>, like allergies, coughing, or irritation in some people.</a:t>
            </a:r>
          </a:p>
          <a:p>
            <a:r>
              <a:rPr lang="en-US" dirty="0"/>
              <a:t>When dye chemicals enter the ground, they can </a:t>
            </a:r>
            <a:r>
              <a:rPr lang="en-US" b="1" dirty="0"/>
              <a:t>damage buried artifacts</a:t>
            </a:r>
            <a:r>
              <a:rPr lang="en-US" dirty="0"/>
              <a:t> and </a:t>
            </a:r>
            <a:r>
              <a:rPr lang="en-US" b="1" dirty="0"/>
              <a:t>change soil layers</a:t>
            </a:r>
            <a:r>
              <a:rPr lang="en-US" dirty="0"/>
              <a:t> that archaeologists study.</a:t>
            </a:r>
          </a:p>
          <a:p>
            <a:endParaRPr lang="en-US" dirty="0"/>
          </a:p>
        </p:txBody>
      </p:sp>
      <p:pic>
        <p:nvPicPr>
          <p:cNvPr id="4" name="Picture 3">
            <a:extLst>
              <a:ext uri="{FF2B5EF4-FFF2-40B4-BE49-F238E27FC236}">
                <a16:creationId xmlns:a16="http://schemas.microsoft.com/office/drawing/2014/main" id="{63B595D4-309F-9A70-2002-627AF7D9B9BD}"/>
              </a:ext>
            </a:extLst>
          </p:cNvPr>
          <p:cNvPicPr>
            <a:picLocks noChangeAspect="1"/>
          </p:cNvPicPr>
          <p:nvPr/>
        </p:nvPicPr>
        <p:blipFill>
          <a:blip r:embed="rId3"/>
          <a:stretch>
            <a:fillRect/>
          </a:stretch>
        </p:blipFill>
        <p:spPr>
          <a:xfrm>
            <a:off x="9773642" y="4704947"/>
            <a:ext cx="2418358" cy="2153053"/>
          </a:xfrm>
          <a:prstGeom prst="rect">
            <a:avLst/>
          </a:prstGeom>
        </p:spPr>
      </p:pic>
      <p:sp>
        <p:nvSpPr>
          <p:cNvPr id="5" name="Rectangle 4">
            <a:extLst>
              <a:ext uri="{FF2B5EF4-FFF2-40B4-BE49-F238E27FC236}">
                <a16:creationId xmlns:a16="http://schemas.microsoft.com/office/drawing/2014/main" id="{22668759-70EB-CBD0-4572-36F693CF8DDE}"/>
              </a:ext>
            </a:extLst>
          </p:cNvPr>
          <p:cNvSpPr/>
          <p:nvPr/>
        </p:nvSpPr>
        <p:spPr>
          <a:xfrm rot="5400000">
            <a:off x="10777148" y="4464152"/>
            <a:ext cx="493776" cy="994581"/>
          </a:xfrm>
          <a:prstGeom prst="rect">
            <a:avLst/>
          </a:prstGeom>
          <a:noFill/>
          <a:ln w="317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5B0E84E-115E-CA65-12DD-0FE4C3CFE83F}"/>
              </a:ext>
            </a:extLst>
          </p:cNvPr>
          <p:cNvSpPr txBox="1"/>
          <p:nvPr/>
        </p:nvSpPr>
        <p:spPr>
          <a:xfrm>
            <a:off x="11521327" y="9525"/>
            <a:ext cx="656731" cy="307777"/>
          </a:xfrm>
          <a:prstGeom prst="rect">
            <a:avLst/>
          </a:prstGeom>
          <a:noFill/>
        </p:spPr>
        <p:txBody>
          <a:bodyPr wrap="square" rtlCol="0">
            <a:spAutoFit/>
          </a:bodyPr>
          <a:lstStyle/>
          <a:p>
            <a:pPr algn="r"/>
            <a:r>
              <a:rPr lang="en-US" sz="1400" dirty="0"/>
              <a:t>Shaivi</a:t>
            </a:r>
          </a:p>
        </p:txBody>
      </p:sp>
    </p:spTree>
    <p:extLst>
      <p:ext uri="{BB962C8B-B14F-4D97-AF65-F5344CB8AC3E}">
        <p14:creationId xmlns:p14="http://schemas.microsoft.com/office/powerpoint/2010/main" val="3812429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FFE2B-ABD0-9877-AC89-F759EEABA7C6}"/>
              </a:ext>
            </a:extLst>
          </p:cNvPr>
          <p:cNvSpPr>
            <a:spLocks noGrp="1"/>
          </p:cNvSpPr>
          <p:nvPr>
            <p:ph type="title"/>
          </p:nvPr>
        </p:nvSpPr>
        <p:spPr/>
        <p:txBody>
          <a:bodyPr/>
          <a:lstStyle/>
          <a:p>
            <a:r>
              <a:rPr lang="en-US" b="1" dirty="0"/>
              <a:t>Identify</a:t>
            </a:r>
            <a:r>
              <a:rPr lang="en-US" dirty="0"/>
              <a:t> / Problem Details</a:t>
            </a:r>
          </a:p>
        </p:txBody>
      </p:sp>
      <p:sp>
        <p:nvSpPr>
          <p:cNvPr id="3" name="Content Placeholder 2">
            <a:extLst>
              <a:ext uri="{FF2B5EF4-FFF2-40B4-BE49-F238E27FC236}">
                <a16:creationId xmlns:a16="http://schemas.microsoft.com/office/drawing/2014/main" id="{E06C3D87-5D2C-BDBB-596B-16C60A4BCFEE}"/>
              </a:ext>
            </a:extLst>
          </p:cNvPr>
          <p:cNvSpPr>
            <a:spLocks noGrp="1"/>
          </p:cNvSpPr>
          <p:nvPr>
            <p:ph idx="1"/>
          </p:nvPr>
        </p:nvSpPr>
        <p:spPr>
          <a:xfrm>
            <a:off x="677333" y="1717483"/>
            <a:ext cx="10780497" cy="4323880"/>
          </a:xfrm>
        </p:spPr>
        <p:txBody>
          <a:bodyPr>
            <a:noAutofit/>
          </a:bodyPr>
          <a:lstStyle/>
          <a:p>
            <a:r>
              <a:rPr lang="en-US" sz="2400" b="1" dirty="0"/>
              <a:t>Long ago, ancient civilizations used natural dyes made from plants, insects, and minerals.</a:t>
            </a:r>
            <a:br>
              <a:rPr lang="en-US" sz="2400" dirty="0"/>
            </a:br>
            <a:r>
              <a:rPr lang="en-US" sz="2400" dirty="0"/>
              <a:t>These dyes were safer for people and for the ground.</a:t>
            </a:r>
          </a:p>
          <a:p>
            <a:r>
              <a:rPr lang="en-US" sz="2400" b="1" dirty="0"/>
              <a:t>Our problem is that modern synthetic dyes can harm human health and underground archaeological sites, making it harder to learn about the past.</a:t>
            </a:r>
            <a:endParaRPr lang="en-US" sz="2400" dirty="0"/>
          </a:p>
        </p:txBody>
      </p:sp>
    </p:spTree>
    <p:extLst>
      <p:ext uri="{BB962C8B-B14F-4D97-AF65-F5344CB8AC3E}">
        <p14:creationId xmlns:p14="http://schemas.microsoft.com/office/powerpoint/2010/main" val="3424898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C284F77-C713-02F6-61FF-7CC7F14663A1}"/>
              </a:ext>
            </a:extLst>
          </p:cNvPr>
          <p:cNvPicPr>
            <a:picLocks noChangeAspect="1"/>
          </p:cNvPicPr>
          <p:nvPr/>
        </p:nvPicPr>
        <p:blipFill>
          <a:blip r:embed="rId3"/>
          <a:stretch>
            <a:fillRect/>
          </a:stretch>
        </p:blipFill>
        <p:spPr>
          <a:xfrm>
            <a:off x="9773642" y="4704947"/>
            <a:ext cx="2418358" cy="2153053"/>
          </a:xfrm>
          <a:prstGeom prst="rect">
            <a:avLst/>
          </a:prstGeom>
        </p:spPr>
      </p:pic>
      <p:sp>
        <p:nvSpPr>
          <p:cNvPr id="2" name="Title 1">
            <a:extLst>
              <a:ext uri="{FF2B5EF4-FFF2-40B4-BE49-F238E27FC236}">
                <a16:creationId xmlns:a16="http://schemas.microsoft.com/office/drawing/2014/main" id="{58937A5B-1D18-623E-6A48-536617413AA9}"/>
              </a:ext>
            </a:extLst>
          </p:cNvPr>
          <p:cNvSpPr>
            <a:spLocks noGrp="1"/>
          </p:cNvSpPr>
          <p:nvPr>
            <p:ph type="title"/>
          </p:nvPr>
        </p:nvSpPr>
        <p:spPr/>
        <p:txBody>
          <a:bodyPr/>
          <a:lstStyle/>
          <a:p>
            <a:r>
              <a:rPr lang="en-US" b="1" dirty="0"/>
              <a:t>Design</a:t>
            </a:r>
            <a:r>
              <a:rPr lang="en-US" dirty="0"/>
              <a:t> / Solution</a:t>
            </a:r>
          </a:p>
        </p:txBody>
      </p:sp>
      <p:sp>
        <p:nvSpPr>
          <p:cNvPr id="3" name="Content Placeholder 2">
            <a:extLst>
              <a:ext uri="{FF2B5EF4-FFF2-40B4-BE49-F238E27FC236}">
                <a16:creationId xmlns:a16="http://schemas.microsoft.com/office/drawing/2014/main" id="{01393777-B058-D83B-4F87-CBA704E0284E}"/>
              </a:ext>
            </a:extLst>
          </p:cNvPr>
          <p:cNvSpPr>
            <a:spLocks noGrp="1"/>
          </p:cNvSpPr>
          <p:nvPr>
            <p:ph idx="1"/>
          </p:nvPr>
        </p:nvSpPr>
        <p:spPr/>
        <p:txBody>
          <a:bodyPr/>
          <a:lstStyle/>
          <a:p>
            <a:r>
              <a:rPr lang="en-US" dirty="0"/>
              <a:t>Replace use of artificial dyes with natural dyes</a:t>
            </a:r>
          </a:p>
          <a:p>
            <a:r>
              <a:rPr lang="en-US" dirty="0"/>
              <a:t>Solve the problem using Artificial Intelligence (AI)</a:t>
            </a:r>
          </a:p>
          <a:p>
            <a:r>
              <a:rPr lang="en-US" dirty="0"/>
              <a:t>Control mass production using AI color detection</a:t>
            </a:r>
          </a:p>
          <a:p>
            <a:r>
              <a:rPr lang="en-US" dirty="0"/>
              <a:t>Maintain color consistency using AI color detection</a:t>
            </a:r>
          </a:p>
          <a:p>
            <a:r>
              <a:rPr lang="en-US" dirty="0"/>
              <a:t>By testing and improving natural dye methods, we aim to reduce chemical pollution from synthetic dyes and help protect underground layers where future archaeologists and paleontologists will work.</a:t>
            </a:r>
          </a:p>
          <a:p>
            <a:r>
              <a:rPr lang="en-US" dirty="0"/>
              <a:t> We used AI tools to look for patterns and recommend which recipes give the most consistent color. This helps make natural dyes more reliable and less expensive, so more people can use them instead of synthetic dyes.”</a:t>
            </a:r>
          </a:p>
          <a:p>
            <a:endParaRPr lang="en-US" dirty="0"/>
          </a:p>
        </p:txBody>
      </p:sp>
      <p:sp>
        <p:nvSpPr>
          <p:cNvPr id="6" name="Rectangle 5">
            <a:extLst>
              <a:ext uri="{FF2B5EF4-FFF2-40B4-BE49-F238E27FC236}">
                <a16:creationId xmlns:a16="http://schemas.microsoft.com/office/drawing/2014/main" id="{5CB4D86D-C4A2-5A74-905C-A259AD278813}"/>
              </a:ext>
            </a:extLst>
          </p:cNvPr>
          <p:cNvSpPr/>
          <p:nvPr/>
        </p:nvSpPr>
        <p:spPr>
          <a:xfrm rot="10089229">
            <a:off x="11491649" y="5045119"/>
            <a:ext cx="493776" cy="994581"/>
          </a:xfrm>
          <a:prstGeom prst="rect">
            <a:avLst/>
          </a:prstGeom>
          <a:noFill/>
          <a:ln w="317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F1EFBD0-7677-4200-5947-676CFF71335D}"/>
              </a:ext>
            </a:extLst>
          </p:cNvPr>
          <p:cNvSpPr txBox="1"/>
          <p:nvPr/>
        </p:nvSpPr>
        <p:spPr>
          <a:xfrm>
            <a:off x="11479697" y="9525"/>
            <a:ext cx="698362" cy="307777"/>
          </a:xfrm>
          <a:prstGeom prst="rect">
            <a:avLst/>
          </a:prstGeom>
          <a:noFill/>
        </p:spPr>
        <p:txBody>
          <a:bodyPr wrap="square" rtlCol="0">
            <a:spAutoFit/>
          </a:bodyPr>
          <a:lstStyle/>
          <a:p>
            <a:pPr algn="r"/>
            <a:r>
              <a:rPr lang="en-US" sz="1400" dirty="0"/>
              <a:t>Zoey</a:t>
            </a:r>
          </a:p>
        </p:txBody>
      </p:sp>
    </p:spTree>
    <p:extLst>
      <p:ext uri="{BB962C8B-B14F-4D97-AF65-F5344CB8AC3E}">
        <p14:creationId xmlns:p14="http://schemas.microsoft.com/office/powerpoint/2010/main" val="433323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359AD-0219-4A61-A16D-F5A527C9D95F}"/>
              </a:ext>
            </a:extLst>
          </p:cNvPr>
          <p:cNvSpPr>
            <a:spLocks noGrp="1"/>
          </p:cNvSpPr>
          <p:nvPr>
            <p:ph type="title"/>
          </p:nvPr>
        </p:nvSpPr>
        <p:spPr/>
        <p:txBody>
          <a:bodyPr>
            <a:normAutofit/>
          </a:bodyPr>
          <a:lstStyle/>
          <a:p>
            <a:r>
              <a:rPr lang="en-US" b="1" dirty="0"/>
              <a:t>Create </a:t>
            </a:r>
            <a:r>
              <a:rPr lang="en-US" dirty="0"/>
              <a:t>/ Summary</a:t>
            </a:r>
          </a:p>
        </p:txBody>
      </p:sp>
      <p:sp>
        <p:nvSpPr>
          <p:cNvPr id="3" name="Content Placeholder 2">
            <a:extLst>
              <a:ext uri="{FF2B5EF4-FFF2-40B4-BE49-F238E27FC236}">
                <a16:creationId xmlns:a16="http://schemas.microsoft.com/office/drawing/2014/main" id="{8D6C6946-801E-45D3-5F0E-0162F962156B}"/>
              </a:ext>
            </a:extLst>
          </p:cNvPr>
          <p:cNvSpPr>
            <a:spLocks noGrp="1"/>
          </p:cNvSpPr>
          <p:nvPr>
            <p:ph idx="1"/>
          </p:nvPr>
        </p:nvSpPr>
        <p:spPr>
          <a:xfrm>
            <a:off x="816864" y="1430135"/>
            <a:ext cx="10515600" cy="4351338"/>
          </a:xfrm>
        </p:spPr>
        <p:txBody>
          <a:bodyPr/>
          <a:lstStyle/>
          <a:p>
            <a:r>
              <a:rPr lang="en-US" dirty="0"/>
              <a:t>We researched about how different civilizations used natural dyes in their life style</a:t>
            </a:r>
          </a:p>
          <a:p>
            <a:r>
              <a:rPr lang="en-US" dirty="0"/>
              <a:t>Ancient civilizations used different methods to dye stuff such as</a:t>
            </a:r>
          </a:p>
          <a:p>
            <a:pPr lvl="1"/>
            <a:r>
              <a:rPr lang="en-US" dirty="0"/>
              <a:t>Boiling plants to turn them into dyes</a:t>
            </a:r>
          </a:p>
          <a:p>
            <a:pPr lvl="1"/>
            <a:r>
              <a:rPr lang="en-US" dirty="0"/>
              <a:t>Crushing the plants to make dyes</a:t>
            </a:r>
          </a:p>
          <a:p>
            <a:pPr lvl="1"/>
            <a:r>
              <a:rPr lang="en-US" dirty="0"/>
              <a:t>Rubbing the plants/rocks to turn them into dyes</a:t>
            </a:r>
          </a:p>
          <a:p>
            <a:endParaRPr lang="en-US" dirty="0"/>
          </a:p>
          <a:p>
            <a:endParaRPr lang="en-US" dirty="0"/>
          </a:p>
          <a:p>
            <a:endParaRPr lang="en-US" dirty="0"/>
          </a:p>
        </p:txBody>
      </p:sp>
      <p:pic>
        <p:nvPicPr>
          <p:cNvPr id="5" name="Picture 4">
            <a:extLst>
              <a:ext uri="{FF2B5EF4-FFF2-40B4-BE49-F238E27FC236}">
                <a16:creationId xmlns:a16="http://schemas.microsoft.com/office/drawing/2014/main" id="{505216FF-BDA1-7006-4A01-291E0E3EF14C}"/>
              </a:ext>
            </a:extLst>
          </p:cNvPr>
          <p:cNvPicPr>
            <a:picLocks noChangeAspect="1"/>
          </p:cNvPicPr>
          <p:nvPr/>
        </p:nvPicPr>
        <p:blipFill>
          <a:blip r:embed="rId3"/>
          <a:stretch>
            <a:fillRect/>
          </a:stretch>
        </p:blipFill>
        <p:spPr>
          <a:xfrm>
            <a:off x="9837650" y="4704947"/>
            <a:ext cx="2418358" cy="2153053"/>
          </a:xfrm>
          <a:prstGeom prst="rect">
            <a:avLst/>
          </a:prstGeom>
        </p:spPr>
      </p:pic>
      <p:sp>
        <p:nvSpPr>
          <p:cNvPr id="6" name="Rectangle 5">
            <a:extLst>
              <a:ext uri="{FF2B5EF4-FFF2-40B4-BE49-F238E27FC236}">
                <a16:creationId xmlns:a16="http://schemas.microsoft.com/office/drawing/2014/main" id="{AD684466-82A4-5A20-3858-E26D3DED1825}"/>
              </a:ext>
            </a:extLst>
          </p:cNvPr>
          <p:cNvSpPr/>
          <p:nvPr/>
        </p:nvSpPr>
        <p:spPr>
          <a:xfrm rot="14650361">
            <a:off x="11196297" y="5921833"/>
            <a:ext cx="493776" cy="994581"/>
          </a:xfrm>
          <a:prstGeom prst="rect">
            <a:avLst/>
          </a:prstGeom>
          <a:noFill/>
          <a:ln w="317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274CE8A-94BA-0F60-55CF-3BB0D047D456}"/>
              </a:ext>
            </a:extLst>
          </p:cNvPr>
          <p:cNvSpPr txBox="1"/>
          <p:nvPr/>
        </p:nvSpPr>
        <p:spPr>
          <a:xfrm>
            <a:off x="11569149" y="9525"/>
            <a:ext cx="608910" cy="307777"/>
          </a:xfrm>
          <a:prstGeom prst="rect">
            <a:avLst/>
          </a:prstGeom>
          <a:noFill/>
        </p:spPr>
        <p:txBody>
          <a:bodyPr wrap="square" rtlCol="0">
            <a:spAutoFit/>
          </a:bodyPr>
          <a:lstStyle/>
          <a:p>
            <a:pPr algn="r"/>
            <a:r>
              <a:rPr lang="en-US" sz="1400" dirty="0"/>
              <a:t>Zoey</a:t>
            </a:r>
          </a:p>
        </p:txBody>
      </p:sp>
      <p:pic>
        <p:nvPicPr>
          <p:cNvPr id="7" name="Content Placeholder 4">
            <a:extLst>
              <a:ext uri="{FF2B5EF4-FFF2-40B4-BE49-F238E27FC236}">
                <a16:creationId xmlns:a16="http://schemas.microsoft.com/office/drawing/2014/main" id="{7C2DCCC1-1712-310C-231E-4D3BEB1521EA}"/>
              </a:ext>
            </a:extLst>
          </p:cNvPr>
          <p:cNvPicPr>
            <a:picLocks noChangeAspect="1"/>
          </p:cNvPicPr>
          <p:nvPr/>
        </p:nvPicPr>
        <p:blipFill>
          <a:blip r:embed="rId4"/>
          <a:stretch>
            <a:fillRect/>
          </a:stretch>
        </p:blipFill>
        <p:spPr>
          <a:xfrm>
            <a:off x="1938162" y="3736540"/>
            <a:ext cx="3584448" cy="3121460"/>
          </a:xfrm>
          <a:prstGeom prst="rect">
            <a:avLst/>
          </a:prstGeom>
        </p:spPr>
      </p:pic>
    </p:spTree>
    <p:extLst>
      <p:ext uri="{BB962C8B-B14F-4D97-AF65-F5344CB8AC3E}">
        <p14:creationId xmlns:p14="http://schemas.microsoft.com/office/powerpoint/2010/main" val="41151171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2FF71-5FF3-ACBC-363C-A7CE047170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F6A710-E808-F060-8603-D3CFDDF3DAEF}"/>
              </a:ext>
            </a:extLst>
          </p:cNvPr>
          <p:cNvSpPr>
            <a:spLocks noGrp="1"/>
          </p:cNvSpPr>
          <p:nvPr>
            <p:ph type="title"/>
          </p:nvPr>
        </p:nvSpPr>
        <p:spPr/>
        <p:txBody>
          <a:bodyPr>
            <a:normAutofit/>
          </a:bodyPr>
          <a:lstStyle/>
          <a:p>
            <a:r>
              <a:rPr lang="en-US" b="1" dirty="0"/>
              <a:t>Create</a:t>
            </a:r>
            <a:r>
              <a:rPr lang="en-US" dirty="0"/>
              <a:t>/ Egyptian Civilization</a:t>
            </a:r>
          </a:p>
        </p:txBody>
      </p:sp>
      <p:sp>
        <p:nvSpPr>
          <p:cNvPr id="3" name="Content Placeholder 2">
            <a:extLst>
              <a:ext uri="{FF2B5EF4-FFF2-40B4-BE49-F238E27FC236}">
                <a16:creationId xmlns:a16="http://schemas.microsoft.com/office/drawing/2014/main" id="{0A58EBF1-7530-945B-8702-7D1C62167A72}"/>
              </a:ext>
            </a:extLst>
          </p:cNvPr>
          <p:cNvSpPr>
            <a:spLocks noGrp="1"/>
          </p:cNvSpPr>
          <p:nvPr>
            <p:ph idx="1"/>
          </p:nvPr>
        </p:nvSpPr>
        <p:spPr>
          <a:xfrm>
            <a:off x="677334" y="1510749"/>
            <a:ext cx="8596668" cy="4530614"/>
          </a:xfrm>
        </p:spPr>
        <p:txBody>
          <a:bodyPr/>
          <a:lstStyle/>
          <a:p>
            <a:r>
              <a:rPr lang="en-US" dirty="0"/>
              <a:t>Egyptian Archaeologists discovered ancient dye workshops (dye-houses) and analyzed substances to understand production of Egyptian blue from sand, copper and natron. </a:t>
            </a:r>
          </a:p>
          <a:p>
            <a:r>
              <a:rPr lang="en-US" dirty="0"/>
              <a:t>Egyptian women crushed lapis lazuli</a:t>
            </a:r>
          </a:p>
          <a:p>
            <a:r>
              <a:rPr lang="en-US" dirty="0"/>
              <a:t>Heating a mixture of crushed limestone, sand, and copper-bearing minerals like azurite or malachite to make a blue color</a:t>
            </a:r>
          </a:p>
          <a:p>
            <a:endParaRPr lang="en-US" dirty="0"/>
          </a:p>
          <a:p>
            <a:endParaRPr lang="en-US" dirty="0"/>
          </a:p>
        </p:txBody>
      </p:sp>
      <p:pic>
        <p:nvPicPr>
          <p:cNvPr id="6" name="Picture 5">
            <a:extLst>
              <a:ext uri="{FF2B5EF4-FFF2-40B4-BE49-F238E27FC236}">
                <a16:creationId xmlns:a16="http://schemas.microsoft.com/office/drawing/2014/main" id="{7F0110FD-AE2E-243A-3214-8A7884152C6B}"/>
              </a:ext>
            </a:extLst>
          </p:cNvPr>
          <p:cNvPicPr>
            <a:picLocks noChangeAspect="1"/>
          </p:cNvPicPr>
          <p:nvPr/>
        </p:nvPicPr>
        <p:blipFill>
          <a:blip r:embed="rId3"/>
          <a:stretch>
            <a:fillRect/>
          </a:stretch>
        </p:blipFill>
        <p:spPr>
          <a:xfrm>
            <a:off x="9773642" y="4704947"/>
            <a:ext cx="2418358" cy="2153053"/>
          </a:xfrm>
          <a:prstGeom prst="rect">
            <a:avLst/>
          </a:prstGeom>
        </p:spPr>
      </p:pic>
      <p:sp>
        <p:nvSpPr>
          <p:cNvPr id="8" name="Rectangle 7">
            <a:extLst>
              <a:ext uri="{FF2B5EF4-FFF2-40B4-BE49-F238E27FC236}">
                <a16:creationId xmlns:a16="http://schemas.microsoft.com/office/drawing/2014/main" id="{199A9338-486A-F014-4EB1-EE68012F28DF}"/>
              </a:ext>
            </a:extLst>
          </p:cNvPr>
          <p:cNvSpPr/>
          <p:nvPr/>
        </p:nvSpPr>
        <p:spPr>
          <a:xfrm rot="14650361">
            <a:off x="11196297" y="5921833"/>
            <a:ext cx="493776" cy="994581"/>
          </a:xfrm>
          <a:prstGeom prst="rect">
            <a:avLst/>
          </a:prstGeom>
          <a:noFill/>
          <a:ln w="317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97A7B1D1-43E8-C50A-43A2-70DD4F55A87F}"/>
              </a:ext>
            </a:extLst>
          </p:cNvPr>
          <p:cNvSpPr txBox="1"/>
          <p:nvPr/>
        </p:nvSpPr>
        <p:spPr>
          <a:xfrm>
            <a:off x="9912096" y="576072"/>
            <a:ext cx="1737360" cy="646331"/>
          </a:xfrm>
          <a:prstGeom prst="rect">
            <a:avLst/>
          </a:prstGeom>
          <a:noFill/>
          <a:ln w="25400">
            <a:solidFill>
              <a:schemeClr val="tx1"/>
            </a:solidFill>
          </a:ln>
        </p:spPr>
        <p:txBody>
          <a:bodyPr wrap="square" rtlCol="0">
            <a:spAutoFit/>
          </a:bodyPr>
          <a:lstStyle/>
          <a:p>
            <a:pPr algn="ctr"/>
            <a:r>
              <a:rPr lang="en-US" b="1" dirty="0"/>
              <a:t>Artificial Dye</a:t>
            </a:r>
          </a:p>
          <a:p>
            <a:pPr algn="ctr"/>
            <a:r>
              <a:rPr lang="en-US" dirty="0">
                <a:highlight>
                  <a:srgbClr val="00FFFF"/>
                </a:highlight>
              </a:rPr>
              <a:t>Blue 1</a:t>
            </a:r>
          </a:p>
        </p:txBody>
      </p:sp>
      <p:pic>
        <p:nvPicPr>
          <p:cNvPr id="1028" name="Picture 4" descr="FD&amp;C Blue 1 Alum Lake">
            <a:extLst>
              <a:ext uri="{FF2B5EF4-FFF2-40B4-BE49-F238E27FC236}">
                <a16:creationId xmlns:a16="http://schemas.microsoft.com/office/drawing/2014/main" id="{C0B96F18-150A-ED32-257E-C332C9AD47E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85102" y="4001294"/>
            <a:ext cx="2530411" cy="253041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F937E1B-4155-6B8C-4716-81C628518695}"/>
              </a:ext>
            </a:extLst>
          </p:cNvPr>
          <p:cNvSpPr txBox="1"/>
          <p:nvPr/>
        </p:nvSpPr>
        <p:spPr>
          <a:xfrm>
            <a:off x="11353801" y="9525"/>
            <a:ext cx="824258" cy="307777"/>
          </a:xfrm>
          <a:prstGeom prst="rect">
            <a:avLst/>
          </a:prstGeom>
          <a:noFill/>
        </p:spPr>
        <p:txBody>
          <a:bodyPr wrap="square" rtlCol="0">
            <a:spAutoFit/>
          </a:bodyPr>
          <a:lstStyle/>
          <a:p>
            <a:pPr algn="r"/>
            <a:r>
              <a:rPr lang="en-US" sz="1400" dirty="0"/>
              <a:t>Saanvi</a:t>
            </a:r>
          </a:p>
        </p:txBody>
      </p:sp>
      <p:pic>
        <p:nvPicPr>
          <p:cNvPr id="9" name="Picture 8">
            <a:extLst>
              <a:ext uri="{FF2B5EF4-FFF2-40B4-BE49-F238E27FC236}">
                <a16:creationId xmlns:a16="http://schemas.microsoft.com/office/drawing/2014/main" id="{0D5E4517-8C32-AE63-1D7C-0618AE6B4157}"/>
              </a:ext>
            </a:extLst>
          </p:cNvPr>
          <p:cNvPicPr>
            <a:picLocks noChangeAspect="1"/>
          </p:cNvPicPr>
          <p:nvPr/>
        </p:nvPicPr>
        <p:blipFill>
          <a:blip r:embed="rId5"/>
          <a:stretch>
            <a:fillRect/>
          </a:stretch>
        </p:blipFill>
        <p:spPr>
          <a:xfrm>
            <a:off x="1419430" y="3603908"/>
            <a:ext cx="2997135" cy="2815215"/>
          </a:xfrm>
          <a:prstGeom prst="rect">
            <a:avLst/>
          </a:prstGeom>
        </p:spPr>
      </p:pic>
    </p:spTree>
    <p:extLst>
      <p:ext uri="{BB962C8B-B14F-4D97-AF65-F5344CB8AC3E}">
        <p14:creationId xmlns:p14="http://schemas.microsoft.com/office/powerpoint/2010/main" val="13854902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657D4A-E573-8819-AA99-E8EF81613C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EA9565-E19F-0FDE-59FF-A9618698F67C}"/>
              </a:ext>
            </a:extLst>
          </p:cNvPr>
          <p:cNvSpPr>
            <a:spLocks noGrp="1"/>
          </p:cNvSpPr>
          <p:nvPr>
            <p:ph type="title"/>
          </p:nvPr>
        </p:nvSpPr>
        <p:spPr/>
        <p:txBody>
          <a:bodyPr>
            <a:normAutofit/>
          </a:bodyPr>
          <a:lstStyle/>
          <a:p>
            <a:r>
              <a:rPr lang="en-US" b="1" dirty="0"/>
              <a:t>Create</a:t>
            </a:r>
            <a:r>
              <a:rPr lang="en-US" dirty="0"/>
              <a:t>/ Indus River Valley Civilization</a:t>
            </a:r>
          </a:p>
        </p:txBody>
      </p:sp>
      <p:sp>
        <p:nvSpPr>
          <p:cNvPr id="3" name="Content Placeholder 2">
            <a:extLst>
              <a:ext uri="{FF2B5EF4-FFF2-40B4-BE49-F238E27FC236}">
                <a16:creationId xmlns:a16="http://schemas.microsoft.com/office/drawing/2014/main" id="{FB3E04F3-CBE7-2D31-9109-ADBFBAFA2F7B}"/>
              </a:ext>
            </a:extLst>
          </p:cNvPr>
          <p:cNvSpPr>
            <a:spLocks noGrp="1"/>
          </p:cNvSpPr>
          <p:nvPr>
            <p:ph idx="1"/>
          </p:nvPr>
        </p:nvSpPr>
        <p:spPr/>
        <p:txBody>
          <a:bodyPr/>
          <a:lstStyle/>
          <a:p>
            <a:r>
              <a:rPr lang="en-US" dirty="0"/>
              <a:t>Used turmeric to create yellow dye</a:t>
            </a:r>
          </a:p>
          <a:p>
            <a:pPr lvl="1"/>
            <a:r>
              <a:rPr lang="en-US" b="1" dirty="0"/>
              <a:t>Turmeric rhizomes</a:t>
            </a:r>
            <a:r>
              <a:rPr lang="en-US" dirty="0"/>
              <a:t> were dug up, cleaned, boiled, and dried and crushed the cleaned Turmeric</a:t>
            </a:r>
          </a:p>
          <a:p>
            <a:pPr lvl="1"/>
            <a:r>
              <a:rPr lang="en-US" dirty="0"/>
              <a:t>The fabric would then be </a:t>
            </a:r>
            <a:r>
              <a:rPr lang="en-US" b="1" dirty="0"/>
              <a:t>soaked in the dye bath</a:t>
            </a:r>
            <a:r>
              <a:rPr lang="en-US" dirty="0"/>
              <a:t>, allowing the color to absorb into the fibers</a:t>
            </a:r>
          </a:p>
        </p:txBody>
      </p:sp>
      <p:sp>
        <p:nvSpPr>
          <p:cNvPr id="4" name="TextBox 3">
            <a:extLst>
              <a:ext uri="{FF2B5EF4-FFF2-40B4-BE49-F238E27FC236}">
                <a16:creationId xmlns:a16="http://schemas.microsoft.com/office/drawing/2014/main" id="{515DC30C-67B0-8751-E36D-BDFC5CC14308}"/>
              </a:ext>
            </a:extLst>
          </p:cNvPr>
          <p:cNvSpPr txBox="1"/>
          <p:nvPr/>
        </p:nvSpPr>
        <p:spPr>
          <a:xfrm>
            <a:off x="9912096" y="576072"/>
            <a:ext cx="1737360" cy="646331"/>
          </a:xfrm>
          <a:prstGeom prst="rect">
            <a:avLst/>
          </a:prstGeom>
          <a:noFill/>
          <a:ln w="25400">
            <a:solidFill>
              <a:schemeClr val="tx1"/>
            </a:solidFill>
          </a:ln>
        </p:spPr>
        <p:txBody>
          <a:bodyPr wrap="square" rtlCol="0">
            <a:spAutoFit/>
          </a:bodyPr>
          <a:lstStyle/>
          <a:p>
            <a:pPr algn="ctr"/>
            <a:r>
              <a:rPr lang="en-US" b="1" dirty="0"/>
              <a:t>Artificial Dye</a:t>
            </a:r>
          </a:p>
          <a:p>
            <a:pPr algn="ctr"/>
            <a:r>
              <a:rPr lang="en-US" dirty="0">
                <a:highlight>
                  <a:srgbClr val="FFFF00"/>
                </a:highlight>
              </a:rPr>
              <a:t>Yellow 5</a:t>
            </a:r>
          </a:p>
        </p:txBody>
      </p:sp>
      <p:pic>
        <p:nvPicPr>
          <p:cNvPr id="5" name="Picture 4">
            <a:extLst>
              <a:ext uri="{FF2B5EF4-FFF2-40B4-BE49-F238E27FC236}">
                <a16:creationId xmlns:a16="http://schemas.microsoft.com/office/drawing/2014/main" id="{594EF5D9-A453-0A68-27C0-A1F89D86FC01}"/>
              </a:ext>
            </a:extLst>
          </p:cNvPr>
          <p:cNvPicPr>
            <a:picLocks noChangeAspect="1"/>
          </p:cNvPicPr>
          <p:nvPr/>
        </p:nvPicPr>
        <p:blipFill>
          <a:blip r:embed="rId3"/>
          <a:stretch>
            <a:fillRect/>
          </a:stretch>
        </p:blipFill>
        <p:spPr>
          <a:xfrm>
            <a:off x="9773642" y="4704947"/>
            <a:ext cx="2418358" cy="2153053"/>
          </a:xfrm>
          <a:prstGeom prst="rect">
            <a:avLst/>
          </a:prstGeom>
        </p:spPr>
      </p:pic>
      <p:sp>
        <p:nvSpPr>
          <p:cNvPr id="6" name="Rectangle 5">
            <a:extLst>
              <a:ext uri="{FF2B5EF4-FFF2-40B4-BE49-F238E27FC236}">
                <a16:creationId xmlns:a16="http://schemas.microsoft.com/office/drawing/2014/main" id="{D03ADAD3-E25C-FFAC-86B9-DCADDB9E3ADA}"/>
              </a:ext>
            </a:extLst>
          </p:cNvPr>
          <p:cNvSpPr/>
          <p:nvPr/>
        </p:nvSpPr>
        <p:spPr>
          <a:xfrm rot="14650361">
            <a:off x="11196297" y="5921833"/>
            <a:ext cx="493776" cy="994581"/>
          </a:xfrm>
          <a:prstGeom prst="rect">
            <a:avLst/>
          </a:prstGeom>
          <a:noFill/>
          <a:ln w="317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B00B2D5-6B4A-4253-56CF-E6DBA5410A68}"/>
              </a:ext>
            </a:extLst>
          </p:cNvPr>
          <p:cNvSpPr txBox="1"/>
          <p:nvPr/>
        </p:nvSpPr>
        <p:spPr>
          <a:xfrm>
            <a:off x="11353801" y="9525"/>
            <a:ext cx="824258" cy="307777"/>
          </a:xfrm>
          <a:prstGeom prst="rect">
            <a:avLst/>
          </a:prstGeom>
          <a:noFill/>
        </p:spPr>
        <p:txBody>
          <a:bodyPr wrap="square" rtlCol="0">
            <a:spAutoFit/>
          </a:bodyPr>
          <a:lstStyle/>
          <a:p>
            <a:pPr algn="r"/>
            <a:r>
              <a:rPr lang="en-US" sz="1400" dirty="0"/>
              <a:t>Saanvi</a:t>
            </a:r>
          </a:p>
        </p:txBody>
      </p:sp>
      <p:pic>
        <p:nvPicPr>
          <p:cNvPr id="9" name="Picture 8">
            <a:extLst>
              <a:ext uri="{FF2B5EF4-FFF2-40B4-BE49-F238E27FC236}">
                <a16:creationId xmlns:a16="http://schemas.microsoft.com/office/drawing/2014/main" id="{35443C77-4B0F-59E7-4E4D-D9BAFCA77221}"/>
              </a:ext>
            </a:extLst>
          </p:cNvPr>
          <p:cNvPicPr>
            <a:picLocks noChangeAspect="1"/>
          </p:cNvPicPr>
          <p:nvPr/>
        </p:nvPicPr>
        <p:blipFill>
          <a:blip r:embed="rId4"/>
          <a:stretch>
            <a:fillRect/>
          </a:stretch>
        </p:blipFill>
        <p:spPr>
          <a:xfrm>
            <a:off x="2789912" y="3746381"/>
            <a:ext cx="4252081" cy="2783737"/>
          </a:xfrm>
          <a:prstGeom prst="rect">
            <a:avLst/>
          </a:prstGeom>
        </p:spPr>
      </p:pic>
    </p:spTree>
    <p:extLst>
      <p:ext uri="{BB962C8B-B14F-4D97-AF65-F5344CB8AC3E}">
        <p14:creationId xmlns:p14="http://schemas.microsoft.com/office/powerpoint/2010/main" val="13573722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A49B2-24BD-925B-15BE-19466D6547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2E33BA-D91C-1E9F-A331-47C58004DD42}"/>
              </a:ext>
            </a:extLst>
          </p:cNvPr>
          <p:cNvSpPr>
            <a:spLocks noGrp="1"/>
          </p:cNvSpPr>
          <p:nvPr>
            <p:ph type="title"/>
          </p:nvPr>
        </p:nvSpPr>
        <p:spPr/>
        <p:txBody>
          <a:bodyPr>
            <a:normAutofit/>
          </a:bodyPr>
          <a:lstStyle/>
          <a:p>
            <a:r>
              <a:rPr lang="en-US" b="1" dirty="0"/>
              <a:t>Create</a:t>
            </a:r>
            <a:r>
              <a:rPr lang="en-US" dirty="0"/>
              <a:t>/ Chinese Civilization</a:t>
            </a:r>
          </a:p>
        </p:txBody>
      </p:sp>
      <p:sp>
        <p:nvSpPr>
          <p:cNvPr id="3" name="Content Placeholder 2">
            <a:extLst>
              <a:ext uri="{FF2B5EF4-FFF2-40B4-BE49-F238E27FC236}">
                <a16:creationId xmlns:a16="http://schemas.microsoft.com/office/drawing/2014/main" id="{C292B9F2-999C-B388-6041-84CE1CEB6738}"/>
              </a:ext>
            </a:extLst>
          </p:cNvPr>
          <p:cNvSpPr>
            <a:spLocks noGrp="1"/>
          </p:cNvSpPr>
          <p:nvPr>
            <p:ph idx="1"/>
          </p:nvPr>
        </p:nvSpPr>
        <p:spPr/>
        <p:txBody>
          <a:bodyPr/>
          <a:lstStyle/>
          <a:p>
            <a:r>
              <a:rPr lang="en-US" dirty="0"/>
              <a:t>Crushed matcha leaves to make green powder</a:t>
            </a:r>
          </a:p>
        </p:txBody>
      </p:sp>
      <p:pic>
        <p:nvPicPr>
          <p:cNvPr id="5" name="Picture 4">
            <a:extLst>
              <a:ext uri="{FF2B5EF4-FFF2-40B4-BE49-F238E27FC236}">
                <a16:creationId xmlns:a16="http://schemas.microsoft.com/office/drawing/2014/main" id="{95F02276-E34F-937A-D10F-12BAA0AA73D5}"/>
              </a:ext>
            </a:extLst>
          </p:cNvPr>
          <p:cNvPicPr>
            <a:picLocks noChangeAspect="1"/>
          </p:cNvPicPr>
          <p:nvPr/>
        </p:nvPicPr>
        <p:blipFill>
          <a:blip r:embed="rId3"/>
          <a:stretch>
            <a:fillRect/>
          </a:stretch>
        </p:blipFill>
        <p:spPr>
          <a:xfrm>
            <a:off x="9773642" y="4704947"/>
            <a:ext cx="2418358" cy="2153053"/>
          </a:xfrm>
          <a:prstGeom prst="rect">
            <a:avLst/>
          </a:prstGeom>
        </p:spPr>
      </p:pic>
      <p:sp>
        <p:nvSpPr>
          <p:cNvPr id="6" name="Rectangle 5">
            <a:extLst>
              <a:ext uri="{FF2B5EF4-FFF2-40B4-BE49-F238E27FC236}">
                <a16:creationId xmlns:a16="http://schemas.microsoft.com/office/drawing/2014/main" id="{89447B40-F09A-21E1-E2C2-9D8F150788E6}"/>
              </a:ext>
            </a:extLst>
          </p:cNvPr>
          <p:cNvSpPr/>
          <p:nvPr/>
        </p:nvSpPr>
        <p:spPr>
          <a:xfrm rot="14650361">
            <a:off x="11196297" y="5921833"/>
            <a:ext cx="493776" cy="994581"/>
          </a:xfrm>
          <a:prstGeom prst="rect">
            <a:avLst/>
          </a:prstGeom>
          <a:noFill/>
          <a:ln w="317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2479571-A6C0-9F84-4E73-77692F39ACF0}"/>
              </a:ext>
            </a:extLst>
          </p:cNvPr>
          <p:cNvSpPr txBox="1"/>
          <p:nvPr/>
        </p:nvSpPr>
        <p:spPr>
          <a:xfrm>
            <a:off x="9912096" y="576072"/>
            <a:ext cx="1737360" cy="646331"/>
          </a:xfrm>
          <a:prstGeom prst="rect">
            <a:avLst/>
          </a:prstGeom>
          <a:noFill/>
          <a:ln w="25400">
            <a:solidFill>
              <a:schemeClr val="tx1"/>
            </a:solidFill>
          </a:ln>
        </p:spPr>
        <p:txBody>
          <a:bodyPr wrap="square" rtlCol="0">
            <a:spAutoFit/>
          </a:bodyPr>
          <a:lstStyle/>
          <a:p>
            <a:pPr algn="ctr"/>
            <a:r>
              <a:rPr lang="en-US" b="1" dirty="0"/>
              <a:t>Artificial Dye</a:t>
            </a:r>
          </a:p>
          <a:p>
            <a:pPr algn="ctr"/>
            <a:r>
              <a:rPr lang="en-US" dirty="0">
                <a:highlight>
                  <a:srgbClr val="00FF00"/>
                </a:highlight>
              </a:rPr>
              <a:t>Green 3</a:t>
            </a:r>
          </a:p>
        </p:txBody>
      </p:sp>
      <p:sp>
        <p:nvSpPr>
          <p:cNvPr id="4" name="TextBox 3">
            <a:extLst>
              <a:ext uri="{FF2B5EF4-FFF2-40B4-BE49-F238E27FC236}">
                <a16:creationId xmlns:a16="http://schemas.microsoft.com/office/drawing/2014/main" id="{E4B2D0D5-A8F5-6441-B9D4-8B4A8BA6F27E}"/>
              </a:ext>
            </a:extLst>
          </p:cNvPr>
          <p:cNvSpPr txBox="1"/>
          <p:nvPr/>
        </p:nvSpPr>
        <p:spPr>
          <a:xfrm>
            <a:off x="11265409" y="9525"/>
            <a:ext cx="912650" cy="307777"/>
          </a:xfrm>
          <a:prstGeom prst="rect">
            <a:avLst/>
          </a:prstGeom>
          <a:noFill/>
        </p:spPr>
        <p:txBody>
          <a:bodyPr wrap="square" rtlCol="0">
            <a:spAutoFit/>
          </a:bodyPr>
          <a:lstStyle/>
          <a:p>
            <a:pPr algn="r"/>
            <a:r>
              <a:rPr lang="en-US" sz="1400" dirty="0"/>
              <a:t>Saumya</a:t>
            </a:r>
          </a:p>
        </p:txBody>
      </p:sp>
      <p:pic>
        <p:nvPicPr>
          <p:cNvPr id="9" name="Picture 8">
            <a:extLst>
              <a:ext uri="{FF2B5EF4-FFF2-40B4-BE49-F238E27FC236}">
                <a16:creationId xmlns:a16="http://schemas.microsoft.com/office/drawing/2014/main" id="{72BFBB69-1CE8-6897-DCAE-5ADA68E63308}"/>
              </a:ext>
            </a:extLst>
          </p:cNvPr>
          <p:cNvPicPr>
            <a:picLocks noChangeAspect="1"/>
          </p:cNvPicPr>
          <p:nvPr/>
        </p:nvPicPr>
        <p:blipFill>
          <a:blip r:embed="rId4"/>
          <a:stretch>
            <a:fillRect/>
          </a:stretch>
        </p:blipFill>
        <p:spPr>
          <a:xfrm>
            <a:off x="1440180" y="2748381"/>
            <a:ext cx="5287094" cy="3312209"/>
          </a:xfrm>
          <a:prstGeom prst="rect">
            <a:avLst/>
          </a:prstGeom>
        </p:spPr>
      </p:pic>
    </p:spTree>
    <p:extLst>
      <p:ext uri="{BB962C8B-B14F-4D97-AF65-F5344CB8AC3E}">
        <p14:creationId xmlns:p14="http://schemas.microsoft.com/office/powerpoint/2010/main" val="34956569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6B338-EE5C-DF32-C21A-76C2E332BA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355E19-876D-C276-0AEC-9E54BD99059C}"/>
              </a:ext>
            </a:extLst>
          </p:cNvPr>
          <p:cNvSpPr>
            <a:spLocks noGrp="1"/>
          </p:cNvSpPr>
          <p:nvPr>
            <p:ph type="title"/>
          </p:nvPr>
        </p:nvSpPr>
        <p:spPr/>
        <p:txBody>
          <a:bodyPr>
            <a:normAutofit/>
          </a:bodyPr>
          <a:lstStyle/>
          <a:p>
            <a:r>
              <a:rPr lang="en-US" b="1" dirty="0"/>
              <a:t>Create</a:t>
            </a:r>
            <a:r>
              <a:rPr lang="en-US" dirty="0"/>
              <a:t>/ Aztec &amp; Maya Civilization</a:t>
            </a:r>
          </a:p>
        </p:txBody>
      </p:sp>
      <p:sp>
        <p:nvSpPr>
          <p:cNvPr id="3" name="Content Placeholder 2">
            <a:extLst>
              <a:ext uri="{FF2B5EF4-FFF2-40B4-BE49-F238E27FC236}">
                <a16:creationId xmlns:a16="http://schemas.microsoft.com/office/drawing/2014/main" id="{E321A689-8533-F1DC-8A29-9B87B7D91440}"/>
              </a:ext>
            </a:extLst>
          </p:cNvPr>
          <p:cNvSpPr>
            <a:spLocks noGrp="1"/>
          </p:cNvSpPr>
          <p:nvPr>
            <p:ph idx="1"/>
          </p:nvPr>
        </p:nvSpPr>
        <p:spPr/>
        <p:txBody>
          <a:bodyPr/>
          <a:lstStyle/>
          <a:p>
            <a:r>
              <a:rPr lang="en-US" dirty="0"/>
              <a:t>In the Maya civilization they used cochineal insects and hematite to create a vibrant red color</a:t>
            </a:r>
          </a:p>
        </p:txBody>
      </p:sp>
      <p:pic>
        <p:nvPicPr>
          <p:cNvPr id="5" name="Picture 4">
            <a:extLst>
              <a:ext uri="{FF2B5EF4-FFF2-40B4-BE49-F238E27FC236}">
                <a16:creationId xmlns:a16="http://schemas.microsoft.com/office/drawing/2014/main" id="{8E258119-89A8-0CE5-E5D6-43D5BF86B167}"/>
              </a:ext>
            </a:extLst>
          </p:cNvPr>
          <p:cNvPicPr>
            <a:picLocks noChangeAspect="1"/>
          </p:cNvPicPr>
          <p:nvPr/>
        </p:nvPicPr>
        <p:blipFill>
          <a:blip r:embed="rId3"/>
          <a:stretch>
            <a:fillRect/>
          </a:stretch>
        </p:blipFill>
        <p:spPr>
          <a:xfrm>
            <a:off x="9773642" y="4704947"/>
            <a:ext cx="2418358" cy="2153053"/>
          </a:xfrm>
          <a:prstGeom prst="rect">
            <a:avLst/>
          </a:prstGeom>
        </p:spPr>
      </p:pic>
      <p:sp>
        <p:nvSpPr>
          <p:cNvPr id="6" name="Rectangle 5">
            <a:extLst>
              <a:ext uri="{FF2B5EF4-FFF2-40B4-BE49-F238E27FC236}">
                <a16:creationId xmlns:a16="http://schemas.microsoft.com/office/drawing/2014/main" id="{4E57C9B7-81FD-1CE3-38C6-030E9BDD8CB9}"/>
              </a:ext>
            </a:extLst>
          </p:cNvPr>
          <p:cNvSpPr/>
          <p:nvPr/>
        </p:nvSpPr>
        <p:spPr>
          <a:xfrm rot="14650361">
            <a:off x="11196297" y="5921833"/>
            <a:ext cx="493776" cy="994581"/>
          </a:xfrm>
          <a:prstGeom prst="rect">
            <a:avLst/>
          </a:prstGeom>
          <a:noFill/>
          <a:ln w="317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7B16AFF-7DAD-B81F-2612-B7326D38383F}"/>
              </a:ext>
            </a:extLst>
          </p:cNvPr>
          <p:cNvSpPr txBox="1"/>
          <p:nvPr/>
        </p:nvSpPr>
        <p:spPr>
          <a:xfrm>
            <a:off x="9912096" y="576072"/>
            <a:ext cx="1737360" cy="646331"/>
          </a:xfrm>
          <a:prstGeom prst="rect">
            <a:avLst/>
          </a:prstGeom>
          <a:noFill/>
          <a:ln w="25400">
            <a:solidFill>
              <a:schemeClr val="tx1"/>
            </a:solidFill>
          </a:ln>
        </p:spPr>
        <p:txBody>
          <a:bodyPr wrap="square" rtlCol="0">
            <a:spAutoFit/>
          </a:bodyPr>
          <a:lstStyle/>
          <a:p>
            <a:pPr algn="ctr"/>
            <a:r>
              <a:rPr lang="en-US" b="1" dirty="0"/>
              <a:t>Artificial Dye</a:t>
            </a:r>
          </a:p>
          <a:p>
            <a:pPr algn="ctr"/>
            <a:r>
              <a:rPr lang="en-US" dirty="0">
                <a:highlight>
                  <a:srgbClr val="FF0000"/>
                </a:highlight>
              </a:rPr>
              <a:t>Red 40</a:t>
            </a:r>
          </a:p>
        </p:txBody>
      </p:sp>
      <p:sp>
        <p:nvSpPr>
          <p:cNvPr id="4" name="TextBox 3">
            <a:extLst>
              <a:ext uri="{FF2B5EF4-FFF2-40B4-BE49-F238E27FC236}">
                <a16:creationId xmlns:a16="http://schemas.microsoft.com/office/drawing/2014/main" id="{9A811250-BAE5-9A19-8A19-5AD4F0B7CA71}"/>
              </a:ext>
            </a:extLst>
          </p:cNvPr>
          <p:cNvSpPr txBox="1"/>
          <p:nvPr/>
        </p:nvSpPr>
        <p:spPr>
          <a:xfrm>
            <a:off x="11353801" y="9525"/>
            <a:ext cx="824258" cy="307777"/>
          </a:xfrm>
          <a:prstGeom prst="rect">
            <a:avLst/>
          </a:prstGeom>
          <a:noFill/>
        </p:spPr>
        <p:txBody>
          <a:bodyPr wrap="square" rtlCol="0">
            <a:spAutoFit/>
          </a:bodyPr>
          <a:lstStyle/>
          <a:p>
            <a:pPr algn="r"/>
            <a:r>
              <a:rPr lang="en-US" sz="1400" dirty="0"/>
              <a:t>Saumya</a:t>
            </a:r>
          </a:p>
        </p:txBody>
      </p:sp>
      <p:pic>
        <p:nvPicPr>
          <p:cNvPr id="9" name="Picture 8">
            <a:extLst>
              <a:ext uri="{FF2B5EF4-FFF2-40B4-BE49-F238E27FC236}">
                <a16:creationId xmlns:a16="http://schemas.microsoft.com/office/drawing/2014/main" id="{668C725D-7D46-F60E-A015-9ABE51662FBB}"/>
              </a:ext>
            </a:extLst>
          </p:cNvPr>
          <p:cNvPicPr>
            <a:picLocks noChangeAspect="1"/>
          </p:cNvPicPr>
          <p:nvPr/>
        </p:nvPicPr>
        <p:blipFill>
          <a:blip r:embed="rId4"/>
          <a:stretch>
            <a:fillRect/>
          </a:stretch>
        </p:blipFill>
        <p:spPr>
          <a:xfrm>
            <a:off x="1439576" y="3090014"/>
            <a:ext cx="4390627" cy="2890233"/>
          </a:xfrm>
          <a:prstGeom prst="rect">
            <a:avLst/>
          </a:prstGeom>
        </p:spPr>
      </p:pic>
    </p:spTree>
    <p:extLst>
      <p:ext uri="{BB962C8B-B14F-4D97-AF65-F5344CB8AC3E}">
        <p14:creationId xmlns:p14="http://schemas.microsoft.com/office/powerpoint/2010/main" val="8087028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A057A-F055-3DC1-EEED-486AAA2D6C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F3E989-0B98-33C6-899F-C7AD207D2F40}"/>
              </a:ext>
            </a:extLst>
          </p:cNvPr>
          <p:cNvSpPr>
            <a:spLocks noGrp="1"/>
          </p:cNvSpPr>
          <p:nvPr>
            <p:ph type="title"/>
          </p:nvPr>
        </p:nvSpPr>
        <p:spPr/>
        <p:txBody>
          <a:bodyPr>
            <a:normAutofit/>
          </a:bodyPr>
          <a:lstStyle/>
          <a:p>
            <a:r>
              <a:rPr lang="en-US" b="1" dirty="0"/>
              <a:t>Create</a:t>
            </a:r>
            <a:r>
              <a:rPr lang="en-US" dirty="0"/>
              <a:t>/ Greece Civilization</a:t>
            </a:r>
          </a:p>
        </p:txBody>
      </p:sp>
      <p:sp>
        <p:nvSpPr>
          <p:cNvPr id="3" name="Content Placeholder 2">
            <a:extLst>
              <a:ext uri="{FF2B5EF4-FFF2-40B4-BE49-F238E27FC236}">
                <a16:creationId xmlns:a16="http://schemas.microsoft.com/office/drawing/2014/main" id="{A8361126-4FB4-FDDF-6353-D6FC8245D0E1}"/>
              </a:ext>
            </a:extLst>
          </p:cNvPr>
          <p:cNvSpPr>
            <a:spLocks noGrp="1"/>
          </p:cNvSpPr>
          <p:nvPr>
            <p:ph idx="1"/>
          </p:nvPr>
        </p:nvSpPr>
        <p:spPr/>
        <p:txBody>
          <a:bodyPr/>
          <a:lstStyle/>
          <a:p>
            <a:r>
              <a:rPr lang="en-US" dirty="0"/>
              <a:t>People in Greece the mucus glands of specific sea snails, primarily the spiny dye-murex (Murex </a:t>
            </a:r>
            <a:r>
              <a:rPr lang="en-US" dirty="0" err="1"/>
              <a:t>brandaris</a:t>
            </a:r>
            <a:r>
              <a:rPr lang="en-US" dirty="0"/>
              <a:t>) to a purple color</a:t>
            </a:r>
          </a:p>
          <a:p>
            <a:endParaRPr lang="en-US" dirty="0"/>
          </a:p>
        </p:txBody>
      </p:sp>
      <p:pic>
        <p:nvPicPr>
          <p:cNvPr id="5" name="Picture 4">
            <a:extLst>
              <a:ext uri="{FF2B5EF4-FFF2-40B4-BE49-F238E27FC236}">
                <a16:creationId xmlns:a16="http://schemas.microsoft.com/office/drawing/2014/main" id="{7059D971-7889-FDBC-ED42-639F15550F6F}"/>
              </a:ext>
            </a:extLst>
          </p:cNvPr>
          <p:cNvPicPr>
            <a:picLocks noChangeAspect="1"/>
          </p:cNvPicPr>
          <p:nvPr/>
        </p:nvPicPr>
        <p:blipFill>
          <a:blip r:embed="rId3"/>
          <a:stretch>
            <a:fillRect/>
          </a:stretch>
        </p:blipFill>
        <p:spPr>
          <a:xfrm>
            <a:off x="9773642" y="4704947"/>
            <a:ext cx="2418358" cy="2153053"/>
          </a:xfrm>
          <a:prstGeom prst="rect">
            <a:avLst/>
          </a:prstGeom>
        </p:spPr>
      </p:pic>
      <p:sp>
        <p:nvSpPr>
          <p:cNvPr id="6" name="Rectangle 5">
            <a:extLst>
              <a:ext uri="{FF2B5EF4-FFF2-40B4-BE49-F238E27FC236}">
                <a16:creationId xmlns:a16="http://schemas.microsoft.com/office/drawing/2014/main" id="{033BD36C-373D-51EC-E40A-A9E9CED9CF54}"/>
              </a:ext>
            </a:extLst>
          </p:cNvPr>
          <p:cNvSpPr/>
          <p:nvPr/>
        </p:nvSpPr>
        <p:spPr>
          <a:xfrm rot="14650361">
            <a:off x="11196297" y="5921833"/>
            <a:ext cx="493776" cy="994581"/>
          </a:xfrm>
          <a:prstGeom prst="rect">
            <a:avLst/>
          </a:prstGeom>
          <a:noFill/>
          <a:ln w="317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45C66CB7-93C0-0C31-3171-3A5DBCBE04DB}"/>
              </a:ext>
            </a:extLst>
          </p:cNvPr>
          <p:cNvSpPr txBox="1"/>
          <p:nvPr/>
        </p:nvSpPr>
        <p:spPr>
          <a:xfrm>
            <a:off x="9912095" y="576072"/>
            <a:ext cx="1800175" cy="646331"/>
          </a:xfrm>
          <a:prstGeom prst="rect">
            <a:avLst/>
          </a:prstGeom>
          <a:noFill/>
          <a:ln w="25400">
            <a:solidFill>
              <a:schemeClr val="tx1"/>
            </a:solidFill>
          </a:ln>
        </p:spPr>
        <p:txBody>
          <a:bodyPr wrap="square" rtlCol="0">
            <a:spAutoFit/>
          </a:bodyPr>
          <a:lstStyle/>
          <a:p>
            <a:pPr algn="ctr"/>
            <a:r>
              <a:rPr lang="en-US" b="1" dirty="0"/>
              <a:t>Artificial Dye</a:t>
            </a:r>
          </a:p>
          <a:p>
            <a:pPr algn="ctr"/>
            <a:r>
              <a:rPr lang="en-US" dirty="0">
                <a:highlight>
                  <a:srgbClr val="800080"/>
                </a:highlight>
              </a:rPr>
              <a:t>Reed 40+Blue 1</a:t>
            </a:r>
          </a:p>
        </p:txBody>
      </p:sp>
      <p:sp>
        <p:nvSpPr>
          <p:cNvPr id="4" name="TextBox 3">
            <a:extLst>
              <a:ext uri="{FF2B5EF4-FFF2-40B4-BE49-F238E27FC236}">
                <a16:creationId xmlns:a16="http://schemas.microsoft.com/office/drawing/2014/main" id="{AE0022F8-BF0C-27BD-BEC4-3DBE905BB82B}"/>
              </a:ext>
            </a:extLst>
          </p:cNvPr>
          <p:cNvSpPr txBox="1"/>
          <p:nvPr/>
        </p:nvSpPr>
        <p:spPr>
          <a:xfrm>
            <a:off x="11353801" y="9525"/>
            <a:ext cx="824258" cy="307777"/>
          </a:xfrm>
          <a:prstGeom prst="rect">
            <a:avLst/>
          </a:prstGeom>
          <a:noFill/>
        </p:spPr>
        <p:txBody>
          <a:bodyPr wrap="square" rtlCol="0">
            <a:spAutoFit/>
          </a:bodyPr>
          <a:lstStyle/>
          <a:p>
            <a:pPr algn="r"/>
            <a:r>
              <a:rPr lang="en-US" sz="1400" dirty="0"/>
              <a:t>Girisha</a:t>
            </a:r>
          </a:p>
        </p:txBody>
      </p:sp>
      <p:pic>
        <p:nvPicPr>
          <p:cNvPr id="9" name="Picture 8">
            <a:extLst>
              <a:ext uri="{FF2B5EF4-FFF2-40B4-BE49-F238E27FC236}">
                <a16:creationId xmlns:a16="http://schemas.microsoft.com/office/drawing/2014/main" id="{99130080-F91E-B9B0-DEDA-8AA6252F1DC9}"/>
              </a:ext>
            </a:extLst>
          </p:cNvPr>
          <p:cNvPicPr>
            <a:picLocks noChangeAspect="1"/>
          </p:cNvPicPr>
          <p:nvPr/>
        </p:nvPicPr>
        <p:blipFill>
          <a:blip r:embed="rId4"/>
          <a:stretch>
            <a:fillRect/>
          </a:stretch>
        </p:blipFill>
        <p:spPr>
          <a:xfrm>
            <a:off x="1728856" y="3273247"/>
            <a:ext cx="3529189" cy="2863399"/>
          </a:xfrm>
          <a:prstGeom prst="rect">
            <a:avLst/>
          </a:prstGeom>
        </p:spPr>
      </p:pic>
    </p:spTree>
    <p:extLst>
      <p:ext uri="{BB962C8B-B14F-4D97-AF65-F5344CB8AC3E}">
        <p14:creationId xmlns:p14="http://schemas.microsoft.com/office/powerpoint/2010/main" val="11787502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575A7-E03E-FF8C-8A33-2475C3689AE0}"/>
              </a:ext>
            </a:extLst>
          </p:cNvPr>
          <p:cNvSpPr>
            <a:spLocks noGrp="1"/>
          </p:cNvSpPr>
          <p:nvPr>
            <p:ph type="title"/>
          </p:nvPr>
        </p:nvSpPr>
        <p:spPr/>
        <p:txBody>
          <a:bodyPr/>
          <a:lstStyle/>
          <a:p>
            <a:r>
              <a:rPr lang="en-US" b="1" dirty="0"/>
              <a:t>Create</a:t>
            </a:r>
            <a:r>
              <a:rPr lang="en-US" dirty="0"/>
              <a:t>/ AI Model</a:t>
            </a:r>
          </a:p>
        </p:txBody>
      </p:sp>
      <p:sp>
        <p:nvSpPr>
          <p:cNvPr id="3" name="Content Placeholder 2">
            <a:extLst>
              <a:ext uri="{FF2B5EF4-FFF2-40B4-BE49-F238E27FC236}">
                <a16:creationId xmlns:a16="http://schemas.microsoft.com/office/drawing/2014/main" id="{34052893-6BD8-DC5B-C5AC-FC0AC9C992EA}"/>
              </a:ext>
            </a:extLst>
          </p:cNvPr>
          <p:cNvSpPr>
            <a:spLocks noGrp="1"/>
          </p:cNvSpPr>
          <p:nvPr>
            <p:ph idx="1"/>
          </p:nvPr>
        </p:nvSpPr>
        <p:spPr/>
        <p:txBody>
          <a:bodyPr/>
          <a:lstStyle/>
          <a:p>
            <a:r>
              <a:rPr lang="en-US" dirty="0"/>
              <a:t>Color detection</a:t>
            </a:r>
          </a:p>
        </p:txBody>
      </p:sp>
      <p:pic>
        <p:nvPicPr>
          <p:cNvPr id="4" name="Picture 3">
            <a:extLst>
              <a:ext uri="{FF2B5EF4-FFF2-40B4-BE49-F238E27FC236}">
                <a16:creationId xmlns:a16="http://schemas.microsoft.com/office/drawing/2014/main" id="{C9ECD615-8D93-C488-87F0-ED3E269D42AA}"/>
              </a:ext>
            </a:extLst>
          </p:cNvPr>
          <p:cNvPicPr>
            <a:picLocks noChangeAspect="1"/>
          </p:cNvPicPr>
          <p:nvPr/>
        </p:nvPicPr>
        <p:blipFill>
          <a:blip r:embed="rId3"/>
          <a:stretch>
            <a:fillRect/>
          </a:stretch>
        </p:blipFill>
        <p:spPr>
          <a:xfrm>
            <a:off x="9773642" y="4704947"/>
            <a:ext cx="2418358" cy="2153053"/>
          </a:xfrm>
          <a:prstGeom prst="rect">
            <a:avLst/>
          </a:prstGeom>
        </p:spPr>
      </p:pic>
      <p:sp>
        <p:nvSpPr>
          <p:cNvPr id="5" name="Rectangle 4">
            <a:extLst>
              <a:ext uri="{FF2B5EF4-FFF2-40B4-BE49-F238E27FC236}">
                <a16:creationId xmlns:a16="http://schemas.microsoft.com/office/drawing/2014/main" id="{488B1C20-E08B-9CF1-06C9-E48A52E3BEE2}"/>
              </a:ext>
            </a:extLst>
          </p:cNvPr>
          <p:cNvSpPr/>
          <p:nvPr/>
        </p:nvSpPr>
        <p:spPr>
          <a:xfrm rot="14650361">
            <a:off x="11196297" y="5921833"/>
            <a:ext cx="493776" cy="994581"/>
          </a:xfrm>
          <a:prstGeom prst="rect">
            <a:avLst/>
          </a:prstGeom>
          <a:noFill/>
          <a:ln w="317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7E05224-556E-621F-9FA2-DE9982B8275C}"/>
              </a:ext>
            </a:extLst>
          </p:cNvPr>
          <p:cNvSpPr/>
          <p:nvPr/>
        </p:nvSpPr>
        <p:spPr>
          <a:xfrm>
            <a:off x="3678277" y="3097392"/>
            <a:ext cx="1801368" cy="1115568"/>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EAFFECC4-54C4-CCE6-BD7E-6D5B02F71D25}"/>
              </a:ext>
            </a:extLst>
          </p:cNvPr>
          <p:cNvSpPr/>
          <p:nvPr/>
        </p:nvSpPr>
        <p:spPr>
          <a:xfrm>
            <a:off x="6733897" y="4651872"/>
            <a:ext cx="1801368" cy="11155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AI Model</a:t>
            </a:r>
          </a:p>
        </p:txBody>
      </p:sp>
      <p:sp>
        <p:nvSpPr>
          <p:cNvPr id="8" name="TextBox 7">
            <a:extLst>
              <a:ext uri="{FF2B5EF4-FFF2-40B4-BE49-F238E27FC236}">
                <a16:creationId xmlns:a16="http://schemas.microsoft.com/office/drawing/2014/main" id="{D2911394-8284-0C91-0C20-951539BF822D}"/>
              </a:ext>
            </a:extLst>
          </p:cNvPr>
          <p:cNvSpPr txBox="1"/>
          <p:nvPr/>
        </p:nvSpPr>
        <p:spPr>
          <a:xfrm>
            <a:off x="6601694" y="4282540"/>
            <a:ext cx="2946149" cy="369332"/>
          </a:xfrm>
          <a:prstGeom prst="rect">
            <a:avLst/>
          </a:prstGeom>
          <a:noFill/>
        </p:spPr>
        <p:txBody>
          <a:bodyPr wrap="square" rtlCol="0">
            <a:spAutoFit/>
          </a:bodyPr>
          <a:lstStyle/>
          <a:p>
            <a:r>
              <a:rPr lang="en-US" dirty="0"/>
              <a:t>ML4K AI Model</a:t>
            </a:r>
          </a:p>
        </p:txBody>
      </p:sp>
      <p:sp>
        <p:nvSpPr>
          <p:cNvPr id="9" name="TextBox 8">
            <a:extLst>
              <a:ext uri="{FF2B5EF4-FFF2-40B4-BE49-F238E27FC236}">
                <a16:creationId xmlns:a16="http://schemas.microsoft.com/office/drawing/2014/main" id="{34BB68BF-FC7A-3E85-91FC-DDB116E85B48}"/>
              </a:ext>
            </a:extLst>
          </p:cNvPr>
          <p:cNvSpPr txBox="1"/>
          <p:nvPr/>
        </p:nvSpPr>
        <p:spPr>
          <a:xfrm>
            <a:off x="3565134" y="2787496"/>
            <a:ext cx="1969596" cy="369332"/>
          </a:xfrm>
          <a:prstGeom prst="rect">
            <a:avLst/>
          </a:prstGeom>
          <a:noFill/>
        </p:spPr>
        <p:txBody>
          <a:bodyPr wrap="square" rtlCol="0">
            <a:spAutoFit/>
          </a:bodyPr>
          <a:lstStyle/>
          <a:p>
            <a:r>
              <a:rPr lang="en-US" dirty="0"/>
              <a:t>MIT App Inventor</a:t>
            </a:r>
          </a:p>
        </p:txBody>
      </p:sp>
      <p:cxnSp>
        <p:nvCxnSpPr>
          <p:cNvPr id="10" name="Straight Arrow Connector 9">
            <a:extLst>
              <a:ext uri="{FF2B5EF4-FFF2-40B4-BE49-F238E27FC236}">
                <a16:creationId xmlns:a16="http://schemas.microsoft.com/office/drawing/2014/main" id="{1F9AB206-212A-D075-C9BF-4F0BAA804FDE}"/>
              </a:ext>
            </a:extLst>
          </p:cNvPr>
          <p:cNvCxnSpPr>
            <a:cxnSpLocks/>
            <a:endCxn id="7" idx="1"/>
          </p:cNvCxnSpPr>
          <p:nvPr/>
        </p:nvCxnSpPr>
        <p:spPr>
          <a:xfrm>
            <a:off x="5479645" y="4179811"/>
            <a:ext cx="1254252" cy="1029845"/>
          </a:xfrm>
          <a:prstGeom prst="straightConnector1">
            <a:avLst/>
          </a:prstGeom>
          <a:ln w="22225">
            <a:solidFill>
              <a:schemeClr val="tx1"/>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920963DD-AD07-617F-BCB6-2D806D18F6A4}"/>
              </a:ext>
            </a:extLst>
          </p:cNvPr>
          <p:cNvCxnSpPr>
            <a:cxnSpLocks/>
            <a:stCxn id="6" idx="3"/>
          </p:cNvCxnSpPr>
          <p:nvPr/>
        </p:nvCxnSpPr>
        <p:spPr>
          <a:xfrm>
            <a:off x="5479645" y="3655176"/>
            <a:ext cx="1283136" cy="1020856"/>
          </a:xfrm>
          <a:prstGeom prst="straightConnector1">
            <a:avLst/>
          </a:prstGeom>
          <a:ln w="22225">
            <a:solidFill>
              <a:schemeClr val="tx1"/>
            </a:solidFill>
            <a:headEnd type="stealth" w="lg" len="lg"/>
            <a:tailEnd type="none" w="lg" len="lg"/>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8B7DD31C-9083-74A4-F58B-AAAA77E2FFE0}"/>
              </a:ext>
            </a:extLst>
          </p:cNvPr>
          <p:cNvSpPr txBox="1"/>
          <p:nvPr/>
        </p:nvSpPr>
        <p:spPr>
          <a:xfrm>
            <a:off x="2112910" y="6335697"/>
            <a:ext cx="4008303" cy="369332"/>
          </a:xfrm>
          <a:prstGeom prst="rect">
            <a:avLst/>
          </a:prstGeom>
          <a:noFill/>
        </p:spPr>
        <p:txBody>
          <a:bodyPr wrap="square" rtlCol="0">
            <a:spAutoFit/>
          </a:bodyPr>
          <a:lstStyle/>
          <a:p>
            <a:r>
              <a:rPr lang="en-US" dirty="0"/>
              <a:t>ML4K is Machine Learning for Kids</a:t>
            </a:r>
          </a:p>
        </p:txBody>
      </p:sp>
      <p:sp>
        <p:nvSpPr>
          <p:cNvPr id="13" name="Rectangle 12">
            <a:extLst>
              <a:ext uri="{FF2B5EF4-FFF2-40B4-BE49-F238E27FC236}">
                <a16:creationId xmlns:a16="http://schemas.microsoft.com/office/drawing/2014/main" id="{9B6F56B4-1194-D5DB-B60B-8B7D6BD1939B}"/>
              </a:ext>
            </a:extLst>
          </p:cNvPr>
          <p:cNvSpPr/>
          <p:nvPr/>
        </p:nvSpPr>
        <p:spPr>
          <a:xfrm>
            <a:off x="2287728" y="3188578"/>
            <a:ext cx="969484" cy="9083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Camera</a:t>
            </a:r>
          </a:p>
          <a:p>
            <a:pPr algn="ctr"/>
            <a:r>
              <a:rPr lang="en-US" sz="1400" dirty="0"/>
              <a:t>/</a:t>
            </a:r>
          </a:p>
          <a:p>
            <a:pPr algn="ctr"/>
            <a:r>
              <a:rPr lang="en-US" sz="1400" dirty="0"/>
              <a:t>Sensor</a:t>
            </a:r>
          </a:p>
        </p:txBody>
      </p:sp>
      <p:sp>
        <p:nvSpPr>
          <p:cNvPr id="14" name="Rectangle 13">
            <a:extLst>
              <a:ext uri="{FF2B5EF4-FFF2-40B4-BE49-F238E27FC236}">
                <a16:creationId xmlns:a16="http://schemas.microsoft.com/office/drawing/2014/main" id="{93B26CA9-87B1-1403-FCD6-8586C25472CD}"/>
              </a:ext>
            </a:extLst>
          </p:cNvPr>
          <p:cNvSpPr/>
          <p:nvPr/>
        </p:nvSpPr>
        <p:spPr>
          <a:xfrm>
            <a:off x="6733897" y="5767440"/>
            <a:ext cx="1801368" cy="6333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Training Data</a:t>
            </a:r>
          </a:p>
        </p:txBody>
      </p:sp>
      <p:cxnSp>
        <p:nvCxnSpPr>
          <p:cNvPr id="15" name="Straight Arrow Connector 14">
            <a:extLst>
              <a:ext uri="{FF2B5EF4-FFF2-40B4-BE49-F238E27FC236}">
                <a16:creationId xmlns:a16="http://schemas.microsoft.com/office/drawing/2014/main" id="{B828630E-F9A0-BAC8-B7D3-5D0F79385264}"/>
              </a:ext>
            </a:extLst>
          </p:cNvPr>
          <p:cNvCxnSpPr>
            <a:stCxn id="13" idx="3"/>
            <a:endCxn id="6" idx="1"/>
          </p:cNvCxnSpPr>
          <p:nvPr/>
        </p:nvCxnSpPr>
        <p:spPr>
          <a:xfrm>
            <a:off x="3257212" y="3642776"/>
            <a:ext cx="421065" cy="12400"/>
          </a:xfrm>
          <a:prstGeom prst="straightConnector1">
            <a:avLst/>
          </a:prstGeom>
          <a:ln w="22225">
            <a:solidFill>
              <a:schemeClr val="tx1"/>
            </a:solidFill>
            <a:headEnd w="lg" len="lg"/>
            <a:tailEnd type="triangle" w="lg" len="lg"/>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12FB96E1-9F60-F8FA-59A8-61C88AF6E0ED}"/>
              </a:ext>
            </a:extLst>
          </p:cNvPr>
          <p:cNvSpPr txBox="1"/>
          <p:nvPr/>
        </p:nvSpPr>
        <p:spPr>
          <a:xfrm>
            <a:off x="2287246" y="4117818"/>
            <a:ext cx="969485" cy="400110"/>
          </a:xfrm>
          <a:prstGeom prst="rect">
            <a:avLst/>
          </a:prstGeom>
          <a:noFill/>
        </p:spPr>
        <p:txBody>
          <a:bodyPr wrap="square" rtlCol="0">
            <a:spAutoFit/>
          </a:bodyPr>
          <a:lstStyle/>
          <a:p>
            <a:r>
              <a:rPr lang="en-US" sz="1000" dirty="0"/>
              <a:t>Android Phone</a:t>
            </a:r>
          </a:p>
          <a:p>
            <a:r>
              <a:rPr lang="en-US" sz="1000" dirty="0"/>
              <a:t>Laptop Camera</a:t>
            </a:r>
          </a:p>
        </p:txBody>
      </p:sp>
      <p:sp>
        <p:nvSpPr>
          <p:cNvPr id="17" name="Oval 16">
            <a:extLst>
              <a:ext uri="{FF2B5EF4-FFF2-40B4-BE49-F238E27FC236}">
                <a16:creationId xmlns:a16="http://schemas.microsoft.com/office/drawing/2014/main" id="{AB1DF032-846B-92D1-05FB-B6CB85FAFBF1}"/>
              </a:ext>
            </a:extLst>
          </p:cNvPr>
          <p:cNvSpPr/>
          <p:nvPr/>
        </p:nvSpPr>
        <p:spPr>
          <a:xfrm>
            <a:off x="701079" y="3284478"/>
            <a:ext cx="969484" cy="650494"/>
          </a:xfrm>
          <a:prstGeom prst="ellipse">
            <a:avLst/>
          </a:prstGeom>
          <a:solidFill>
            <a:schemeClr val="tx1"/>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200" dirty="0"/>
              <a:t>Sample</a:t>
            </a:r>
          </a:p>
        </p:txBody>
      </p:sp>
      <p:cxnSp>
        <p:nvCxnSpPr>
          <p:cNvPr id="18" name="Straight Arrow Connector 17">
            <a:extLst>
              <a:ext uri="{FF2B5EF4-FFF2-40B4-BE49-F238E27FC236}">
                <a16:creationId xmlns:a16="http://schemas.microsoft.com/office/drawing/2014/main" id="{7C0ACF8D-B085-FAE4-90A5-70EBB6329336}"/>
              </a:ext>
            </a:extLst>
          </p:cNvPr>
          <p:cNvCxnSpPr>
            <a:cxnSpLocks/>
            <a:stCxn id="17" idx="6"/>
            <a:endCxn id="13" idx="1"/>
          </p:cNvCxnSpPr>
          <p:nvPr/>
        </p:nvCxnSpPr>
        <p:spPr>
          <a:xfrm>
            <a:off x="1670563" y="3609725"/>
            <a:ext cx="617165" cy="33051"/>
          </a:xfrm>
          <a:prstGeom prst="straightConnector1">
            <a:avLst/>
          </a:prstGeom>
          <a:ln w="22225">
            <a:solidFill>
              <a:schemeClr val="tx1"/>
            </a:solidFill>
            <a:headEnd w="lg" len="lg"/>
            <a:tailEnd type="triangle" w="lg" len="lg"/>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364D66DE-659D-5290-76C3-FF14F10A37E2}"/>
              </a:ext>
            </a:extLst>
          </p:cNvPr>
          <p:cNvSpPr txBox="1"/>
          <p:nvPr/>
        </p:nvSpPr>
        <p:spPr>
          <a:xfrm>
            <a:off x="11430001" y="9525"/>
            <a:ext cx="748058" cy="307777"/>
          </a:xfrm>
          <a:prstGeom prst="rect">
            <a:avLst/>
          </a:prstGeom>
          <a:noFill/>
        </p:spPr>
        <p:txBody>
          <a:bodyPr wrap="square" rtlCol="0">
            <a:spAutoFit/>
          </a:bodyPr>
          <a:lstStyle/>
          <a:p>
            <a:pPr algn="r"/>
            <a:r>
              <a:rPr lang="en-US" sz="1400" dirty="0"/>
              <a:t>Girisha</a:t>
            </a:r>
          </a:p>
        </p:txBody>
      </p:sp>
    </p:spTree>
    <p:extLst>
      <p:ext uri="{BB962C8B-B14F-4D97-AF65-F5344CB8AC3E}">
        <p14:creationId xmlns:p14="http://schemas.microsoft.com/office/powerpoint/2010/main" val="4847535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A0C1C-77DA-E24A-3D8C-A4E8F896CA68}"/>
              </a:ext>
            </a:extLst>
          </p:cNvPr>
          <p:cNvSpPr>
            <a:spLocks noGrp="1"/>
          </p:cNvSpPr>
          <p:nvPr>
            <p:ph type="title"/>
          </p:nvPr>
        </p:nvSpPr>
        <p:spPr/>
        <p:txBody>
          <a:bodyPr/>
          <a:lstStyle/>
          <a:p>
            <a:r>
              <a:rPr lang="en-US" b="1" dirty="0"/>
              <a:t>Iterate</a:t>
            </a:r>
            <a:r>
              <a:rPr lang="en-US" dirty="0"/>
              <a:t>/ AI Model</a:t>
            </a:r>
          </a:p>
        </p:txBody>
      </p:sp>
      <p:sp>
        <p:nvSpPr>
          <p:cNvPr id="3" name="Content Placeholder 2">
            <a:extLst>
              <a:ext uri="{FF2B5EF4-FFF2-40B4-BE49-F238E27FC236}">
                <a16:creationId xmlns:a16="http://schemas.microsoft.com/office/drawing/2014/main" id="{C9DBE903-E5C2-DDC3-4EA0-A2903376230C}"/>
              </a:ext>
            </a:extLst>
          </p:cNvPr>
          <p:cNvSpPr>
            <a:spLocks noGrp="1"/>
          </p:cNvSpPr>
          <p:nvPr>
            <p:ph idx="1"/>
          </p:nvPr>
        </p:nvSpPr>
        <p:spPr/>
        <p:txBody>
          <a:bodyPr/>
          <a:lstStyle/>
          <a:p>
            <a:r>
              <a:rPr lang="en-US" dirty="0"/>
              <a:t>Trained the model</a:t>
            </a:r>
          </a:p>
          <a:p>
            <a:pPr lvl="1"/>
            <a:r>
              <a:rPr lang="en-US" dirty="0"/>
              <a:t> By giving it 10 or more samples for each color</a:t>
            </a:r>
          </a:p>
          <a:p>
            <a:r>
              <a:rPr lang="en-US" dirty="0"/>
              <a:t>Adjusted the model as we went on</a:t>
            </a:r>
          </a:p>
          <a:p>
            <a:pPr lvl="1"/>
            <a:r>
              <a:rPr lang="en-US" dirty="0"/>
              <a:t>Reviewed the results and trained the model further</a:t>
            </a:r>
          </a:p>
          <a:p>
            <a:endParaRPr lang="en-US" dirty="0"/>
          </a:p>
        </p:txBody>
      </p:sp>
      <p:pic>
        <p:nvPicPr>
          <p:cNvPr id="4" name="Picture 3">
            <a:extLst>
              <a:ext uri="{FF2B5EF4-FFF2-40B4-BE49-F238E27FC236}">
                <a16:creationId xmlns:a16="http://schemas.microsoft.com/office/drawing/2014/main" id="{01955568-F3AE-CF97-D3B1-23437155C047}"/>
              </a:ext>
            </a:extLst>
          </p:cNvPr>
          <p:cNvPicPr>
            <a:picLocks noChangeAspect="1"/>
          </p:cNvPicPr>
          <p:nvPr/>
        </p:nvPicPr>
        <p:blipFill>
          <a:blip r:embed="rId3"/>
          <a:stretch>
            <a:fillRect/>
          </a:stretch>
        </p:blipFill>
        <p:spPr>
          <a:xfrm>
            <a:off x="9773642" y="4704947"/>
            <a:ext cx="2418358" cy="2153053"/>
          </a:xfrm>
          <a:prstGeom prst="rect">
            <a:avLst/>
          </a:prstGeom>
        </p:spPr>
      </p:pic>
      <p:sp>
        <p:nvSpPr>
          <p:cNvPr id="5" name="Rectangle 4">
            <a:extLst>
              <a:ext uri="{FF2B5EF4-FFF2-40B4-BE49-F238E27FC236}">
                <a16:creationId xmlns:a16="http://schemas.microsoft.com/office/drawing/2014/main" id="{CCD1CAEB-D38F-253B-0F05-78CBF9857CF0}"/>
              </a:ext>
            </a:extLst>
          </p:cNvPr>
          <p:cNvSpPr/>
          <p:nvPr/>
        </p:nvSpPr>
        <p:spPr>
          <a:xfrm rot="18252979">
            <a:off x="10254288" y="5814608"/>
            <a:ext cx="493776" cy="994581"/>
          </a:xfrm>
          <a:prstGeom prst="rect">
            <a:avLst/>
          </a:prstGeom>
          <a:noFill/>
          <a:ln w="317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B24AF995-DBA9-26D7-930E-EC6D43868E11}"/>
              </a:ext>
            </a:extLst>
          </p:cNvPr>
          <p:cNvSpPr txBox="1"/>
          <p:nvPr/>
        </p:nvSpPr>
        <p:spPr>
          <a:xfrm>
            <a:off x="11654183" y="9525"/>
            <a:ext cx="523875" cy="276999"/>
          </a:xfrm>
          <a:prstGeom prst="rect">
            <a:avLst/>
          </a:prstGeom>
          <a:noFill/>
        </p:spPr>
        <p:txBody>
          <a:bodyPr wrap="square" rtlCol="0">
            <a:spAutoFit/>
          </a:bodyPr>
          <a:lstStyle/>
          <a:p>
            <a:pPr algn="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Riya</a:t>
            </a:r>
            <a:endParaRPr lang="en-US" sz="1400" dirty="0"/>
          </a:p>
        </p:txBody>
      </p:sp>
    </p:spTree>
    <p:extLst>
      <p:ext uri="{BB962C8B-B14F-4D97-AF65-F5344CB8AC3E}">
        <p14:creationId xmlns:p14="http://schemas.microsoft.com/office/powerpoint/2010/main" val="31655884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C09F5-AF71-8266-8D3E-17C4B2659BEB}"/>
              </a:ext>
            </a:extLst>
          </p:cNvPr>
          <p:cNvSpPr>
            <a:spLocks noGrp="1"/>
          </p:cNvSpPr>
          <p:nvPr>
            <p:ph type="title"/>
          </p:nvPr>
        </p:nvSpPr>
        <p:spPr/>
        <p:txBody>
          <a:bodyPr/>
          <a:lstStyle/>
          <a:p>
            <a:r>
              <a:rPr lang="en-US" b="1" dirty="0"/>
              <a:t>Communicate</a:t>
            </a:r>
          </a:p>
        </p:txBody>
      </p:sp>
      <p:sp>
        <p:nvSpPr>
          <p:cNvPr id="3" name="Content Placeholder 2">
            <a:extLst>
              <a:ext uri="{FF2B5EF4-FFF2-40B4-BE49-F238E27FC236}">
                <a16:creationId xmlns:a16="http://schemas.microsoft.com/office/drawing/2014/main" id="{2C0B09F1-7F89-AE78-4DC0-A332028BC202}"/>
              </a:ext>
            </a:extLst>
          </p:cNvPr>
          <p:cNvSpPr>
            <a:spLocks noGrp="1"/>
          </p:cNvSpPr>
          <p:nvPr>
            <p:ph idx="1"/>
          </p:nvPr>
        </p:nvSpPr>
        <p:spPr/>
        <p:txBody>
          <a:bodyPr/>
          <a:lstStyle/>
          <a:p>
            <a:r>
              <a:rPr lang="en-US" dirty="0"/>
              <a:t>Result, Learning and Outcome</a:t>
            </a:r>
          </a:p>
          <a:p>
            <a:pPr lvl="1"/>
            <a:r>
              <a:rPr lang="en-US" dirty="0"/>
              <a:t>Natural dyes are better for everyone’s health and the environment</a:t>
            </a:r>
          </a:p>
          <a:p>
            <a:pPr lvl="1"/>
            <a:r>
              <a:rPr lang="en-US" dirty="0"/>
              <a:t>AI can help to keep consistency with the manufacturing of the colors using natural resources or ingredients</a:t>
            </a:r>
          </a:p>
          <a:p>
            <a:pPr lvl="1"/>
            <a:r>
              <a:rPr lang="en-US" dirty="0"/>
              <a:t>Team is working on creating a Functional App to raise awareness</a:t>
            </a:r>
          </a:p>
          <a:p>
            <a:pPr lvl="1"/>
            <a:endParaRPr lang="en-US" dirty="0"/>
          </a:p>
          <a:p>
            <a:r>
              <a:rPr lang="en-US" dirty="0"/>
              <a:t>Recommendation (hand out samples) </a:t>
            </a:r>
          </a:p>
          <a:p>
            <a:pPr lvl="1"/>
            <a:r>
              <a:rPr lang="en-US" dirty="0"/>
              <a:t>Switch to start using natural dyes</a:t>
            </a:r>
          </a:p>
        </p:txBody>
      </p:sp>
      <p:pic>
        <p:nvPicPr>
          <p:cNvPr id="4" name="Picture 3">
            <a:extLst>
              <a:ext uri="{FF2B5EF4-FFF2-40B4-BE49-F238E27FC236}">
                <a16:creationId xmlns:a16="http://schemas.microsoft.com/office/drawing/2014/main" id="{129114F7-5359-53FF-001D-3BF437F60F76}"/>
              </a:ext>
            </a:extLst>
          </p:cNvPr>
          <p:cNvPicPr>
            <a:picLocks noChangeAspect="1"/>
          </p:cNvPicPr>
          <p:nvPr/>
        </p:nvPicPr>
        <p:blipFill>
          <a:blip r:embed="rId3"/>
          <a:stretch>
            <a:fillRect/>
          </a:stretch>
        </p:blipFill>
        <p:spPr>
          <a:xfrm>
            <a:off x="9773642" y="4704947"/>
            <a:ext cx="2418358" cy="2153053"/>
          </a:xfrm>
          <a:prstGeom prst="rect">
            <a:avLst/>
          </a:prstGeom>
        </p:spPr>
      </p:pic>
      <p:sp>
        <p:nvSpPr>
          <p:cNvPr id="5" name="Rectangle 4">
            <a:extLst>
              <a:ext uri="{FF2B5EF4-FFF2-40B4-BE49-F238E27FC236}">
                <a16:creationId xmlns:a16="http://schemas.microsoft.com/office/drawing/2014/main" id="{C48310FE-A76F-FED1-0967-7DEBB2B71440}"/>
              </a:ext>
            </a:extLst>
          </p:cNvPr>
          <p:cNvSpPr/>
          <p:nvPr/>
        </p:nvSpPr>
        <p:spPr>
          <a:xfrm rot="1524279">
            <a:off x="10034833" y="4939153"/>
            <a:ext cx="493776" cy="994581"/>
          </a:xfrm>
          <a:prstGeom prst="rect">
            <a:avLst/>
          </a:prstGeom>
          <a:noFill/>
          <a:ln w="317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A056B6F-6177-C561-635A-DE0F5A86D997}"/>
              </a:ext>
            </a:extLst>
          </p:cNvPr>
          <p:cNvSpPr txBox="1"/>
          <p:nvPr/>
        </p:nvSpPr>
        <p:spPr>
          <a:xfrm>
            <a:off x="11654183" y="9525"/>
            <a:ext cx="523875" cy="307777"/>
          </a:xfrm>
          <a:prstGeom prst="rect">
            <a:avLst/>
          </a:prstGeom>
          <a:noFill/>
        </p:spPr>
        <p:txBody>
          <a:bodyPr wrap="square" rtlCol="0">
            <a:spAutoFit/>
          </a:bodyPr>
          <a:lstStyle/>
          <a:p>
            <a:pPr algn="r"/>
            <a:r>
              <a:rPr lang="en-US" sz="1400" dirty="0"/>
              <a:t>Riya</a:t>
            </a:r>
          </a:p>
        </p:txBody>
      </p:sp>
    </p:spTree>
    <p:extLst>
      <p:ext uri="{BB962C8B-B14F-4D97-AF65-F5344CB8AC3E}">
        <p14:creationId xmlns:p14="http://schemas.microsoft.com/office/powerpoint/2010/main" val="7072820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9F1516-B9E3-49F5-790A-A2427C605ECC}"/>
              </a:ext>
            </a:extLst>
          </p:cNvPr>
          <p:cNvSpPr>
            <a:spLocks noGrp="1"/>
          </p:cNvSpPr>
          <p:nvPr>
            <p:ph type="ctrTitle"/>
          </p:nvPr>
        </p:nvSpPr>
        <p:spPr/>
        <p:txBody>
          <a:bodyPr/>
          <a:lstStyle/>
          <a:p>
            <a:r>
              <a:rPr lang="en-US" dirty="0"/>
              <a:t>Thank you!</a:t>
            </a:r>
          </a:p>
        </p:txBody>
      </p:sp>
      <p:sp>
        <p:nvSpPr>
          <p:cNvPr id="3" name="TextBox 2">
            <a:extLst>
              <a:ext uri="{FF2B5EF4-FFF2-40B4-BE49-F238E27FC236}">
                <a16:creationId xmlns:a16="http://schemas.microsoft.com/office/drawing/2014/main" id="{CCD6555E-04CB-559A-A3E5-C028AA8BDF6B}"/>
              </a:ext>
            </a:extLst>
          </p:cNvPr>
          <p:cNvSpPr txBox="1"/>
          <p:nvPr/>
        </p:nvSpPr>
        <p:spPr>
          <a:xfrm>
            <a:off x="11654183" y="9525"/>
            <a:ext cx="523875" cy="307777"/>
          </a:xfrm>
          <a:prstGeom prst="rect">
            <a:avLst/>
          </a:prstGeom>
          <a:noFill/>
        </p:spPr>
        <p:txBody>
          <a:bodyPr wrap="square" rtlCol="0">
            <a:spAutoFit/>
          </a:bodyPr>
          <a:lstStyle/>
          <a:p>
            <a:pPr algn="r"/>
            <a:r>
              <a:rPr lang="en-US" sz="1400" dirty="0"/>
              <a:t>Riya</a:t>
            </a:r>
          </a:p>
        </p:txBody>
      </p:sp>
      <p:pic>
        <p:nvPicPr>
          <p:cNvPr id="6" name="Picture 5">
            <a:extLst>
              <a:ext uri="{FF2B5EF4-FFF2-40B4-BE49-F238E27FC236}">
                <a16:creationId xmlns:a16="http://schemas.microsoft.com/office/drawing/2014/main" id="{E5DD5846-ECE7-825A-4B55-A3C828546FF7}"/>
              </a:ext>
            </a:extLst>
          </p:cNvPr>
          <p:cNvPicPr>
            <a:picLocks noChangeAspect="1"/>
          </p:cNvPicPr>
          <p:nvPr/>
        </p:nvPicPr>
        <p:blipFill>
          <a:blip r:embed="rId3"/>
          <a:srcRect b="47337"/>
          <a:stretch>
            <a:fillRect/>
          </a:stretch>
        </p:blipFill>
        <p:spPr>
          <a:xfrm>
            <a:off x="9006840" y="5735637"/>
            <a:ext cx="3028343" cy="691924"/>
          </a:xfrm>
          <a:prstGeom prst="rect">
            <a:avLst/>
          </a:prstGeom>
        </p:spPr>
      </p:pic>
      <p:pic>
        <p:nvPicPr>
          <p:cNvPr id="8" name="Picture 2" descr="FIRST LEGO League seizoen 2025-2026 | Beleef je Beroep">
            <a:extLst>
              <a:ext uri="{FF2B5EF4-FFF2-40B4-BE49-F238E27FC236}">
                <a16:creationId xmlns:a16="http://schemas.microsoft.com/office/drawing/2014/main" id="{C015F4A7-5256-DF88-7287-756DDAD8053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8383" r="46643" b="15440"/>
          <a:stretch>
            <a:fillRect/>
          </a:stretch>
        </p:blipFill>
        <p:spPr bwMode="auto">
          <a:xfrm>
            <a:off x="306215" y="5257800"/>
            <a:ext cx="1454385" cy="13897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3288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5F471E7-6DD3-F741-4D94-A47532469A71}"/>
              </a:ext>
            </a:extLst>
          </p:cNvPr>
          <p:cNvPicPr>
            <a:picLocks noChangeAspect="1"/>
          </p:cNvPicPr>
          <p:nvPr/>
        </p:nvPicPr>
        <p:blipFill>
          <a:blip r:embed="rId2"/>
          <a:stretch>
            <a:fillRect/>
          </a:stretch>
        </p:blipFill>
        <p:spPr>
          <a:xfrm>
            <a:off x="0" y="1025581"/>
            <a:ext cx="12192000" cy="4806838"/>
          </a:xfrm>
          <a:prstGeom prst="rect">
            <a:avLst/>
          </a:prstGeom>
        </p:spPr>
      </p:pic>
    </p:spTree>
    <p:extLst>
      <p:ext uri="{BB962C8B-B14F-4D97-AF65-F5344CB8AC3E}">
        <p14:creationId xmlns:p14="http://schemas.microsoft.com/office/powerpoint/2010/main" val="25440816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9674F-65CE-C57B-8504-2EE694BA9917}"/>
              </a:ext>
            </a:extLst>
          </p:cNvPr>
          <p:cNvSpPr>
            <a:spLocks noGrp="1"/>
          </p:cNvSpPr>
          <p:nvPr>
            <p:ph type="title"/>
          </p:nvPr>
        </p:nvSpPr>
        <p:spPr>
          <a:xfrm>
            <a:off x="838200" y="1103889"/>
            <a:ext cx="10515600" cy="1325563"/>
          </a:xfrm>
        </p:spPr>
        <p:txBody>
          <a:bodyPr>
            <a:normAutofit/>
          </a:bodyPr>
          <a:lstStyle/>
          <a:p>
            <a:r>
              <a:rPr lang="en-US" sz="2800" dirty="0"/>
              <a:t>Civilizations Researched</a:t>
            </a:r>
          </a:p>
        </p:txBody>
      </p:sp>
      <p:pic>
        <p:nvPicPr>
          <p:cNvPr id="5" name="Content Placeholder 4">
            <a:extLst>
              <a:ext uri="{FF2B5EF4-FFF2-40B4-BE49-F238E27FC236}">
                <a16:creationId xmlns:a16="http://schemas.microsoft.com/office/drawing/2014/main" id="{0BEB83BA-713B-4B5A-CBEE-76DE759DBCFF}"/>
              </a:ext>
            </a:extLst>
          </p:cNvPr>
          <p:cNvPicPr>
            <a:picLocks noGrp="1" noChangeAspect="1"/>
          </p:cNvPicPr>
          <p:nvPr>
            <p:ph idx="1"/>
          </p:nvPr>
        </p:nvPicPr>
        <p:blipFill>
          <a:blip r:embed="rId2"/>
          <a:stretch>
            <a:fillRect/>
          </a:stretch>
        </p:blipFill>
        <p:spPr>
          <a:xfrm>
            <a:off x="2961200" y="2305593"/>
            <a:ext cx="4029637" cy="3591426"/>
          </a:xfrm>
          <a:prstGeom prst="rect">
            <a:avLst/>
          </a:prstGeom>
        </p:spPr>
      </p:pic>
      <p:sp>
        <p:nvSpPr>
          <p:cNvPr id="7" name="Title 1">
            <a:extLst>
              <a:ext uri="{FF2B5EF4-FFF2-40B4-BE49-F238E27FC236}">
                <a16:creationId xmlns:a16="http://schemas.microsoft.com/office/drawing/2014/main" id="{3B46F890-7E7E-4692-FB79-F1B7B8BC1433}"/>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Create </a:t>
            </a:r>
            <a:r>
              <a:rPr lang="en-US"/>
              <a:t>/ Summary</a:t>
            </a:r>
            <a:endParaRPr lang="en-US" dirty="0"/>
          </a:p>
        </p:txBody>
      </p:sp>
    </p:spTree>
    <p:extLst>
      <p:ext uri="{BB962C8B-B14F-4D97-AF65-F5344CB8AC3E}">
        <p14:creationId xmlns:p14="http://schemas.microsoft.com/office/powerpoint/2010/main" val="203443717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5388</TotalTime>
  <Words>710</Words>
  <Application>Microsoft Office PowerPoint</Application>
  <PresentationFormat>Widescreen</PresentationFormat>
  <Paragraphs>130</Paragraphs>
  <Slides>17</Slides>
  <Notes>14</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Trebuchet MS</vt:lpstr>
      <vt:lpstr>Wingdings 3</vt:lpstr>
      <vt:lpstr>Facet</vt:lpstr>
      <vt:lpstr>Unearthed  Innovation Project</vt:lpstr>
      <vt:lpstr>Identify / Problem Selection</vt:lpstr>
      <vt:lpstr>Identify / Problem Details</vt:lpstr>
      <vt:lpstr>Identify / Problem Details</vt:lpstr>
      <vt:lpstr>Design / Solution</vt:lpstr>
      <vt:lpstr>Create / Summary</vt:lpstr>
      <vt:lpstr>Create/ Egyptian Civilization</vt:lpstr>
      <vt:lpstr>Create/ Indus River Valley Civilization</vt:lpstr>
      <vt:lpstr>Create/ Chinese Civilization</vt:lpstr>
      <vt:lpstr>Create/ Aztec &amp; Maya Civilization</vt:lpstr>
      <vt:lpstr>Create/ Greece Civilization</vt:lpstr>
      <vt:lpstr>Create/ AI Model</vt:lpstr>
      <vt:lpstr>Iterate/ AI Model</vt:lpstr>
      <vt:lpstr>Communicate</vt:lpstr>
      <vt:lpstr>Thank you!</vt:lpstr>
      <vt:lpstr>PowerPoint Presentation</vt:lpstr>
      <vt:lpstr>Civilizations Researched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vikas loomba</dc:creator>
  <cp:lastModifiedBy>vikas loomba</cp:lastModifiedBy>
  <cp:revision>73</cp:revision>
  <dcterms:created xsi:type="dcterms:W3CDTF">2025-10-11T21:23:57Z</dcterms:created>
  <dcterms:modified xsi:type="dcterms:W3CDTF">2025-12-18T00:24:24Z</dcterms:modified>
</cp:coreProperties>
</file>