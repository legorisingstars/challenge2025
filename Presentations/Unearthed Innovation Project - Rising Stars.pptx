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7" r:id="rId1"/>
  </p:sldMasterIdLst>
  <p:notesMasterIdLst>
    <p:notesMasterId r:id="rId19"/>
  </p:notesMasterIdLst>
  <p:sldIdLst>
    <p:sldId id="256" r:id="rId2"/>
    <p:sldId id="270" r:id="rId3"/>
    <p:sldId id="257" r:id="rId4"/>
    <p:sldId id="273" r:id="rId5"/>
    <p:sldId id="259" r:id="rId6"/>
    <p:sldId id="258" r:id="rId7"/>
    <p:sldId id="262" r:id="rId8"/>
    <p:sldId id="263" r:id="rId9"/>
    <p:sldId id="264" r:id="rId10"/>
    <p:sldId id="266" r:id="rId11"/>
    <p:sldId id="265" r:id="rId12"/>
    <p:sldId id="261" r:id="rId13"/>
    <p:sldId id="267" r:id="rId14"/>
    <p:sldId id="268" r:id="rId15"/>
    <p:sldId id="269" r:id="rId16"/>
    <p:sldId id="271" r:id="rId17"/>
    <p:sldId id="27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vikas loomba" initials="vl" lastIdx="1" clrIdx="0">
    <p:extLst>
      <p:ext uri="{19B8F6BF-5375-455C-9EA6-DF929625EA0E}">
        <p15:presenceInfo xmlns:p15="http://schemas.microsoft.com/office/powerpoint/2012/main" userId="f63a4a0c17b82d16"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25" autoAdjust="0"/>
    <p:restoredTop sz="96794" autoAdjust="0"/>
  </p:normalViewPr>
  <p:slideViewPr>
    <p:cSldViewPr snapToGrid="0">
      <p:cViewPr varScale="1">
        <p:scale>
          <a:sx n="120" d="100"/>
          <a:sy n="120" d="100"/>
        </p:scale>
        <p:origin x="114" y="312"/>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8FD63A-F8FC-4A0C-8540-00C7AED4F48E}" type="datetimeFigureOut">
              <a:rPr lang="en-US" smtClean="0"/>
              <a:t>12/12/2025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4228F8-FB73-46B0-A250-E6C5C0B176A9}" type="slidenum">
              <a:rPr lang="en-US" smtClean="0"/>
              <a:t>‹#›</a:t>
            </a:fld>
            <a:endParaRPr lang="en-US"/>
          </a:p>
        </p:txBody>
      </p:sp>
    </p:spTree>
    <p:extLst>
      <p:ext uri="{BB962C8B-B14F-4D97-AF65-F5344CB8AC3E}">
        <p14:creationId xmlns:p14="http://schemas.microsoft.com/office/powerpoint/2010/main" val="10346421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Riona</a:t>
            </a:r>
          </a:p>
        </p:txBody>
      </p:sp>
      <p:sp>
        <p:nvSpPr>
          <p:cNvPr id="4" name="Slide Number Placeholder 3"/>
          <p:cNvSpPr>
            <a:spLocks noGrp="1"/>
          </p:cNvSpPr>
          <p:nvPr>
            <p:ph type="sldNum" sz="quarter" idx="5"/>
          </p:nvPr>
        </p:nvSpPr>
        <p:spPr/>
        <p:txBody>
          <a:bodyPr/>
          <a:lstStyle/>
          <a:p>
            <a:fld id="{2F4228F8-FB73-46B0-A250-E6C5C0B176A9}" type="slidenum">
              <a:rPr lang="en-US" smtClean="0"/>
              <a:t>1</a:t>
            </a:fld>
            <a:endParaRPr lang="en-US"/>
          </a:p>
        </p:txBody>
      </p:sp>
    </p:spTree>
    <p:extLst>
      <p:ext uri="{BB962C8B-B14F-4D97-AF65-F5344CB8AC3E}">
        <p14:creationId xmlns:p14="http://schemas.microsoft.com/office/powerpoint/2010/main" val="3719279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Riona</a:t>
            </a:r>
          </a:p>
        </p:txBody>
      </p:sp>
      <p:sp>
        <p:nvSpPr>
          <p:cNvPr id="4" name="Slide Number Placeholder 3"/>
          <p:cNvSpPr>
            <a:spLocks noGrp="1"/>
          </p:cNvSpPr>
          <p:nvPr>
            <p:ph type="sldNum" sz="quarter" idx="5"/>
          </p:nvPr>
        </p:nvSpPr>
        <p:spPr/>
        <p:txBody>
          <a:bodyPr/>
          <a:lstStyle/>
          <a:p>
            <a:fld id="{2F4228F8-FB73-46B0-A250-E6C5C0B176A9}" type="slidenum">
              <a:rPr lang="en-US" smtClean="0"/>
              <a:t>2</a:t>
            </a:fld>
            <a:endParaRPr lang="en-US"/>
          </a:p>
        </p:txBody>
      </p:sp>
    </p:spTree>
    <p:extLst>
      <p:ext uri="{BB962C8B-B14F-4D97-AF65-F5344CB8AC3E}">
        <p14:creationId xmlns:p14="http://schemas.microsoft.com/office/powerpoint/2010/main" val="12484252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Shaivi</a:t>
            </a:r>
          </a:p>
        </p:txBody>
      </p:sp>
      <p:sp>
        <p:nvSpPr>
          <p:cNvPr id="4" name="Slide Number Placeholder 3"/>
          <p:cNvSpPr>
            <a:spLocks noGrp="1"/>
          </p:cNvSpPr>
          <p:nvPr>
            <p:ph type="sldNum" sz="quarter" idx="5"/>
          </p:nvPr>
        </p:nvSpPr>
        <p:spPr/>
        <p:txBody>
          <a:bodyPr/>
          <a:lstStyle/>
          <a:p>
            <a:fld id="{2F4228F8-FB73-46B0-A250-E6C5C0B176A9}" type="slidenum">
              <a:rPr lang="en-US" smtClean="0"/>
              <a:t>3</a:t>
            </a:fld>
            <a:endParaRPr lang="en-US"/>
          </a:p>
        </p:txBody>
      </p:sp>
    </p:spTree>
    <p:extLst>
      <p:ext uri="{BB962C8B-B14F-4D97-AF65-F5344CB8AC3E}">
        <p14:creationId xmlns:p14="http://schemas.microsoft.com/office/powerpoint/2010/main" val="13901926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Shaivi</a:t>
            </a:r>
          </a:p>
        </p:txBody>
      </p:sp>
      <p:sp>
        <p:nvSpPr>
          <p:cNvPr id="4" name="Slide Number Placeholder 3"/>
          <p:cNvSpPr>
            <a:spLocks noGrp="1"/>
          </p:cNvSpPr>
          <p:nvPr>
            <p:ph type="sldNum" sz="quarter" idx="5"/>
          </p:nvPr>
        </p:nvSpPr>
        <p:spPr/>
        <p:txBody>
          <a:bodyPr/>
          <a:lstStyle/>
          <a:p>
            <a:fld id="{2F4228F8-FB73-46B0-A250-E6C5C0B176A9}" type="slidenum">
              <a:rPr lang="en-US" smtClean="0"/>
              <a:t>5</a:t>
            </a:fld>
            <a:endParaRPr lang="en-US"/>
          </a:p>
        </p:txBody>
      </p:sp>
    </p:spTree>
    <p:extLst>
      <p:ext uri="{BB962C8B-B14F-4D97-AF65-F5344CB8AC3E}">
        <p14:creationId xmlns:p14="http://schemas.microsoft.com/office/powerpoint/2010/main" val="1697666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Zoey</a:t>
            </a:r>
          </a:p>
        </p:txBody>
      </p:sp>
      <p:sp>
        <p:nvSpPr>
          <p:cNvPr id="4" name="Slide Number Placeholder 3"/>
          <p:cNvSpPr>
            <a:spLocks noGrp="1"/>
          </p:cNvSpPr>
          <p:nvPr>
            <p:ph type="sldNum" sz="quarter" idx="5"/>
          </p:nvPr>
        </p:nvSpPr>
        <p:spPr/>
        <p:txBody>
          <a:bodyPr/>
          <a:lstStyle/>
          <a:p>
            <a:fld id="{2F4228F8-FB73-46B0-A250-E6C5C0B176A9}" type="slidenum">
              <a:rPr lang="en-US" smtClean="0"/>
              <a:t>6</a:t>
            </a:fld>
            <a:endParaRPr lang="en-US"/>
          </a:p>
        </p:txBody>
      </p:sp>
    </p:spTree>
    <p:extLst>
      <p:ext uri="{BB962C8B-B14F-4D97-AF65-F5344CB8AC3E}">
        <p14:creationId xmlns:p14="http://schemas.microsoft.com/office/powerpoint/2010/main" val="5937712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Zoey</a:t>
            </a:r>
          </a:p>
        </p:txBody>
      </p:sp>
      <p:sp>
        <p:nvSpPr>
          <p:cNvPr id="4" name="Slide Number Placeholder 3"/>
          <p:cNvSpPr>
            <a:spLocks noGrp="1"/>
          </p:cNvSpPr>
          <p:nvPr>
            <p:ph type="sldNum" sz="quarter" idx="5"/>
          </p:nvPr>
        </p:nvSpPr>
        <p:spPr/>
        <p:txBody>
          <a:bodyPr/>
          <a:lstStyle/>
          <a:p>
            <a:fld id="{2F4228F8-FB73-46B0-A250-E6C5C0B176A9}" type="slidenum">
              <a:rPr lang="en-US" smtClean="0"/>
              <a:t>7</a:t>
            </a:fld>
            <a:endParaRPr lang="en-US"/>
          </a:p>
        </p:txBody>
      </p:sp>
    </p:spTree>
    <p:extLst>
      <p:ext uri="{BB962C8B-B14F-4D97-AF65-F5344CB8AC3E}">
        <p14:creationId xmlns:p14="http://schemas.microsoft.com/office/powerpoint/2010/main" val="34667955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Saanvi</a:t>
            </a:r>
          </a:p>
        </p:txBody>
      </p:sp>
      <p:sp>
        <p:nvSpPr>
          <p:cNvPr id="4" name="Slide Number Placeholder 3"/>
          <p:cNvSpPr>
            <a:spLocks noGrp="1"/>
          </p:cNvSpPr>
          <p:nvPr>
            <p:ph type="sldNum" sz="quarter" idx="5"/>
          </p:nvPr>
        </p:nvSpPr>
        <p:spPr/>
        <p:txBody>
          <a:bodyPr/>
          <a:lstStyle/>
          <a:p>
            <a:fld id="{2F4228F8-FB73-46B0-A250-E6C5C0B176A9}" type="slidenum">
              <a:rPr lang="en-US" smtClean="0"/>
              <a:t>8</a:t>
            </a:fld>
            <a:endParaRPr lang="en-US"/>
          </a:p>
        </p:txBody>
      </p:sp>
    </p:spTree>
    <p:extLst>
      <p:ext uri="{BB962C8B-B14F-4D97-AF65-F5344CB8AC3E}">
        <p14:creationId xmlns:p14="http://schemas.microsoft.com/office/powerpoint/2010/main" val="31425731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Saanvi</a:t>
            </a:r>
          </a:p>
        </p:txBody>
      </p:sp>
      <p:sp>
        <p:nvSpPr>
          <p:cNvPr id="4" name="Slide Number Placeholder 3"/>
          <p:cNvSpPr>
            <a:spLocks noGrp="1"/>
          </p:cNvSpPr>
          <p:nvPr>
            <p:ph type="sldNum" sz="quarter" idx="5"/>
          </p:nvPr>
        </p:nvSpPr>
        <p:spPr/>
        <p:txBody>
          <a:bodyPr/>
          <a:lstStyle/>
          <a:p>
            <a:fld id="{2F4228F8-FB73-46B0-A250-E6C5C0B176A9}" type="slidenum">
              <a:rPr lang="en-US" smtClean="0"/>
              <a:t>9</a:t>
            </a:fld>
            <a:endParaRPr lang="en-US"/>
          </a:p>
        </p:txBody>
      </p:sp>
    </p:spTree>
    <p:extLst>
      <p:ext uri="{BB962C8B-B14F-4D97-AF65-F5344CB8AC3E}">
        <p14:creationId xmlns:p14="http://schemas.microsoft.com/office/powerpoint/2010/main" val="6622264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Saumya</a:t>
            </a:r>
          </a:p>
        </p:txBody>
      </p:sp>
      <p:sp>
        <p:nvSpPr>
          <p:cNvPr id="4" name="Slide Number Placeholder 3"/>
          <p:cNvSpPr>
            <a:spLocks noGrp="1"/>
          </p:cNvSpPr>
          <p:nvPr>
            <p:ph type="sldNum" sz="quarter" idx="5"/>
          </p:nvPr>
        </p:nvSpPr>
        <p:spPr/>
        <p:txBody>
          <a:bodyPr/>
          <a:lstStyle/>
          <a:p>
            <a:fld id="{2F4228F8-FB73-46B0-A250-E6C5C0B176A9}" type="slidenum">
              <a:rPr lang="en-US" smtClean="0"/>
              <a:t>10</a:t>
            </a:fld>
            <a:endParaRPr lang="en-US"/>
          </a:p>
        </p:txBody>
      </p:sp>
    </p:spTree>
    <p:extLst>
      <p:ext uri="{BB962C8B-B14F-4D97-AF65-F5344CB8AC3E}">
        <p14:creationId xmlns:p14="http://schemas.microsoft.com/office/powerpoint/2010/main" val="5574478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Saumya</a:t>
            </a:r>
          </a:p>
        </p:txBody>
      </p:sp>
      <p:sp>
        <p:nvSpPr>
          <p:cNvPr id="4" name="Slide Number Placeholder 3"/>
          <p:cNvSpPr>
            <a:spLocks noGrp="1"/>
          </p:cNvSpPr>
          <p:nvPr>
            <p:ph type="sldNum" sz="quarter" idx="5"/>
          </p:nvPr>
        </p:nvSpPr>
        <p:spPr/>
        <p:txBody>
          <a:bodyPr/>
          <a:lstStyle/>
          <a:p>
            <a:fld id="{2F4228F8-FB73-46B0-A250-E6C5C0B176A9}" type="slidenum">
              <a:rPr lang="en-US" smtClean="0"/>
              <a:t>11</a:t>
            </a:fld>
            <a:endParaRPr lang="en-US"/>
          </a:p>
        </p:txBody>
      </p:sp>
    </p:spTree>
    <p:extLst>
      <p:ext uri="{BB962C8B-B14F-4D97-AF65-F5344CB8AC3E}">
        <p14:creationId xmlns:p14="http://schemas.microsoft.com/office/powerpoint/2010/main" val="39343912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Girisha</a:t>
            </a:r>
          </a:p>
        </p:txBody>
      </p:sp>
      <p:sp>
        <p:nvSpPr>
          <p:cNvPr id="4" name="Slide Number Placeholder 3"/>
          <p:cNvSpPr>
            <a:spLocks noGrp="1"/>
          </p:cNvSpPr>
          <p:nvPr>
            <p:ph type="sldNum" sz="quarter" idx="5"/>
          </p:nvPr>
        </p:nvSpPr>
        <p:spPr/>
        <p:txBody>
          <a:bodyPr/>
          <a:lstStyle/>
          <a:p>
            <a:fld id="{2F4228F8-FB73-46B0-A250-E6C5C0B176A9}" type="slidenum">
              <a:rPr lang="en-US" smtClean="0"/>
              <a:t>12</a:t>
            </a:fld>
            <a:endParaRPr lang="en-US"/>
          </a:p>
        </p:txBody>
      </p:sp>
    </p:spTree>
    <p:extLst>
      <p:ext uri="{BB962C8B-B14F-4D97-AF65-F5344CB8AC3E}">
        <p14:creationId xmlns:p14="http://schemas.microsoft.com/office/powerpoint/2010/main" val="32197598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Girisha</a:t>
            </a:r>
          </a:p>
        </p:txBody>
      </p:sp>
      <p:sp>
        <p:nvSpPr>
          <p:cNvPr id="4" name="Slide Number Placeholder 3"/>
          <p:cNvSpPr>
            <a:spLocks noGrp="1"/>
          </p:cNvSpPr>
          <p:nvPr>
            <p:ph type="sldNum" sz="quarter" idx="5"/>
          </p:nvPr>
        </p:nvSpPr>
        <p:spPr/>
        <p:txBody>
          <a:bodyPr/>
          <a:lstStyle/>
          <a:p>
            <a:fld id="{2F4228F8-FB73-46B0-A250-E6C5C0B176A9}" type="slidenum">
              <a:rPr lang="en-US" smtClean="0"/>
              <a:t>13</a:t>
            </a:fld>
            <a:endParaRPr lang="en-US"/>
          </a:p>
        </p:txBody>
      </p:sp>
    </p:spTree>
    <p:extLst>
      <p:ext uri="{BB962C8B-B14F-4D97-AF65-F5344CB8AC3E}">
        <p14:creationId xmlns:p14="http://schemas.microsoft.com/office/powerpoint/2010/main" val="20673269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Riya</a:t>
            </a:r>
          </a:p>
        </p:txBody>
      </p:sp>
      <p:sp>
        <p:nvSpPr>
          <p:cNvPr id="4" name="Slide Number Placeholder 3"/>
          <p:cNvSpPr>
            <a:spLocks noGrp="1"/>
          </p:cNvSpPr>
          <p:nvPr>
            <p:ph type="sldNum" sz="quarter" idx="5"/>
          </p:nvPr>
        </p:nvSpPr>
        <p:spPr/>
        <p:txBody>
          <a:bodyPr/>
          <a:lstStyle/>
          <a:p>
            <a:fld id="{2F4228F8-FB73-46B0-A250-E6C5C0B176A9}" type="slidenum">
              <a:rPr lang="en-US" smtClean="0"/>
              <a:t>14</a:t>
            </a:fld>
            <a:endParaRPr lang="en-US"/>
          </a:p>
        </p:txBody>
      </p:sp>
    </p:spTree>
    <p:extLst>
      <p:ext uri="{BB962C8B-B14F-4D97-AF65-F5344CB8AC3E}">
        <p14:creationId xmlns:p14="http://schemas.microsoft.com/office/powerpoint/2010/main" val="14223051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Riya</a:t>
            </a:r>
          </a:p>
        </p:txBody>
      </p:sp>
      <p:sp>
        <p:nvSpPr>
          <p:cNvPr id="4" name="Slide Number Placeholder 3"/>
          <p:cNvSpPr>
            <a:spLocks noGrp="1"/>
          </p:cNvSpPr>
          <p:nvPr>
            <p:ph type="sldNum" sz="quarter" idx="5"/>
          </p:nvPr>
        </p:nvSpPr>
        <p:spPr/>
        <p:txBody>
          <a:bodyPr/>
          <a:lstStyle/>
          <a:p>
            <a:fld id="{2F4228F8-FB73-46B0-A250-E6C5C0B176A9}" type="slidenum">
              <a:rPr lang="en-US" smtClean="0"/>
              <a:t>15</a:t>
            </a:fld>
            <a:endParaRPr lang="en-US"/>
          </a:p>
        </p:txBody>
      </p:sp>
    </p:spTree>
    <p:extLst>
      <p:ext uri="{BB962C8B-B14F-4D97-AF65-F5344CB8AC3E}">
        <p14:creationId xmlns:p14="http://schemas.microsoft.com/office/powerpoint/2010/main" val="19469484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214EFA7-94EC-4BC8-BC85-3E595F55699A}"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878627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214EFA7-94EC-4BC8-BC85-3E595F55699A}"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3855920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14EFA7-94EC-4BC8-BC85-3E595F55699A}"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34248699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214EFA7-94EC-4BC8-BC85-3E595F55699A}" type="datetimeFigureOut">
              <a:rPr lang="en-US" smtClean="0"/>
              <a:t>12/12/2025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41124241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214EFA7-94EC-4BC8-BC85-3E595F55699A}" type="datetimeFigureOut">
              <a:rPr lang="en-US" smtClean="0"/>
              <a:t>12/12/2025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1292985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214EFA7-94EC-4BC8-BC85-3E595F55699A}" type="datetimeFigureOut">
              <a:rPr lang="en-US" smtClean="0"/>
              <a:t>12/12/2025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28275477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214EFA7-94EC-4BC8-BC85-3E595F55699A}" type="datetimeFigureOut">
              <a:rPr lang="en-US" smtClean="0"/>
              <a:t>12/12/2025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7606291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214EFA7-94EC-4BC8-BC85-3E595F55699A}" type="datetimeFigureOut">
              <a:rPr lang="en-US" smtClean="0"/>
              <a:t>12/12/2025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26666053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214EFA7-94EC-4BC8-BC85-3E595F55699A}" type="datetimeFigureOut">
              <a:rPr lang="en-US" smtClean="0"/>
              <a:t>12/12/2025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9973714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14EFA7-94EC-4BC8-BC85-3E595F55699A}"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8258535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14EFA7-94EC-4BC8-BC85-3E595F55699A}"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1EA9D-5C1F-45F4-9F1C-6EC2EC60525E}"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9238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14EFA7-94EC-4BC8-BC85-3E595F55699A}"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12495797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14EFA7-94EC-4BC8-BC85-3E595F55699A}"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1EA9D-5C1F-45F4-9F1C-6EC2EC60525E}"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7971583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14EFA7-94EC-4BC8-BC85-3E595F55699A}"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184628507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214EFA7-94EC-4BC8-BC85-3E595F55699A}"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16195813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214EFA7-94EC-4BC8-BC85-3E595F55699A}"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1EA9D-5C1F-45F4-9F1C-6EC2EC60525E}" type="slidenum">
              <a:rPr lang="en-US" smtClean="0"/>
              <a:t>‹#›</a:t>
            </a:fld>
            <a:endParaRPr lang="en-US"/>
          </a:p>
        </p:txBody>
      </p:sp>
    </p:spTree>
    <p:extLst>
      <p:ext uri="{BB962C8B-B14F-4D97-AF65-F5344CB8AC3E}">
        <p14:creationId xmlns:p14="http://schemas.microsoft.com/office/powerpoint/2010/main" val="9390647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8214EFA7-94EC-4BC8-BC85-3E595F55699A}" type="datetimeFigureOut">
              <a:rPr lang="en-US" smtClean="0"/>
              <a:t>12/12/2025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4BA1EA9D-5C1F-45F4-9F1C-6EC2EC60525E}" type="slidenum">
              <a:rPr lang="en-US" smtClean="0"/>
              <a:t>‹#›</a:t>
            </a:fld>
            <a:endParaRPr lang="en-US"/>
          </a:p>
        </p:txBody>
      </p:sp>
    </p:spTree>
    <p:extLst>
      <p:ext uri="{BB962C8B-B14F-4D97-AF65-F5344CB8AC3E}">
        <p14:creationId xmlns:p14="http://schemas.microsoft.com/office/powerpoint/2010/main" val="4095806349"/>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 id="2147483722" r:id="rId15"/>
    <p:sldLayoutId id="2147483723"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jpe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DD650-1FF8-FB32-698D-F85DF4810BAE}"/>
              </a:ext>
            </a:extLst>
          </p:cNvPr>
          <p:cNvSpPr>
            <a:spLocks noGrp="1"/>
          </p:cNvSpPr>
          <p:nvPr>
            <p:ph type="ctrTitle"/>
          </p:nvPr>
        </p:nvSpPr>
        <p:spPr>
          <a:xfrm>
            <a:off x="1524000" y="1122363"/>
            <a:ext cx="9144000" cy="2001838"/>
          </a:xfrm>
        </p:spPr>
        <p:txBody>
          <a:bodyPr/>
          <a:lstStyle/>
          <a:p>
            <a:r>
              <a:rPr lang="en-US" dirty="0"/>
              <a:t>Unearthed </a:t>
            </a:r>
            <a:br>
              <a:rPr lang="en-US" dirty="0"/>
            </a:br>
            <a:r>
              <a:rPr lang="en-US" dirty="0"/>
              <a:t>Innovation Project</a:t>
            </a:r>
          </a:p>
        </p:txBody>
      </p:sp>
      <p:sp>
        <p:nvSpPr>
          <p:cNvPr id="3" name="Subtitle 2">
            <a:extLst>
              <a:ext uri="{FF2B5EF4-FFF2-40B4-BE49-F238E27FC236}">
                <a16:creationId xmlns:a16="http://schemas.microsoft.com/office/drawing/2014/main" id="{35EB4715-2A8C-222C-81BD-2B78B7A44363}"/>
              </a:ext>
            </a:extLst>
          </p:cNvPr>
          <p:cNvSpPr>
            <a:spLocks noGrp="1"/>
          </p:cNvSpPr>
          <p:nvPr>
            <p:ph type="subTitle" idx="1"/>
          </p:nvPr>
        </p:nvSpPr>
        <p:spPr>
          <a:xfrm>
            <a:off x="1524000" y="3429000"/>
            <a:ext cx="9144000" cy="1828800"/>
          </a:xfrm>
        </p:spPr>
        <p:txBody>
          <a:bodyPr>
            <a:normAutofit fontScale="92500" lnSpcReduction="10000"/>
          </a:bodyPr>
          <a:lstStyle/>
          <a:p>
            <a:r>
              <a:rPr lang="en-US" sz="4300" b="1" dirty="0">
                <a:effectLst>
                  <a:outerShdw blurRad="38100" dist="38100" dir="2700000" algn="tl">
                    <a:srgbClr val="000000">
                      <a:alpha val="43137"/>
                    </a:srgbClr>
                  </a:outerShdw>
                </a:effectLst>
              </a:rPr>
              <a:t>Natural dyes</a:t>
            </a:r>
          </a:p>
          <a:p>
            <a:endParaRPr lang="en-US" dirty="0"/>
          </a:p>
          <a:p>
            <a:r>
              <a:rPr lang="en-US" b="1" dirty="0"/>
              <a:t>Rising Stars</a:t>
            </a:r>
          </a:p>
          <a:p>
            <a:r>
              <a:rPr lang="en-US" dirty="0"/>
              <a:t>(Riona, Shaivi, Zoey, Saanvi, Saumya, Girisha, Riya)</a:t>
            </a:r>
          </a:p>
        </p:txBody>
      </p:sp>
      <p:pic>
        <p:nvPicPr>
          <p:cNvPr id="5" name="Picture 4">
            <a:extLst>
              <a:ext uri="{FF2B5EF4-FFF2-40B4-BE49-F238E27FC236}">
                <a16:creationId xmlns:a16="http://schemas.microsoft.com/office/drawing/2014/main" id="{6CBE4791-EC22-901E-E662-877929D7A135}"/>
              </a:ext>
            </a:extLst>
          </p:cNvPr>
          <p:cNvPicPr>
            <a:picLocks noChangeAspect="1"/>
          </p:cNvPicPr>
          <p:nvPr/>
        </p:nvPicPr>
        <p:blipFill>
          <a:blip r:embed="rId3"/>
          <a:srcRect b="47337"/>
          <a:stretch>
            <a:fillRect/>
          </a:stretch>
        </p:blipFill>
        <p:spPr>
          <a:xfrm>
            <a:off x="9006840" y="5735637"/>
            <a:ext cx="3028343" cy="691924"/>
          </a:xfrm>
          <a:prstGeom prst="rect">
            <a:avLst/>
          </a:prstGeom>
        </p:spPr>
      </p:pic>
      <p:pic>
        <p:nvPicPr>
          <p:cNvPr id="6" name="Picture 2" descr="FIRST LEGO League seizoen 2025-2026 | Beleef je Beroep">
            <a:extLst>
              <a:ext uri="{FF2B5EF4-FFF2-40B4-BE49-F238E27FC236}">
                <a16:creationId xmlns:a16="http://schemas.microsoft.com/office/drawing/2014/main" id="{4B4F0C95-FC26-D780-5976-6F83304D04C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8383" r="46643" b="15440"/>
          <a:stretch>
            <a:fillRect/>
          </a:stretch>
        </p:blipFill>
        <p:spPr bwMode="auto">
          <a:xfrm>
            <a:off x="306215" y="5257800"/>
            <a:ext cx="1454385" cy="1389779"/>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B225521-AC09-450D-5057-2EB57E543A82}"/>
              </a:ext>
            </a:extLst>
          </p:cNvPr>
          <p:cNvSpPr txBox="1"/>
          <p:nvPr/>
        </p:nvSpPr>
        <p:spPr>
          <a:xfrm>
            <a:off x="11512297" y="9525"/>
            <a:ext cx="665762" cy="307777"/>
          </a:xfrm>
          <a:prstGeom prst="rect">
            <a:avLst/>
          </a:prstGeom>
          <a:noFill/>
        </p:spPr>
        <p:txBody>
          <a:bodyPr wrap="square" rtlCol="0">
            <a:spAutoFit/>
          </a:bodyPr>
          <a:lstStyle/>
          <a:p>
            <a:pPr algn="r"/>
            <a:r>
              <a:rPr lang="en-US" sz="1400" dirty="0"/>
              <a:t>Riona</a:t>
            </a:r>
          </a:p>
        </p:txBody>
      </p:sp>
    </p:spTree>
    <p:extLst>
      <p:ext uri="{BB962C8B-B14F-4D97-AF65-F5344CB8AC3E}">
        <p14:creationId xmlns:p14="http://schemas.microsoft.com/office/powerpoint/2010/main" val="21076570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DC890-69BB-9742-61C0-5D71BACD4E12}"/>
              </a:ext>
            </a:extLst>
          </p:cNvPr>
          <p:cNvSpPr>
            <a:spLocks noGrp="1"/>
          </p:cNvSpPr>
          <p:nvPr>
            <p:ph type="title"/>
          </p:nvPr>
        </p:nvSpPr>
        <p:spPr/>
        <p:txBody>
          <a:bodyPr/>
          <a:lstStyle/>
          <a:p>
            <a:r>
              <a:rPr lang="en-US" b="1" dirty="0"/>
              <a:t>Identify</a:t>
            </a:r>
            <a:r>
              <a:rPr lang="en-US" dirty="0"/>
              <a:t> / Problem Selection</a:t>
            </a:r>
          </a:p>
        </p:txBody>
      </p:sp>
      <p:sp>
        <p:nvSpPr>
          <p:cNvPr id="3" name="Content Placeholder 2">
            <a:extLst>
              <a:ext uri="{FF2B5EF4-FFF2-40B4-BE49-F238E27FC236}">
                <a16:creationId xmlns:a16="http://schemas.microsoft.com/office/drawing/2014/main" id="{7E6985DE-A26B-1E05-5030-D0FE88AFD376}"/>
              </a:ext>
            </a:extLst>
          </p:cNvPr>
          <p:cNvSpPr>
            <a:spLocks noGrp="1"/>
          </p:cNvSpPr>
          <p:nvPr>
            <p:ph idx="1"/>
          </p:nvPr>
        </p:nvSpPr>
        <p:spPr>
          <a:xfrm>
            <a:off x="677333" y="1675561"/>
            <a:ext cx="10377763" cy="4645726"/>
          </a:xfrm>
        </p:spPr>
        <p:txBody>
          <a:bodyPr>
            <a:normAutofit/>
          </a:bodyPr>
          <a:lstStyle/>
          <a:p>
            <a:pPr marL="0" indent="0">
              <a:buNone/>
            </a:pPr>
            <a:r>
              <a:rPr lang="en-US" sz="4400" dirty="0"/>
              <a:t>Ideas Explored before choosing our project:</a:t>
            </a:r>
          </a:p>
          <a:p>
            <a:r>
              <a:rPr lang="en-US" sz="3200" dirty="0"/>
              <a:t>Robotic Arm in Field of Archaeology </a:t>
            </a:r>
          </a:p>
          <a:p>
            <a:r>
              <a:rPr lang="en-US" sz="3200" dirty="0"/>
              <a:t>LIDAR / SONAR</a:t>
            </a:r>
          </a:p>
          <a:p>
            <a:r>
              <a:rPr lang="en-US" sz="3200" dirty="0"/>
              <a:t>Natural Cooling / Wind Tower</a:t>
            </a:r>
          </a:p>
          <a:p>
            <a:r>
              <a:rPr lang="en-US" sz="3200" dirty="0"/>
              <a:t>Artificial Dyes in Jewelry</a:t>
            </a:r>
          </a:p>
          <a:p>
            <a:r>
              <a:rPr lang="en-US" sz="4000" b="1" dirty="0"/>
              <a:t>Artificial Dyes in Food</a:t>
            </a:r>
          </a:p>
        </p:txBody>
      </p:sp>
      <p:sp>
        <p:nvSpPr>
          <p:cNvPr id="4" name="TextBox 3">
            <a:extLst>
              <a:ext uri="{FF2B5EF4-FFF2-40B4-BE49-F238E27FC236}">
                <a16:creationId xmlns:a16="http://schemas.microsoft.com/office/drawing/2014/main" id="{74437F4B-AA17-7742-0A99-8123D537C038}"/>
              </a:ext>
            </a:extLst>
          </p:cNvPr>
          <p:cNvSpPr txBox="1"/>
          <p:nvPr/>
        </p:nvSpPr>
        <p:spPr>
          <a:xfrm>
            <a:off x="11055097" y="9525"/>
            <a:ext cx="1122962" cy="307777"/>
          </a:xfrm>
          <a:prstGeom prst="rect">
            <a:avLst/>
          </a:prstGeom>
          <a:noFill/>
        </p:spPr>
        <p:txBody>
          <a:bodyPr wrap="square" rtlCol="0">
            <a:spAutoFit/>
          </a:bodyPr>
          <a:lstStyle/>
          <a:p>
            <a:pPr algn="r"/>
            <a:r>
              <a:rPr lang="en-US" sz="1400" dirty="0"/>
              <a:t>Riona</a:t>
            </a:r>
          </a:p>
        </p:txBody>
      </p:sp>
    </p:spTree>
    <p:extLst>
      <p:ext uri="{BB962C8B-B14F-4D97-AF65-F5344CB8AC3E}">
        <p14:creationId xmlns:p14="http://schemas.microsoft.com/office/powerpoint/2010/main" val="3268535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405A8-5DE7-008B-019F-17BF40CCEFAF}"/>
              </a:ext>
            </a:extLst>
          </p:cNvPr>
          <p:cNvSpPr>
            <a:spLocks noGrp="1"/>
          </p:cNvSpPr>
          <p:nvPr>
            <p:ph type="title"/>
          </p:nvPr>
        </p:nvSpPr>
        <p:spPr/>
        <p:txBody>
          <a:bodyPr/>
          <a:lstStyle/>
          <a:p>
            <a:r>
              <a:rPr lang="en-US" b="1" dirty="0"/>
              <a:t>Identify</a:t>
            </a:r>
            <a:r>
              <a:rPr lang="en-US" dirty="0"/>
              <a:t> / Problem Details</a:t>
            </a:r>
          </a:p>
        </p:txBody>
      </p:sp>
      <p:sp>
        <p:nvSpPr>
          <p:cNvPr id="3" name="Content Placeholder 2">
            <a:extLst>
              <a:ext uri="{FF2B5EF4-FFF2-40B4-BE49-F238E27FC236}">
                <a16:creationId xmlns:a16="http://schemas.microsoft.com/office/drawing/2014/main" id="{9E824097-824E-0D0F-5F63-7102FC793719}"/>
              </a:ext>
            </a:extLst>
          </p:cNvPr>
          <p:cNvSpPr>
            <a:spLocks noGrp="1"/>
          </p:cNvSpPr>
          <p:nvPr>
            <p:ph idx="1"/>
          </p:nvPr>
        </p:nvSpPr>
        <p:spPr>
          <a:xfrm>
            <a:off x="838200" y="1460498"/>
            <a:ext cx="10515600" cy="5397501"/>
          </a:xfrm>
        </p:spPr>
        <p:txBody>
          <a:bodyPr>
            <a:normAutofit/>
          </a:bodyPr>
          <a:lstStyle/>
          <a:p>
            <a:r>
              <a:rPr lang="en-US" dirty="0"/>
              <a:t>Artificial dyes cause lots of pollution </a:t>
            </a:r>
          </a:p>
          <a:p>
            <a:pPr lvl="1"/>
            <a:r>
              <a:rPr lang="en-US" dirty="0"/>
              <a:t>Water pollution</a:t>
            </a:r>
          </a:p>
          <a:p>
            <a:pPr lvl="1"/>
            <a:r>
              <a:rPr lang="en-US" dirty="0"/>
              <a:t>Soil pollution </a:t>
            </a:r>
          </a:p>
          <a:p>
            <a:pPr lvl="1"/>
            <a:r>
              <a:rPr lang="en-US" dirty="0"/>
              <a:t>Air pollution </a:t>
            </a:r>
          </a:p>
          <a:p>
            <a:r>
              <a:rPr lang="en-US" dirty="0"/>
              <a:t>The pollution that comes from artificial dyes can cause health issues </a:t>
            </a:r>
          </a:p>
          <a:p>
            <a:pPr lvl="1"/>
            <a:r>
              <a:rPr lang="en-US" dirty="0"/>
              <a:t>Cancer</a:t>
            </a:r>
          </a:p>
          <a:p>
            <a:pPr lvl="1"/>
            <a:r>
              <a:rPr lang="en-US" dirty="0"/>
              <a:t>Behavior issues </a:t>
            </a:r>
          </a:p>
          <a:p>
            <a:pPr lvl="1"/>
            <a:r>
              <a:rPr lang="en-US" dirty="0"/>
              <a:t>DNA damage</a:t>
            </a:r>
          </a:p>
          <a:p>
            <a:pPr lvl="1"/>
            <a:r>
              <a:rPr lang="en-US" dirty="0"/>
              <a:t>Allergic reactions </a:t>
            </a:r>
          </a:p>
          <a:p>
            <a:r>
              <a:rPr lang="en-US" dirty="0"/>
              <a:t>Artificial dyes also affect Wildlife and Aquatic life</a:t>
            </a:r>
          </a:p>
          <a:p>
            <a:r>
              <a:rPr lang="en-US" dirty="0"/>
              <a:t>Civilization moved away from natural dyes because of cost, consistency, </a:t>
            </a:r>
          </a:p>
          <a:p>
            <a:pPr marL="0" indent="0">
              <a:buNone/>
            </a:pPr>
            <a:r>
              <a:rPr lang="en-US" dirty="0"/>
              <a:t>	and availability of natural ingredients </a:t>
            </a:r>
          </a:p>
          <a:p>
            <a:endParaRPr lang="en-US" dirty="0"/>
          </a:p>
        </p:txBody>
      </p:sp>
      <p:pic>
        <p:nvPicPr>
          <p:cNvPr id="4" name="Picture 3">
            <a:extLst>
              <a:ext uri="{FF2B5EF4-FFF2-40B4-BE49-F238E27FC236}">
                <a16:creationId xmlns:a16="http://schemas.microsoft.com/office/drawing/2014/main" id="{63B595D4-309F-9A70-2002-627AF7D9B9BD}"/>
              </a:ext>
            </a:extLst>
          </p:cNvPr>
          <p:cNvPicPr>
            <a:picLocks noChangeAspect="1"/>
          </p:cNvPicPr>
          <p:nvPr/>
        </p:nvPicPr>
        <p:blipFill>
          <a:blip r:embed="rId3"/>
          <a:stretch>
            <a:fillRect/>
          </a:stretch>
        </p:blipFill>
        <p:spPr>
          <a:xfrm>
            <a:off x="9773642" y="4704947"/>
            <a:ext cx="2418358" cy="2153053"/>
          </a:xfrm>
          <a:prstGeom prst="rect">
            <a:avLst/>
          </a:prstGeom>
        </p:spPr>
      </p:pic>
      <p:sp>
        <p:nvSpPr>
          <p:cNvPr id="5" name="Rectangle 4">
            <a:extLst>
              <a:ext uri="{FF2B5EF4-FFF2-40B4-BE49-F238E27FC236}">
                <a16:creationId xmlns:a16="http://schemas.microsoft.com/office/drawing/2014/main" id="{22668759-70EB-CBD0-4572-36F693CF8DDE}"/>
              </a:ext>
            </a:extLst>
          </p:cNvPr>
          <p:cNvSpPr/>
          <p:nvPr/>
        </p:nvSpPr>
        <p:spPr>
          <a:xfrm rot="5400000">
            <a:off x="10777148" y="4464152"/>
            <a:ext cx="493776" cy="994581"/>
          </a:xfrm>
          <a:prstGeom prst="rect">
            <a:avLst/>
          </a:prstGeom>
          <a:no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5B0E84E-115E-CA65-12DD-0FE4C3CFE83F}"/>
              </a:ext>
            </a:extLst>
          </p:cNvPr>
          <p:cNvSpPr txBox="1"/>
          <p:nvPr/>
        </p:nvSpPr>
        <p:spPr>
          <a:xfrm>
            <a:off x="11521327" y="9525"/>
            <a:ext cx="656731" cy="307777"/>
          </a:xfrm>
          <a:prstGeom prst="rect">
            <a:avLst/>
          </a:prstGeom>
          <a:noFill/>
        </p:spPr>
        <p:txBody>
          <a:bodyPr wrap="square" rtlCol="0">
            <a:spAutoFit/>
          </a:bodyPr>
          <a:lstStyle/>
          <a:p>
            <a:pPr algn="r"/>
            <a:r>
              <a:rPr lang="en-US" sz="1400" dirty="0"/>
              <a:t>Shaivi</a:t>
            </a:r>
          </a:p>
        </p:txBody>
      </p:sp>
    </p:spTree>
    <p:extLst>
      <p:ext uri="{BB962C8B-B14F-4D97-AF65-F5344CB8AC3E}">
        <p14:creationId xmlns:p14="http://schemas.microsoft.com/office/powerpoint/2010/main" val="3812429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BFFE2B-ABD0-9877-AC89-F759EEABA7C6}"/>
              </a:ext>
            </a:extLst>
          </p:cNvPr>
          <p:cNvSpPr>
            <a:spLocks noGrp="1"/>
          </p:cNvSpPr>
          <p:nvPr>
            <p:ph type="title"/>
          </p:nvPr>
        </p:nvSpPr>
        <p:spPr/>
        <p:txBody>
          <a:bodyPr/>
          <a:lstStyle/>
          <a:p>
            <a:r>
              <a:rPr lang="en-US" b="1" dirty="0"/>
              <a:t>Identify</a:t>
            </a:r>
            <a:r>
              <a:rPr lang="en-US" dirty="0"/>
              <a:t> / Problem Details</a:t>
            </a:r>
          </a:p>
        </p:txBody>
      </p:sp>
      <p:sp>
        <p:nvSpPr>
          <p:cNvPr id="3" name="Content Placeholder 2">
            <a:extLst>
              <a:ext uri="{FF2B5EF4-FFF2-40B4-BE49-F238E27FC236}">
                <a16:creationId xmlns:a16="http://schemas.microsoft.com/office/drawing/2014/main" id="{E06C3D87-5D2C-BDBB-596B-16C60A4BCFEE}"/>
              </a:ext>
            </a:extLst>
          </p:cNvPr>
          <p:cNvSpPr>
            <a:spLocks noGrp="1"/>
          </p:cNvSpPr>
          <p:nvPr>
            <p:ph idx="1"/>
          </p:nvPr>
        </p:nvSpPr>
        <p:spPr>
          <a:xfrm>
            <a:off x="677333" y="1717483"/>
            <a:ext cx="10780497" cy="4323880"/>
          </a:xfrm>
        </p:spPr>
        <p:txBody>
          <a:bodyPr>
            <a:noAutofit/>
          </a:bodyPr>
          <a:lstStyle/>
          <a:p>
            <a:pPr algn="just"/>
            <a:r>
              <a:rPr lang="en-US" sz="2400" dirty="0"/>
              <a:t>Many synthetic dyes used today can pollute water and soil, which can harm the environment and the places where fossils and archaeological artifacts are buried.​​</a:t>
            </a:r>
          </a:p>
          <a:p>
            <a:r>
              <a:rPr lang="en-US" sz="2400" dirty="0"/>
              <a:t>Civilization moved away from natural dyes because of cost, consistency, and availability of natural ingredients </a:t>
            </a:r>
          </a:p>
          <a:p>
            <a:r>
              <a:rPr lang="en-US" sz="2400" dirty="0"/>
              <a:t>Our team wants to find safer natural dyes that still give bright colors, using gentle ingredients and methods inspired by how ancient civilizations dyed their textiles, and using modern technology and AI to make these natural colors more consistent and affordable today</a:t>
            </a:r>
          </a:p>
          <a:p>
            <a:r>
              <a:rPr lang="en-US" sz="2400" dirty="0"/>
              <a:t>By testing and improving natural dye methods, we aim to reduce chemical pollution from synthetic dyes and help protect underground layers where future archaeologists and paleontologists will work.</a:t>
            </a:r>
          </a:p>
        </p:txBody>
      </p:sp>
    </p:spTree>
    <p:extLst>
      <p:ext uri="{BB962C8B-B14F-4D97-AF65-F5344CB8AC3E}">
        <p14:creationId xmlns:p14="http://schemas.microsoft.com/office/powerpoint/2010/main" val="3424898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C284F77-C713-02F6-61FF-7CC7F14663A1}"/>
              </a:ext>
            </a:extLst>
          </p:cNvPr>
          <p:cNvPicPr>
            <a:picLocks noChangeAspect="1"/>
          </p:cNvPicPr>
          <p:nvPr/>
        </p:nvPicPr>
        <p:blipFill>
          <a:blip r:embed="rId3"/>
          <a:stretch>
            <a:fillRect/>
          </a:stretch>
        </p:blipFill>
        <p:spPr>
          <a:xfrm>
            <a:off x="9773642" y="4704947"/>
            <a:ext cx="2418358" cy="2153053"/>
          </a:xfrm>
          <a:prstGeom prst="rect">
            <a:avLst/>
          </a:prstGeom>
        </p:spPr>
      </p:pic>
      <p:sp>
        <p:nvSpPr>
          <p:cNvPr id="2" name="Title 1">
            <a:extLst>
              <a:ext uri="{FF2B5EF4-FFF2-40B4-BE49-F238E27FC236}">
                <a16:creationId xmlns:a16="http://schemas.microsoft.com/office/drawing/2014/main" id="{58937A5B-1D18-623E-6A48-536617413AA9}"/>
              </a:ext>
            </a:extLst>
          </p:cNvPr>
          <p:cNvSpPr>
            <a:spLocks noGrp="1"/>
          </p:cNvSpPr>
          <p:nvPr>
            <p:ph type="title"/>
          </p:nvPr>
        </p:nvSpPr>
        <p:spPr/>
        <p:txBody>
          <a:bodyPr/>
          <a:lstStyle/>
          <a:p>
            <a:r>
              <a:rPr lang="en-US" b="1" dirty="0"/>
              <a:t>Design</a:t>
            </a:r>
            <a:r>
              <a:rPr lang="en-US" dirty="0"/>
              <a:t> / Solution</a:t>
            </a:r>
          </a:p>
        </p:txBody>
      </p:sp>
      <p:sp>
        <p:nvSpPr>
          <p:cNvPr id="3" name="Content Placeholder 2">
            <a:extLst>
              <a:ext uri="{FF2B5EF4-FFF2-40B4-BE49-F238E27FC236}">
                <a16:creationId xmlns:a16="http://schemas.microsoft.com/office/drawing/2014/main" id="{01393777-B058-D83B-4F87-CBA704E0284E}"/>
              </a:ext>
            </a:extLst>
          </p:cNvPr>
          <p:cNvSpPr>
            <a:spLocks noGrp="1"/>
          </p:cNvSpPr>
          <p:nvPr>
            <p:ph idx="1"/>
          </p:nvPr>
        </p:nvSpPr>
        <p:spPr/>
        <p:txBody>
          <a:bodyPr/>
          <a:lstStyle/>
          <a:p>
            <a:r>
              <a:rPr lang="en-US" dirty="0"/>
              <a:t>Replace use of artificial dyes with natural dyes</a:t>
            </a:r>
          </a:p>
          <a:p>
            <a:r>
              <a:rPr lang="en-US" dirty="0"/>
              <a:t>Solve the problem using Artificial Intelligence (AI)</a:t>
            </a:r>
          </a:p>
          <a:p>
            <a:r>
              <a:rPr lang="en-US" dirty="0"/>
              <a:t>Control mass production using AI color detection</a:t>
            </a:r>
          </a:p>
          <a:p>
            <a:r>
              <a:rPr lang="en-US" dirty="0"/>
              <a:t>Maintain color consistency using AI color detection</a:t>
            </a:r>
          </a:p>
          <a:p>
            <a:r>
              <a:rPr lang="en-US" dirty="0"/>
              <a:t>By testing and improving natural dye methods, we aim to reduce chemical pollution from synthetic dyes and help protect underground layers where future archaeologists and paleontologists will work.</a:t>
            </a:r>
          </a:p>
          <a:p>
            <a:r>
              <a:rPr lang="en-US" dirty="0"/>
              <a:t> We used AI tools to look for patterns and recommend which recipes give the most consistent color. This helps make natural dyes more reliable and less expensive, so more people can use them instead of synthetic dyes.”</a:t>
            </a:r>
          </a:p>
          <a:p>
            <a:endParaRPr lang="en-US" dirty="0"/>
          </a:p>
        </p:txBody>
      </p:sp>
      <p:sp>
        <p:nvSpPr>
          <p:cNvPr id="6" name="Rectangle 5">
            <a:extLst>
              <a:ext uri="{FF2B5EF4-FFF2-40B4-BE49-F238E27FC236}">
                <a16:creationId xmlns:a16="http://schemas.microsoft.com/office/drawing/2014/main" id="{5CB4D86D-C4A2-5A74-905C-A259AD278813}"/>
              </a:ext>
            </a:extLst>
          </p:cNvPr>
          <p:cNvSpPr/>
          <p:nvPr/>
        </p:nvSpPr>
        <p:spPr>
          <a:xfrm rot="10089229">
            <a:off x="11491649" y="5045119"/>
            <a:ext cx="493776" cy="994581"/>
          </a:xfrm>
          <a:prstGeom prst="rect">
            <a:avLst/>
          </a:prstGeom>
          <a:no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F1EFBD0-7677-4200-5947-676CFF71335D}"/>
              </a:ext>
            </a:extLst>
          </p:cNvPr>
          <p:cNvSpPr txBox="1"/>
          <p:nvPr/>
        </p:nvSpPr>
        <p:spPr>
          <a:xfrm>
            <a:off x="11479697" y="9525"/>
            <a:ext cx="698362" cy="307777"/>
          </a:xfrm>
          <a:prstGeom prst="rect">
            <a:avLst/>
          </a:prstGeom>
          <a:noFill/>
        </p:spPr>
        <p:txBody>
          <a:bodyPr wrap="square" rtlCol="0">
            <a:spAutoFit/>
          </a:bodyPr>
          <a:lstStyle/>
          <a:p>
            <a:pPr algn="r"/>
            <a:r>
              <a:rPr lang="en-US" sz="1400" dirty="0"/>
              <a:t>Zoey</a:t>
            </a:r>
          </a:p>
        </p:txBody>
      </p:sp>
    </p:spTree>
    <p:extLst>
      <p:ext uri="{BB962C8B-B14F-4D97-AF65-F5344CB8AC3E}">
        <p14:creationId xmlns:p14="http://schemas.microsoft.com/office/powerpoint/2010/main" val="433323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359AD-0219-4A61-A16D-F5A527C9D95F}"/>
              </a:ext>
            </a:extLst>
          </p:cNvPr>
          <p:cNvSpPr>
            <a:spLocks noGrp="1"/>
          </p:cNvSpPr>
          <p:nvPr>
            <p:ph type="title"/>
          </p:nvPr>
        </p:nvSpPr>
        <p:spPr/>
        <p:txBody>
          <a:bodyPr>
            <a:normAutofit/>
          </a:bodyPr>
          <a:lstStyle/>
          <a:p>
            <a:r>
              <a:rPr lang="en-US" b="1" dirty="0"/>
              <a:t>Create </a:t>
            </a:r>
            <a:r>
              <a:rPr lang="en-US" dirty="0"/>
              <a:t>/ Summary</a:t>
            </a:r>
          </a:p>
        </p:txBody>
      </p:sp>
      <p:sp>
        <p:nvSpPr>
          <p:cNvPr id="3" name="Content Placeholder 2">
            <a:extLst>
              <a:ext uri="{FF2B5EF4-FFF2-40B4-BE49-F238E27FC236}">
                <a16:creationId xmlns:a16="http://schemas.microsoft.com/office/drawing/2014/main" id="{8D6C6946-801E-45D3-5F0E-0162F962156B}"/>
              </a:ext>
            </a:extLst>
          </p:cNvPr>
          <p:cNvSpPr>
            <a:spLocks noGrp="1"/>
          </p:cNvSpPr>
          <p:nvPr>
            <p:ph idx="1"/>
          </p:nvPr>
        </p:nvSpPr>
        <p:spPr>
          <a:xfrm>
            <a:off x="816864" y="1430135"/>
            <a:ext cx="10515600" cy="4351338"/>
          </a:xfrm>
        </p:spPr>
        <p:txBody>
          <a:bodyPr/>
          <a:lstStyle/>
          <a:p>
            <a:r>
              <a:rPr lang="en-US" dirty="0"/>
              <a:t>We researched about how different civilizations used natural dyes in their life style</a:t>
            </a:r>
          </a:p>
          <a:p>
            <a:r>
              <a:rPr lang="en-US" dirty="0"/>
              <a:t>Ancient civilizations used different methods to dye stuff such as</a:t>
            </a:r>
          </a:p>
          <a:p>
            <a:pPr lvl="1"/>
            <a:r>
              <a:rPr lang="en-US" dirty="0"/>
              <a:t>Boiling plants to turn them into dyes</a:t>
            </a:r>
          </a:p>
          <a:p>
            <a:pPr lvl="1"/>
            <a:r>
              <a:rPr lang="en-US" dirty="0"/>
              <a:t>Crushing the plants to make dyes</a:t>
            </a:r>
          </a:p>
          <a:p>
            <a:pPr lvl="1"/>
            <a:r>
              <a:rPr lang="en-US" dirty="0"/>
              <a:t>Rubbing the plants/rocks to turn them into dyes</a:t>
            </a:r>
          </a:p>
          <a:p>
            <a:endParaRPr lang="en-US" dirty="0"/>
          </a:p>
          <a:p>
            <a:endParaRPr lang="en-US" dirty="0"/>
          </a:p>
          <a:p>
            <a:endParaRPr lang="en-US" dirty="0"/>
          </a:p>
        </p:txBody>
      </p:sp>
      <p:pic>
        <p:nvPicPr>
          <p:cNvPr id="5" name="Picture 4">
            <a:extLst>
              <a:ext uri="{FF2B5EF4-FFF2-40B4-BE49-F238E27FC236}">
                <a16:creationId xmlns:a16="http://schemas.microsoft.com/office/drawing/2014/main" id="{505216FF-BDA1-7006-4A01-291E0E3EF14C}"/>
              </a:ext>
            </a:extLst>
          </p:cNvPr>
          <p:cNvPicPr>
            <a:picLocks noChangeAspect="1"/>
          </p:cNvPicPr>
          <p:nvPr/>
        </p:nvPicPr>
        <p:blipFill>
          <a:blip r:embed="rId3"/>
          <a:stretch>
            <a:fillRect/>
          </a:stretch>
        </p:blipFill>
        <p:spPr>
          <a:xfrm>
            <a:off x="9837650" y="4704947"/>
            <a:ext cx="2418358" cy="2153053"/>
          </a:xfrm>
          <a:prstGeom prst="rect">
            <a:avLst/>
          </a:prstGeom>
        </p:spPr>
      </p:pic>
      <p:sp>
        <p:nvSpPr>
          <p:cNvPr id="6" name="Rectangle 5">
            <a:extLst>
              <a:ext uri="{FF2B5EF4-FFF2-40B4-BE49-F238E27FC236}">
                <a16:creationId xmlns:a16="http://schemas.microsoft.com/office/drawing/2014/main" id="{AD684466-82A4-5A20-3858-E26D3DED1825}"/>
              </a:ext>
            </a:extLst>
          </p:cNvPr>
          <p:cNvSpPr/>
          <p:nvPr/>
        </p:nvSpPr>
        <p:spPr>
          <a:xfrm rot="14650361">
            <a:off x="11196297" y="5921833"/>
            <a:ext cx="493776" cy="994581"/>
          </a:xfrm>
          <a:prstGeom prst="rect">
            <a:avLst/>
          </a:prstGeom>
          <a:no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274CE8A-94BA-0F60-55CF-3BB0D047D456}"/>
              </a:ext>
            </a:extLst>
          </p:cNvPr>
          <p:cNvSpPr txBox="1"/>
          <p:nvPr/>
        </p:nvSpPr>
        <p:spPr>
          <a:xfrm>
            <a:off x="11569149" y="9525"/>
            <a:ext cx="608910" cy="307777"/>
          </a:xfrm>
          <a:prstGeom prst="rect">
            <a:avLst/>
          </a:prstGeom>
          <a:noFill/>
        </p:spPr>
        <p:txBody>
          <a:bodyPr wrap="square" rtlCol="0">
            <a:spAutoFit/>
          </a:bodyPr>
          <a:lstStyle/>
          <a:p>
            <a:pPr algn="r"/>
            <a:r>
              <a:rPr lang="en-US" sz="1400" dirty="0"/>
              <a:t>Zoey</a:t>
            </a:r>
          </a:p>
        </p:txBody>
      </p:sp>
      <p:pic>
        <p:nvPicPr>
          <p:cNvPr id="7" name="Content Placeholder 4">
            <a:extLst>
              <a:ext uri="{FF2B5EF4-FFF2-40B4-BE49-F238E27FC236}">
                <a16:creationId xmlns:a16="http://schemas.microsoft.com/office/drawing/2014/main" id="{7C2DCCC1-1712-310C-231E-4D3BEB1521EA}"/>
              </a:ext>
            </a:extLst>
          </p:cNvPr>
          <p:cNvPicPr>
            <a:picLocks noChangeAspect="1"/>
          </p:cNvPicPr>
          <p:nvPr/>
        </p:nvPicPr>
        <p:blipFill>
          <a:blip r:embed="rId4"/>
          <a:stretch>
            <a:fillRect/>
          </a:stretch>
        </p:blipFill>
        <p:spPr>
          <a:xfrm>
            <a:off x="1938162" y="3736540"/>
            <a:ext cx="3584448" cy="3121460"/>
          </a:xfrm>
          <a:prstGeom prst="rect">
            <a:avLst/>
          </a:prstGeom>
        </p:spPr>
      </p:pic>
    </p:spTree>
    <p:extLst>
      <p:ext uri="{BB962C8B-B14F-4D97-AF65-F5344CB8AC3E}">
        <p14:creationId xmlns:p14="http://schemas.microsoft.com/office/powerpoint/2010/main" val="41151171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2FF71-5FF3-ACBC-363C-A7CE04717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F6A710-E808-F060-8603-D3CFDDF3DAEF}"/>
              </a:ext>
            </a:extLst>
          </p:cNvPr>
          <p:cNvSpPr>
            <a:spLocks noGrp="1"/>
          </p:cNvSpPr>
          <p:nvPr>
            <p:ph type="title"/>
          </p:nvPr>
        </p:nvSpPr>
        <p:spPr/>
        <p:txBody>
          <a:bodyPr>
            <a:normAutofit/>
          </a:bodyPr>
          <a:lstStyle/>
          <a:p>
            <a:r>
              <a:rPr lang="en-US" b="1" dirty="0"/>
              <a:t>Create</a:t>
            </a:r>
            <a:r>
              <a:rPr lang="en-US" dirty="0"/>
              <a:t>/ Egyptian Civilization</a:t>
            </a:r>
          </a:p>
        </p:txBody>
      </p:sp>
      <p:sp>
        <p:nvSpPr>
          <p:cNvPr id="3" name="Content Placeholder 2">
            <a:extLst>
              <a:ext uri="{FF2B5EF4-FFF2-40B4-BE49-F238E27FC236}">
                <a16:creationId xmlns:a16="http://schemas.microsoft.com/office/drawing/2014/main" id="{0A58EBF1-7530-945B-8702-7D1C62167A72}"/>
              </a:ext>
            </a:extLst>
          </p:cNvPr>
          <p:cNvSpPr>
            <a:spLocks noGrp="1"/>
          </p:cNvSpPr>
          <p:nvPr>
            <p:ph idx="1"/>
          </p:nvPr>
        </p:nvSpPr>
        <p:spPr/>
        <p:txBody>
          <a:bodyPr/>
          <a:lstStyle/>
          <a:p>
            <a:r>
              <a:rPr lang="en-US" dirty="0"/>
              <a:t>Egyptian women crushed lapis lazuli </a:t>
            </a:r>
          </a:p>
          <a:p>
            <a:r>
              <a:rPr lang="en-US" dirty="0"/>
              <a:t>Heating a mixture of crushed limestone, sand, and copper-bearing minerals like azurite or malachite to make a blue color</a:t>
            </a:r>
          </a:p>
          <a:p>
            <a:endParaRPr lang="en-US" dirty="0"/>
          </a:p>
          <a:p>
            <a:endParaRPr lang="en-US" dirty="0"/>
          </a:p>
        </p:txBody>
      </p:sp>
      <p:pic>
        <p:nvPicPr>
          <p:cNvPr id="6" name="Picture 5">
            <a:extLst>
              <a:ext uri="{FF2B5EF4-FFF2-40B4-BE49-F238E27FC236}">
                <a16:creationId xmlns:a16="http://schemas.microsoft.com/office/drawing/2014/main" id="{7F0110FD-AE2E-243A-3214-8A7884152C6B}"/>
              </a:ext>
            </a:extLst>
          </p:cNvPr>
          <p:cNvPicPr>
            <a:picLocks noChangeAspect="1"/>
          </p:cNvPicPr>
          <p:nvPr/>
        </p:nvPicPr>
        <p:blipFill>
          <a:blip r:embed="rId3"/>
          <a:stretch>
            <a:fillRect/>
          </a:stretch>
        </p:blipFill>
        <p:spPr>
          <a:xfrm>
            <a:off x="9773642" y="4704947"/>
            <a:ext cx="2418358" cy="2153053"/>
          </a:xfrm>
          <a:prstGeom prst="rect">
            <a:avLst/>
          </a:prstGeom>
        </p:spPr>
      </p:pic>
      <p:sp>
        <p:nvSpPr>
          <p:cNvPr id="8" name="Rectangle 7">
            <a:extLst>
              <a:ext uri="{FF2B5EF4-FFF2-40B4-BE49-F238E27FC236}">
                <a16:creationId xmlns:a16="http://schemas.microsoft.com/office/drawing/2014/main" id="{199A9338-486A-F014-4EB1-EE68012F28DF}"/>
              </a:ext>
            </a:extLst>
          </p:cNvPr>
          <p:cNvSpPr/>
          <p:nvPr/>
        </p:nvSpPr>
        <p:spPr>
          <a:xfrm rot="14650361">
            <a:off x="11196297" y="5921833"/>
            <a:ext cx="493776" cy="994581"/>
          </a:xfrm>
          <a:prstGeom prst="rect">
            <a:avLst/>
          </a:prstGeom>
          <a:no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7A7B1D1-43E8-C50A-43A2-70DD4F55A87F}"/>
              </a:ext>
            </a:extLst>
          </p:cNvPr>
          <p:cNvSpPr txBox="1"/>
          <p:nvPr/>
        </p:nvSpPr>
        <p:spPr>
          <a:xfrm>
            <a:off x="9912096" y="576072"/>
            <a:ext cx="1737360" cy="646331"/>
          </a:xfrm>
          <a:prstGeom prst="rect">
            <a:avLst/>
          </a:prstGeom>
          <a:noFill/>
          <a:ln w="25400">
            <a:solidFill>
              <a:schemeClr val="tx1"/>
            </a:solidFill>
          </a:ln>
        </p:spPr>
        <p:txBody>
          <a:bodyPr wrap="square" rtlCol="0">
            <a:spAutoFit/>
          </a:bodyPr>
          <a:lstStyle/>
          <a:p>
            <a:pPr algn="ctr"/>
            <a:r>
              <a:rPr lang="en-US" b="1" dirty="0"/>
              <a:t>Artificial Dye</a:t>
            </a:r>
          </a:p>
          <a:p>
            <a:pPr algn="ctr"/>
            <a:r>
              <a:rPr lang="en-US" dirty="0">
                <a:highlight>
                  <a:srgbClr val="00FFFF"/>
                </a:highlight>
              </a:rPr>
              <a:t>Blue 1</a:t>
            </a:r>
          </a:p>
        </p:txBody>
      </p:sp>
      <p:pic>
        <p:nvPicPr>
          <p:cNvPr id="1028" name="Picture 4" descr="FD&amp;C Blue 1 Alum Lake">
            <a:extLst>
              <a:ext uri="{FF2B5EF4-FFF2-40B4-BE49-F238E27FC236}">
                <a16:creationId xmlns:a16="http://schemas.microsoft.com/office/drawing/2014/main" id="{C0B96F18-150A-ED32-257E-C332C9AD47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85102" y="4001294"/>
            <a:ext cx="2530411" cy="253041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F937E1B-4155-6B8C-4716-81C628518695}"/>
              </a:ext>
            </a:extLst>
          </p:cNvPr>
          <p:cNvSpPr txBox="1"/>
          <p:nvPr/>
        </p:nvSpPr>
        <p:spPr>
          <a:xfrm>
            <a:off x="11353801" y="9525"/>
            <a:ext cx="824258" cy="307777"/>
          </a:xfrm>
          <a:prstGeom prst="rect">
            <a:avLst/>
          </a:prstGeom>
          <a:noFill/>
        </p:spPr>
        <p:txBody>
          <a:bodyPr wrap="square" rtlCol="0">
            <a:spAutoFit/>
          </a:bodyPr>
          <a:lstStyle/>
          <a:p>
            <a:pPr algn="r"/>
            <a:r>
              <a:rPr lang="en-US" sz="1400" dirty="0"/>
              <a:t>Saanvi</a:t>
            </a:r>
          </a:p>
        </p:txBody>
      </p:sp>
      <p:pic>
        <p:nvPicPr>
          <p:cNvPr id="9" name="Picture 8">
            <a:extLst>
              <a:ext uri="{FF2B5EF4-FFF2-40B4-BE49-F238E27FC236}">
                <a16:creationId xmlns:a16="http://schemas.microsoft.com/office/drawing/2014/main" id="{0D5E4517-8C32-AE63-1D7C-0618AE6B4157}"/>
              </a:ext>
            </a:extLst>
          </p:cNvPr>
          <p:cNvPicPr>
            <a:picLocks noChangeAspect="1"/>
          </p:cNvPicPr>
          <p:nvPr/>
        </p:nvPicPr>
        <p:blipFill>
          <a:blip r:embed="rId5"/>
          <a:stretch>
            <a:fillRect/>
          </a:stretch>
        </p:blipFill>
        <p:spPr>
          <a:xfrm>
            <a:off x="1419430" y="3603908"/>
            <a:ext cx="2997135" cy="2815215"/>
          </a:xfrm>
          <a:prstGeom prst="rect">
            <a:avLst/>
          </a:prstGeom>
        </p:spPr>
      </p:pic>
    </p:spTree>
    <p:extLst>
      <p:ext uri="{BB962C8B-B14F-4D97-AF65-F5344CB8AC3E}">
        <p14:creationId xmlns:p14="http://schemas.microsoft.com/office/powerpoint/2010/main" val="13854902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57D4A-E573-8819-AA99-E8EF81613C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EA9565-E19F-0FDE-59FF-A9618698F67C}"/>
              </a:ext>
            </a:extLst>
          </p:cNvPr>
          <p:cNvSpPr>
            <a:spLocks noGrp="1"/>
          </p:cNvSpPr>
          <p:nvPr>
            <p:ph type="title"/>
          </p:nvPr>
        </p:nvSpPr>
        <p:spPr/>
        <p:txBody>
          <a:bodyPr>
            <a:normAutofit/>
          </a:bodyPr>
          <a:lstStyle/>
          <a:p>
            <a:r>
              <a:rPr lang="en-US" b="1" dirty="0"/>
              <a:t>Create</a:t>
            </a:r>
            <a:r>
              <a:rPr lang="en-US" dirty="0"/>
              <a:t>/ Indus River Valley Civilization</a:t>
            </a:r>
          </a:p>
        </p:txBody>
      </p:sp>
      <p:sp>
        <p:nvSpPr>
          <p:cNvPr id="3" name="Content Placeholder 2">
            <a:extLst>
              <a:ext uri="{FF2B5EF4-FFF2-40B4-BE49-F238E27FC236}">
                <a16:creationId xmlns:a16="http://schemas.microsoft.com/office/drawing/2014/main" id="{FB3E04F3-CBE7-2D31-9109-ADBFBAFA2F7B}"/>
              </a:ext>
            </a:extLst>
          </p:cNvPr>
          <p:cNvSpPr>
            <a:spLocks noGrp="1"/>
          </p:cNvSpPr>
          <p:nvPr>
            <p:ph idx="1"/>
          </p:nvPr>
        </p:nvSpPr>
        <p:spPr/>
        <p:txBody>
          <a:bodyPr/>
          <a:lstStyle/>
          <a:p>
            <a:r>
              <a:rPr lang="en-US" dirty="0"/>
              <a:t>Used turmeric to create yellow dye</a:t>
            </a:r>
          </a:p>
          <a:p>
            <a:pPr lvl="1"/>
            <a:r>
              <a:rPr lang="en-US" b="1" dirty="0"/>
              <a:t>Turmeric rhizomes</a:t>
            </a:r>
            <a:r>
              <a:rPr lang="en-US" dirty="0"/>
              <a:t> were dug up, cleaned, boiled, and dried and crushed the cleaned Turmeric</a:t>
            </a:r>
          </a:p>
          <a:p>
            <a:pPr lvl="1"/>
            <a:r>
              <a:rPr lang="en-US" dirty="0"/>
              <a:t>The fabric would then be </a:t>
            </a:r>
            <a:r>
              <a:rPr lang="en-US" b="1" dirty="0"/>
              <a:t>soaked in the dye bath</a:t>
            </a:r>
            <a:r>
              <a:rPr lang="en-US" dirty="0"/>
              <a:t>, allowing the color to absorb into the fibers</a:t>
            </a:r>
          </a:p>
        </p:txBody>
      </p:sp>
      <p:sp>
        <p:nvSpPr>
          <p:cNvPr id="4" name="TextBox 3">
            <a:extLst>
              <a:ext uri="{FF2B5EF4-FFF2-40B4-BE49-F238E27FC236}">
                <a16:creationId xmlns:a16="http://schemas.microsoft.com/office/drawing/2014/main" id="{515DC30C-67B0-8751-E36D-BDFC5CC14308}"/>
              </a:ext>
            </a:extLst>
          </p:cNvPr>
          <p:cNvSpPr txBox="1"/>
          <p:nvPr/>
        </p:nvSpPr>
        <p:spPr>
          <a:xfrm>
            <a:off x="9912096" y="576072"/>
            <a:ext cx="1737360" cy="646331"/>
          </a:xfrm>
          <a:prstGeom prst="rect">
            <a:avLst/>
          </a:prstGeom>
          <a:noFill/>
          <a:ln w="25400">
            <a:solidFill>
              <a:schemeClr val="tx1"/>
            </a:solidFill>
          </a:ln>
        </p:spPr>
        <p:txBody>
          <a:bodyPr wrap="square" rtlCol="0">
            <a:spAutoFit/>
          </a:bodyPr>
          <a:lstStyle/>
          <a:p>
            <a:pPr algn="ctr"/>
            <a:r>
              <a:rPr lang="en-US" b="1" dirty="0"/>
              <a:t>Artificial Dye</a:t>
            </a:r>
          </a:p>
          <a:p>
            <a:pPr algn="ctr"/>
            <a:r>
              <a:rPr lang="en-US" dirty="0">
                <a:highlight>
                  <a:srgbClr val="FFFF00"/>
                </a:highlight>
              </a:rPr>
              <a:t>Yellow 5</a:t>
            </a:r>
          </a:p>
        </p:txBody>
      </p:sp>
      <p:pic>
        <p:nvPicPr>
          <p:cNvPr id="5" name="Picture 4">
            <a:extLst>
              <a:ext uri="{FF2B5EF4-FFF2-40B4-BE49-F238E27FC236}">
                <a16:creationId xmlns:a16="http://schemas.microsoft.com/office/drawing/2014/main" id="{594EF5D9-A453-0A68-27C0-A1F89D86FC01}"/>
              </a:ext>
            </a:extLst>
          </p:cNvPr>
          <p:cNvPicPr>
            <a:picLocks noChangeAspect="1"/>
          </p:cNvPicPr>
          <p:nvPr/>
        </p:nvPicPr>
        <p:blipFill>
          <a:blip r:embed="rId3"/>
          <a:stretch>
            <a:fillRect/>
          </a:stretch>
        </p:blipFill>
        <p:spPr>
          <a:xfrm>
            <a:off x="9773642" y="4704947"/>
            <a:ext cx="2418358" cy="2153053"/>
          </a:xfrm>
          <a:prstGeom prst="rect">
            <a:avLst/>
          </a:prstGeom>
        </p:spPr>
      </p:pic>
      <p:sp>
        <p:nvSpPr>
          <p:cNvPr id="6" name="Rectangle 5">
            <a:extLst>
              <a:ext uri="{FF2B5EF4-FFF2-40B4-BE49-F238E27FC236}">
                <a16:creationId xmlns:a16="http://schemas.microsoft.com/office/drawing/2014/main" id="{D03ADAD3-E25C-FFAC-86B9-DCADDB9E3ADA}"/>
              </a:ext>
            </a:extLst>
          </p:cNvPr>
          <p:cNvSpPr/>
          <p:nvPr/>
        </p:nvSpPr>
        <p:spPr>
          <a:xfrm rot="14650361">
            <a:off x="11196297" y="5921833"/>
            <a:ext cx="493776" cy="994581"/>
          </a:xfrm>
          <a:prstGeom prst="rect">
            <a:avLst/>
          </a:prstGeom>
          <a:no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B00B2D5-6B4A-4253-56CF-E6DBA5410A68}"/>
              </a:ext>
            </a:extLst>
          </p:cNvPr>
          <p:cNvSpPr txBox="1"/>
          <p:nvPr/>
        </p:nvSpPr>
        <p:spPr>
          <a:xfrm>
            <a:off x="11353801" y="9525"/>
            <a:ext cx="824258" cy="307777"/>
          </a:xfrm>
          <a:prstGeom prst="rect">
            <a:avLst/>
          </a:prstGeom>
          <a:noFill/>
        </p:spPr>
        <p:txBody>
          <a:bodyPr wrap="square" rtlCol="0">
            <a:spAutoFit/>
          </a:bodyPr>
          <a:lstStyle/>
          <a:p>
            <a:pPr algn="r"/>
            <a:r>
              <a:rPr lang="en-US" sz="1400" dirty="0"/>
              <a:t>Saanvi</a:t>
            </a:r>
          </a:p>
        </p:txBody>
      </p:sp>
      <p:pic>
        <p:nvPicPr>
          <p:cNvPr id="9" name="Picture 8">
            <a:extLst>
              <a:ext uri="{FF2B5EF4-FFF2-40B4-BE49-F238E27FC236}">
                <a16:creationId xmlns:a16="http://schemas.microsoft.com/office/drawing/2014/main" id="{35443C77-4B0F-59E7-4E4D-D9BAFCA77221}"/>
              </a:ext>
            </a:extLst>
          </p:cNvPr>
          <p:cNvPicPr>
            <a:picLocks noChangeAspect="1"/>
          </p:cNvPicPr>
          <p:nvPr/>
        </p:nvPicPr>
        <p:blipFill>
          <a:blip r:embed="rId4"/>
          <a:stretch>
            <a:fillRect/>
          </a:stretch>
        </p:blipFill>
        <p:spPr>
          <a:xfrm>
            <a:off x="2789912" y="3746381"/>
            <a:ext cx="4252081" cy="2783737"/>
          </a:xfrm>
          <a:prstGeom prst="rect">
            <a:avLst/>
          </a:prstGeom>
        </p:spPr>
      </p:pic>
    </p:spTree>
    <p:extLst>
      <p:ext uri="{BB962C8B-B14F-4D97-AF65-F5344CB8AC3E}">
        <p14:creationId xmlns:p14="http://schemas.microsoft.com/office/powerpoint/2010/main" val="1357372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A49B2-24BD-925B-15BE-19466D6547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2E33BA-D91C-1E9F-A331-47C58004DD42}"/>
              </a:ext>
            </a:extLst>
          </p:cNvPr>
          <p:cNvSpPr>
            <a:spLocks noGrp="1"/>
          </p:cNvSpPr>
          <p:nvPr>
            <p:ph type="title"/>
          </p:nvPr>
        </p:nvSpPr>
        <p:spPr/>
        <p:txBody>
          <a:bodyPr>
            <a:normAutofit/>
          </a:bodyPr>
          <a:lstStyle/>
          <a:p>
            <a:r>
              <a:rPr lang="en-US" b="1" dirty="0"/>
              <a:t>Create</a:t>
            </a:r>
            <a:r>
              <a:rPr lang="en-US" dirty="0"/>
              <a:t>/ Chinese Civilization</a:t>
            </a:r>
          </a:p>
        </p:txBody>
      </p:sp>
      <p:sp>
        <p:nvSpPr>
          <p:cNvPr id="3" name="Content Placeholder 2">
            <a:extLst>
              <a:ext uri="{FF2B5EF4-FFF2-40B4-BE49-F238E27FC236}">
                <a16:creationId xmlns:a16="http://schemas.microsoft.com/office/drawing/2014/main" id="{C292B9F2-999C-B388-6041-84CE1CEB6738}"/>
              </a:ext>
            </a:extLst>
          </p:cNvPr>
          <p:cNvSpPr>
            <a:spLocks noGrp="1"/>
          </p:cNvSpPr>
          <p:nvPr>
            <p:ph idx="1"/>
          </p:nvPr>
        </p:nvSpPr>
        <p:spPr/>
        <p:txBody>
          <a:bodyPr/>
          <a:lstStyle/>
          <a:p>
            <a:r>
              <a:rPr lang="en-US" dirty="0"/>
              <a:t>Crushed matcha leaves to make green powder</a:t>
            </a:r>
          </a:p>
        </p:txBody>
      </p:sp>
      <p:pic>
        <p:nvPicPr>
          <p:cNvPr id="5" name="Picture 4">
            <a:extLst>
              <a:ext uri="{FF2B5EF4-FFF2-40B4-BE49-F238E27FC236}">
                <a16:creationId xmlns:a16="http://schemas.microsoft.com/office/drawing/2014/main" id="{95F02276-E34F-937A-D10F-12BAA0AA73D5}"/>
              </a:ext>
            </a:extLst>
          </p:cNvPr>
          <p:cNvPicPr>
            <a:picLocks noChangeAspect="1"/>
          </p:cNvPicPr>
          <p:nvPr/>
        </p:nvPicPr>
        <p:blipFill>
          <a:blip r:embed="rId3"/>
          <a:stretch>
            <a:fillRect/>
          </a:stretch>
        </p:blipFill>
        <p:spPr>
          <a:xfrm>
            <a:off x="9773642" y="4704947"/>
            <a:ext cx="2418358" cy="2153053"/>
          </a:xfrm>
          <a:prstGeom prst="rect">
            <a:avLst/>
          </a:prstGeom>
        </p:spPr>
      </p:pic>
      <p:sp>
        <p:nvSpPr>
          <p:cNvPr id="6" name="Rectangle 5">
            <a:extLst>
              <a:ext uri="{FF2B5EF4-FFF2-40B4-BE49-F238E27FC236}">
                <a16:creationId xmlns:a16="http://schemas.microsoft.com/office/drawing/2014/main" id="{89447B40-F09A-21E1-E2C2-9D8F150788E6}"/>
              </a:ext>
            </a:extLst>
          </p:cNvPr>
          <p:cNvSpPr/>
          <p:nvPr/>
        </p:nvSpPr>
        <p:spPr>
          <a:xfrm rot="14650361">
            <a:off x="11196297" y="5921833"/>
            <a:ext cx="493776" cy="994581"/>
          </a:xfrm>
          <a:prstGeom prst="rect">
            <a:avLst/>
          </a:prstGeom>
          <a:no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2479571-A6C0-9F84-4E73-77692F39ACF0}"/>
              </a:ext>
            </a:extLst>
          </p:cNvPr>
          <p:cNvSpPr txBox="1"/>
          <p:nvPr/>
        </p:nvSpPr>
        <p:spPr>
          <a:xfrm>
            <a:off x="9912096" y="576072"/>
            <a:ext cx="1737360" cy="646331"/>
          </a:xfrm>
          <a:prstGeom prst="rect">
            <a:avLst/>
          </a:prstGeom>
          <a:noFill/>
          <a:ln w="25400">
            <a:solidFill>
              <a:schemeClr val="tx1"/>
            </a:solidFill>
          </a:ln>
        </p:spPr>
        <p:txBody>
          <a:bodyPr wrap="square" rtlCol="0">
            <a:spAutoFit/>
          </a:bodyPr>
          <a:lstStyle/>
          <a:p>
            <a:pPr algn="ctr"/>
            <a:r>
              <a:rPr lang="en-US" b="1" dirty="0"/>
              <a:t>Artificial Dye</a:t>
            </a:r>
          </a:p>
          <a:p>
            <a:pPr algn="ctr"/>
            <a:r>
              <a:rPr lang="en-US" dirty="0">
                <a:highlight>
                  <a:srgbClr val="00FF00"/>
                </a:highlight>
              </a:rPr>
              <a:t>Green 3</a:t>
            </a:r>
          </a:p>
        </p:txBody>
      </p:sp>
      <p:sp>
        <p:nvSpPr>
          <p:cNvPr id="4" name="TextBox 3">
            <a:extLst>
              <a:ext uri="{FF2B5EF4-FFF2-40B4-BE49-F238E27FC236}">
                <a16:creationId xmlns:a16="http://schemas.microsoft.com/office/drawing/2014/main" id="{E4B2D0D5-A8F5-6441-B9D4-8B4A8BA6F27E}"/>
              </a:ext>
            </a:extLst>
          </p:cNvPr>
          <p:cNvSpPr txBox="1"/>
          <p:nvPr/>
        </p:nvSpPr>
        <p:spPr>
          <a:xfrm>
            <a:off x="11265409" y="9525"/>
            <a:ext cx="912650" cy="307777"/>
          </a:xfrm>
          <a:prstGeom prst="rect">
            <a:avLst/>
          </a:prstGeom>
          <a:noFill/>
        </p:spPr>
        <p:txBody>
          <a:bodyPr wrap="square" rtlCol="0">
            <a:spAutoFit/>
          </a:bodyPr>
          <a:lstStyle/>
          <a:p>
            <a:pPr algn="r"/>
            <a:r>
              <a:rPr lang="en-US" sz="1400" dirty="0"/>
              <a:t>Saumya</a:t>
            </a:r>
          </a:p>
        </p:txBody>
      </p:sp>
      <p:pic>
        <p:nvPicPr>
          <p:cNvPr id="9" name="Picture 8">
            <a:extLst>
              <a:ext uri="{FF2B5EF4-FFF2-40B4-BE49-F238E27FC236}">
                <a16:creationId xmlns:a16="http://schemas.microsoft.com/office/drawing/2014/main" id="{72BFBB69-1CE8-6897-DCAE-5ADA68E63308}"/>
              </a:ext>
            </a:extLst>
          </p:cNvPr>
          <p:cNvPicPr>
            <a:picLocks noChangeAspect="1"/>
          </p:cNvPicPr>
          <p:nvPr/>
        </p:nvPicPr>
        <p:blipFill>
          <a:blip r:embed="rId4"/>
          <a:stretch>
            <a:fillRect/>
          </a:stretch>
        </p:blipFill>
        <p:spPr>
          <a:xfrm>
            <a:off x="1440180" y="2748381"/>
            <a:ext cx="5287094" cy="3312209"/>
          </a:xfrm>
          <a:prstGeom prst="rect">
            <a:avLst/>
          </a:prstGeom>
        </p:spPr>
      </p:pic>
    </p:spTree>
    <p:extLst>
      <p:ext uri="{BB962C8B-B14F-4D97-AF65-F5344CB8AC3E}">
        <p14:creationId xmlns:p14="http://schemas.microsoft.com/office/powerpoint/2010/main" val="34956569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6B338-EE5C-DF32-C21A-76C2E332BA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355E19-876D-C276-0AEC-9E54BD99059C}"/>
              </a:ext>
            </a:extLst>
          </p:cNvPr>
          <p:cNvSpPr>
            <a:spLocks noGrp="1"/>
          </p:cNvSpPr>
          <p:nvPr>
            <p:ph type="title"/>
          </p:nvPr>
        </p:nvSpPr>
        <p:spPr/>
        <p:txBody>
          <a:bodyPr>
            <a:normAutofit/>
          </a:bodyPr>
          <a:lstStyle/>
          <a:p>
            <a:r>
              <a:rPr lang="en-US" b="1" dirty="0"/>
              <a:t>Create</a:t>
            </a:r>
            <a:r>
              <a:rPr lang="en-US" dirty="0"/>
              <a:t>/ Aztec &amp; Maya Civilization</a:t>
            </a:r>
          </a:p>
        </p:txBody>
      </p:sp>
      <p:sp>
        <p:nvSpPr>
          <p:cNvPr id="3" name="Content Placeholder 2">
            <a:extLst>
              <a:ext uri="{FF2B5EF4-FFF2-40B4-BE49-F238E27FC236}">
                <a16:creationId xmlns:a16="http://schemas.microsoft.com/office/drawing/2014/main" id="{E321A689-8533-F1DC-8A29-9B87B7D91440}"/>
              </a:ext>
            </a:extLst>
          </p:cNvPr>
          <p:cNvSpPr>
            <a:spLocks noGrp="1"/>
          </p:cNvSpPr>
          <p:nvPr>
            <p:ph idx="1"/>
          </p:nvPr>
        </p:nvSpPr>
        <p:spPr/>
        <p:txBody>
          <a:bodyPr/>
          <a:lstStyle/>
          <a:p>
            <a:r>
              <a:rPr lang="en-US" dirty="0"/>
              <a:t>In the Maya civilization they used cochineal insects and hematite to create a vibrant red color</a:t>
            </a:r>
          </a:p>
        </p:txBody>
      </p:sp>
      <p:pic>
        <p:nvPicPr>
          <p:cNvPr id="5" name="Picture 4">
            <a:extLst>
              <a:ext uri="{FF2B5EF4-FFF2-40B4-BE49-F238E27FC236}">
                <a16:creationId xmlns:a16="http://schemas.microsoft.com/office/drawing/2014/main" id="{8E258119-89A8-0CE5-E5D6-43D5BF86B167}"/>
              </a:ext>
            </a:extLst>
          </p:cNvPr>
          <p:cNvPicPr>
            <a:picLocks noChangeAspect="1"/>
          </p:cNvPicPr>
          <p:nvPr/>
        </p:nvPicPr>
        <p:blipFill>
          <a:blip r:embed="rId3"/>
          <a:stretch>
            <a:fillRect/>
          </a:stretch>
        </p:blipFill>
        <p:spPr>
          <a:xfrm>
            <a:off x="9773642" y="4704947"/>
            <a:ext cx="2418358" cy="2153053"/>
          </a:xfrm>
          <a:prstGeom prst="rect">
            <a:avLst/>
          </a:prstGeom>
        </p:spPr>
      </p:pic>
      <p:sp>
        <p:nvSpPr>
          <p:cNvPr id="6" name="Rectangle 5">
            <a:extLst>
              <a:ext uri="{FF2B5EF4-FFF2-40B4-BE49-F238E27FC236}">
                <a16:creationId xmlns:a16="http://schemas.microsoft.com/office/drawing/2014/main" id="{4E57C9B7-81FD-1CE3-38C6-030E9BDD8CB9}"/>
              </a:ext>
            </a:extLst>
          </p:cNvPr>
          <p:cNvSpPr/>
          <p:nvPr/>
        </p:nvSpPr>
        <p:spPr>
          <a:xfrm rot="14650361">
            <a:off x="11196297" y="5921833"/>
            <a:ext cx="493776" cy="994581"/>
          </a:xfrm>
          <a:prstGeom prst="rect">
            <a:avLst/>
          </a:prstGeom>
          <a:no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D7B16AFF-7DAD-B81F-2612-B7326D38383F}"/>
              </a:ext>
            </a:extLst>
          </p:cNvPr>
          <p:cNvSpPr txBox="1"/>
          <p:nvPr/>
        </p:nvSpPr>
        <p:spPr>
          <a:xfrm>
            <a:off x="9912096" y="576072"/>
            <a:ext cx="1737360" cy="646331"/>
          </a:xfrm>
          <a:prstGeom prst="rect">
            <a:avLst/>
          </a:prstGeom>
          <a:noFill/>
          <a:ln w="25400">
            <a:solidFill>
              <a:schemeClr val="tx1"/>
            </a:solidFill>
          </a:ln>
        </p:spPr>
        <p:txBody>
          <a:bodyPr wrap="square" rtlCol="0">
            <a:spAutoFit/>
          </a:bodyPr>
          <a:lstStyle/>
          <a:p>
            <a:pPr algn="ctr"/>
            <a:r>
              <a:rPr lang="en-US" b="1" dirty="0"/>
              <a:t>Artificial Dye</a:t>
            </a:r>
          </a:p>
          <a:p>
            <a:pPr algn="ctr"/>
            <a:r>
              <a:rPr lang="en-US" dirty="0">
                <a:highlight>
                  <a:srgbClr val="FF0000"/>
                </a:highlight>
              </a:rPr>
              <a:t>Red 40</a:t>
            </a:r>
          </a:p>
        </p:txBody>
      </p:sp>
      <p:sp>
        <p:nvSpPr>
          <p:cNvPr id="4" name="TextBox 3">
            <a:extLst>
              <a:ext uri="{FF2B5EF4-FFF2-40B4-BE49-F238E27FC236}">
                <a16:creationId xmlns:a16="http://schemas.microsoft.com/office/drawing/2014/main" id="{9A811250-BAE5-9A19-8A19-5AD4F0B7CA71}"/>
              </a:ext>
            </a:extLst>
          </p:cNvPr>
          <p:cNvSpPr txBox="1"/>
          <p:nvPr/>
        </p:nvSpPr>
        <p:spPr>
          <a:xfrm>
            <a:off x="11353801" y="9525"/>
            <a:ext cx="824258" cy="307777"/>
          </a:xfrm>
          <a:prstGeom prst="rect">
            <a:avLst/>
          </a:prstGeom>
          <a:noFill/>
        </p:spPr>
        <p:txBody>
          <a:bodyPr wrap="square" rtlCol="0">
            <a:spAutoFit/>
          </a:bodyPr>
          <a:lstStyle/>
          <a:p>
            <a:pPr algn="r"/>
            <a:r>
              <a:rPr lang="en-US" sz="1400" dirty="0"/>
              <a:t>Saumya</a:t>
            </a:r>
          </a:p>
        </p:txBody>
      </p:sp>
      <p:pic>
        <p:nvPicPr>
          <p:cNvPr id="9" name="Picture 8">
            <a:extLst>
              <a:ext uri="{FF2B5EF4-FFF2-40B4-BE49-F238E27FC236}">
                <a16:creationId xmlns:a16="http://schemas.microsoft.com/office/drawing/2014/main" id="{668C725D-7D46-F60E-A015-9ABE51662FBB}"/>
              </a:ext>
            </a:extLst>
          </p:cNvPr>
          <p:cNvPicPr>
            <a:picLocks noChangeAspect="1"/>
          </p:cNvPicPr>
          <p:nvPr/>
        </p:nvPicPr>
        <p:blipFill>
          <a:blip r:embed="rId4"/>
          <a:stretch>
            <a:fillRect/>
          </a:stretch>
        </p:blipFill>
        <p:spPr>
          <a:xfrm>
            <a:off x="1439576" y="3090014"/>
            <a:ext cx="4390627" cy="2890233"/>
          </a:xfrm>
          <a:prstGeom prst="rect">
            <a:avLst/>
          </a:prstGeom>
        </p:spPr>
      </p:pic>
    </p:spTree>
    <p:extLst>
      <p:ext uri="{BB962C8B-B14F-4D97-AF65-F5344CB8AC3E}">
        <p14:creationId xmlns:p14="http://schemas.microsoft.com/office/powerpoint/2010/main" val="8087028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A057A-F055-3DC1-EEED-486AAA2D6C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F3E989-0B98-33C6-899F-C7AD207D2F40}"/>
              </a:ext>
            </a:extLst>
          </p:cNvPr>
          <p:cNvSpPr>
            <a:spLocks noGrp="1"/>
          </p:cNvSpPr>
          <p:nvPr>
            <p:ph type="title"/>
          </p:nvPr>
        </p:nvSpPr>
        <p:spPr/>
        <p:txBody>
          <a:bodyPr>
            <a:normAutofit/>
          </a:bodyPr>
          <a:lstStyle/>
          <a:p>
            <a:r>
              <a:rPr lang="en-US" b="1" dirty="0"/>
              <a:t>Create</a:t>
            </a:r>
            <a:r>
              <a:rPr lang="en-US" dirty="0"/>
              <a:t>/ Greece Civilization</a:t>
            </a:r>
          </a:p>
        </p:txBody>
      </p:sp>
      <p:sp>
        <p:nvSpPr>
          <p:cNvPr id="3" name="Content Placeholder 2">
            <a:extLst>
              <a:ext uri="{FF2B5EF4-FFF2-40B4-BE49-F238E27FC236}">
                <a16:creationId xmlns:a16="http://schemas.microsoft.com/office/drawing/2014/main" id="{A8361126-4FB4-FDDF-6353-D6FC8245D0E1}"/>
              </a:ext>
            </a:extLst>
          </p:cNvPr>
          <p:cNvSpPr>
            <a:spLocks noGrp="1"/>
          </p:cNvSpPr>
          <p:nvPr>
            <p:ph idx="1"/>
          </p:nvPr>
        </p:nvSpPr>
        <p:spPr/>
        <p:txBody>
          <a:bodyPr/>
          <a:lstStyle/>
          <a:p>
            <a:r>
              <a:rPr lang="en-US" dirty="0"/>
              <a:t>People in Greece the mucus glands of specific sea snails, primarily the spiny dye-murex (Murex </a:t>
            </a:r>
            <a:r>
              <a:rPr lang="en-US" dirty="0" err="1"/>
              <a:t>brandaris</a:t>
            </a:r>
            <a:r>
              <a:rPr lang="en-US" dirty="0"/>
              <a:t>) to a purple color</a:t>
            </a:r>
          </a:p>
          <a:p>
            <a:endParaRPr lang="en-US" dirty="0"/>
          </a:p>
        </p:txBody>
      </p:sp>
      <p:pic>
        <p:nvPicPr>
          <p:cNvPr id="5" name="Picture 4">
            <a:extLst>
              <a:ext uri="{FF2B5EF4-FFF2-40B4-BE49-F238E27FC236}">
                <a16:creationId xmlns:a16="http://schemas.microsoft.com/office/drawing/2014/main" id="{7059D971-7889-FDBC-ED42-639F15550F6F}"/>
              </a:ext>
            </a:extLst>
          </p:cNvPr>
          <p:cNvPicPr>
            <a:picLocks noChangeAspect="1"/>
          </p:cNvPicPr>
          <p:nvPr/>
        </p:nvPicPr>
        <p:blipFill>
          <a:blip r:embed="rId3"/>
          <a:stretch>
            <a:fillRect/>
          </a:stretch>
        </p:blipFill>
        <p:spPr>
          <a:xfrm>
            <a:off x="9773642" y="4704947"/>
            <a:ext cx="2418358" cy="2153053"/>
          </a:xfrm>
          <a:prstGeom prst="rect">
            <a:avLst/>
          </a:prstGeom>
        </p:spPr>
      </p:pic>
      <p:sp>
        <p:nvSpPr>
          <p:cNvPr id="6" name="Rectangle 5">
            <a:extLst>
              <a:ext uri="{FF2B5EF4-FFF2-40B4-BE49-F238E27FC236}">
                <a16:creationId xmlns:a16="http://schemas.microsoft.com/office/drawing/2014/main" id="{033BD36C-373D-51EC-E40A-A9E9CED9CF54}"/>
              </a:ext>
            </a:extLst>
          </p:cNvPr>
          <p:cNvSpPr/>
          <p:nvPr/>
        </p:nvSpPr>
        <p:spPr>
          <a:xfrm rot="14650361">
            <a:off x="11196297" y="5921833"/>
            <a:ext cx="493776" cy="994581"/>
          </a:xfrm>
          <a:prstGeom prst="rect">
            <a:avLst/>
          </a:prstGeom>
          <a:no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5C66CB7-93C0-0C31-3171-3A5DBCBE04DB}"/>
              </a:ext>
            </a:extLst>
          </p:cNvPr>
          <p:cNvSpPr txBox="1"/>
          <p:nvPr/>
        </p:nvSpPr>
        <p:spPr>
          <a:xfrm>
            <a:off x="9912095" y="576072"/>
            <a:ext cx="1800175" cy="646331"/>
          </a:xfrm>
          <a:prstGeom prst="rect">
            <a:avLst/>
          </a:prstGeom>
          <a:noFill/>
          <a:ln w="25400">
            <a:solidFill>
              <a:schemeClr val="tx1"/>
            </a:solidFill>
          </a:ln>
        </p:spPr>
        <p:txBody>
          <a:bodyPr wrap="square" rtlCol="0">
            <a:spAutoFit/>
          </a:bodyPr>
          <a:lstStyle/>
          <a:p>
            <a:pPr algn="ctr"/>
            <a:r>
              <a:rPr lang="en-US" b="1" dirty="0"/>
              <a:t>Artificial Dye</a:t>
            </a:r>
          </a:p>
          <a:p>
            <a:pPr algn="ctr"/>
            <a:r>
              <a:rPr lang="en-US" dirty="0">
                <a:highlight>
                  <a:srgbClr val="800080"/>
                </a:highlight>
              </a:rPr>
              <a:t>Reed 40+Blue 1</a:t>
            </a:r>
          </a:p>
        </p:txBody>
      </p:sp>
      <p:sp>
        <p:nvSpPr>
          <p:cNvPr id="4" name="TextBox 3">
            <a:extLst>
              <a:ext uri="{FF2B5EF4-FFF2-40B4-BE49-F238E27FC236}">
                <a16:creationId xmlns:a16="http://schemas.microsoft.com/office/drawing/2014/main" id="{AE0022F8-BF0C-27BD-BEC4-3DBE905BB82B}"/>
              </a:ext>
            </a:extLst>
          </p:cNvPr>
          <p:cNvSpPr txBox="1"/>
          <p:nvPr/>
        </p:nvSpPr>
        <p:spPr>
          <a:xfrm>
            <a:off x="11353801" y="9525"/>
            <a:ext cx="824258" cy="307777"/>
          </a:xfrm>
          <a:prstGeom prst="rect">
            <a:avLst/>
          </a:prstGeom>
          <a:noFill/>
        </p:spPr>
        <p:txBody>
          <a:bodyPr wrap="square" rtlCol="0">
            <a:spAutoFit/>
          </a:bodyPr>
          <a:lstStyle/>
          <a:p>
            <a:pPr algn="r"/>
            <a:r>
              <a:rPr lang="en-US" sz="1400" dirty="0"/>
              <a:t>Girisha</a:t>
            </a:r>
          </a:p>
        </p:txBody>
      </p:sp>
      <p:pic>
        <p:nvPicPr>
          <p:cNvPr id="9" name="Picture 8">
            <a:extLst>
              <a:ext uri="{FF2B5EF4-FFF2-40B4-BE49-F238E27FC236}">
                <a16:creationId xmlns:a16="http://schemas.microsoft.com/office/drawing/2014/main" id="{99130080-F91E-B9B0-DEDA-8AA6252F1DC9}"/>
              </a:ext>
            </a:extLst>
          </p:cNvPr>
          <p:cNvPicPr>
            <a:picLocks noChangeAspect="1"/>
          </p:cNvPicPr>
          <p:nvPr/>
        </p:nvPicPr>
        <p:blipFill>
          <a:blip r:embed="rId4"/>
          <a:stretch>
            <a:fillRect/>
          </a:stretch>
        </p:blipFill>
        <p:spPr>
          <a:xfrm>
            <a:off x="1728856" y="3273247"/>
            <a:ext cx="3529189" cy="2863399"/>
          </a:xfrm>
          <a:prstGeom prst="rect">
            <a:avLst/>
          </a:prstGeom>
        </p:spPr>
      </p:pic>
    </p:spTree>
    <p:extLst>
      <p:ext uri="{BB962C8B-B14F-4D97-AF65-F5344CB8AC3E}">
        <p14:creationId xmlns:p14="http://schemas.microsoft.com/office/powerpoint/2010/main" val="11787502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575A7-E03E-FF8C-8A33-2475C3689AE0}"/>
              </a:ext>
            </a:extLst>
          </p:cNvPr>
          <p:cNvSpPr>
            <a:spLocks noGrp="1"/>
          </p:cNvSpPr>
          <p:nvPr>
            <p:ph type="title"/>
          </p:nvPr>
        </p:nvSpPr>
        <p:spPr/>
        <p:txBody>
          <a:bodyPr/>
          <a:lstStyle/>
          <a:p>
            <a:r>
              <a:rPr lang="en-US" b="1" dirty="0"/>
              <a:t>Create</a:t>
            </a:r>
            <a:r>
              <a:rPr lang="en-US" dirty="0"/>
              <a:t>/ AI Model</a:t>
            </a:r>
          </a:p>
        </p:txBody>
      </p:sp>
      <p:sp>
        <p:nvSpPr>
          <p:cNvPr id="3" name="Content Placeholder 2">
            <a:extLst>
              <a:ext uri="{FF2B5EF4-FFF2-40B4-BE49-F238E27FC236}">
                <a16:creationId xmlns:a16="http://schemas.microsoft.com/office/drawing/2014/main" id="{34052893-6BD8-DC5B-C5AC-FC0AC9C992EA}"/>
              </a:ext>
            </a:extLst>
          </p:cNvPr>
          <p:cNvSpPr>
            <a:spLocks noGrp="1"/>
          </p:cNvSpPr>
          <p:nvPr>
            <p:ph idx="1"/>
          </p:nvPr>
        </p:nvSpPr>
        <p:spPr/>
        <p:txBody>
          <a:bodyPr/>
          <a:lstStyle/>
          <a:p>
            <a:r>
              <a:rPr lang="en-US" dirty="0"/>
              <a:t>Color detection</a:t>
            </a:r>
          </a:p>
        </p:txBody>
      </p:sp>
      <p:pic>
        <p:nvPicPr>
          <p:cNvPr id="4" name="Picture 3">
            <a:extLst>
              <a:ext uri="{FF2B5EF4-FFF2-40B4-BE49-F238E27FC236}">
                <a16:creationId xmlns:a16="http://schemas.microsoft.com/office/drawing/2014/main" id="{C9ECD615-8D93-C488-87F0-ED3E269D42AA}"/>
              </a:ext>
            </a:extLst>
          </p:cNvPr>
          <p:cNvPicPr>
            <a:picLocks noChangeAspect="1"/>
          </p:cNvPicPr>
          <p:nvPr/>
        </p:nvPicPr>
        <p:blipFill>
          <a:blip r:embed="rId3"/>
          <a:stretch>
            <a:fillRect/>
          </a:stretch>
        </p:blipFill>
        <p:spPr>
          <a:xfrm>
            <a:off x="9773642" y="4704947"/>
            <a:ext cx="2418358" cy="2153053"/>
          </a:xfrm>
          <a:prstGeom prst="rect">
            <a:avLst/>
          </a:prstGeom>
        </p:spPr>
      </p:pic>
      <p:sp>
        <p:nvSpPr>
          <p:cNvPr id="5" name="Rectangle 4">
            <a:extLst>
              <a:ext uri="{FF2B5EF4-FFF2-40B4-BE49-F238E27FC236}">
                <a16:creationId xmlns:a16="http://schemas.microsoft.com/office/drawing/2014/main" id="{488B1C20-E08B-9CF1-06C9-E48A52E3BEE2}"/>
              </a:ext>
            </a:extLst>
          </p:cNvPr>
          <p:cNvSpPr/>
          <p:nvPr/>
        </p:nvSpPr>
        <p:spPr>
          <a:xfrm rot="14650361">
            <a:off x="11196297" y="5921833"/>
            <a:ext cx="493776" cy="994581"/>
          </a:xfrm>
          <a:prstGeom prst="rect">
            <a:avLst/>
          </a:prstGeom>
          <a:no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7E05224-556E-621F-9FA2-DE9982B8275C}"/>
              </a:ext>
            </a:extLst>
          </p:cNvPr>
          <p:cNvSpPr/>
          <p:nvPr/>
        </p:nvSpPr>
        <p:spPr>
          <a:xfrm>
            <a:off x="3678277" y="3097392"/>
            <a:ext cx="1801368" cy="111556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EAFFECC4-54C4-CCE6-BD7E-6D5B02F71D25}"/>
              </a:ext>
            </a:extLst>
          </p:cNvPr>
          <p:cNvSpPr/>
          <p:nvPr/>
        </p:nvSpPr>
        <p:spPr>
          <a:xfrm>
            <a:off x="6733897" y="4651872"/>
            <a:ext cx="1801368" cy="11155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AI Model</a:t>
            </a:r>
          </a:p>
        </p:txBody>
      </p:sp>
      <p:sp>
        <p:nvSpPr>
          <p:cNvPr id="8" name="TextBox 7">
            <a:extLst>
              <a:ext uri="{FF2B5EF4-FFF2-40B4-BE49-F238E27FC236}">
                <a16:creationId xmlns:a16="http://schemas.microsoft.com/office/drawing/2014/main" id="{D2911394-8284-0C91-0C20-951539BF822D}"/>
              </a:ext>
            </a:extLst>
          </p:cNvPr>
          <p:cNvSpPr txBox="1"/>
          <p:nvPr/>
        </p:nvSpPr>
        <p:spPr>
          <a:xfrm>
            <a:off x="6601694" y="4282540"/>
            <a:ext cx="2946149" cy="369332"/>
          </a:xfrm>
          <a:prstGeom prst="rect">
            <a:avLst/>
          </a:prstGeom>
          <a:noFill/>
        </p:spPr>
        <p:txBody>
          <a:bodyPr wrap="square" rtlCol="0">
            <a:spAutoFit/>
          </a:bodyPr>
          <a:lstStyle/>
          <a:p>
            <a:r>
              <a:rPr lang="en-US" dirty="0"/>
              <a:t>ML4K AI Model</a:t>
            </a:r>
          </a:p>
        </p:txBody>
      </p:sp>
      <p:sp>
        <p:nvSpPr>
          <p:cNvPr id="9" name="TextBox 8">
            <a:extLst>
              <a:ext uri="{FF2B5EF4-FFF2-40B4-BE49-F238E27FC236}">
                <a16:creationId xmlns:a16="http://schemas.microsoft.com/office/drawing/2014/main" id="{34BB68BF-FC7A-3E85-91FC-DDB116E85B48}"/>
              </a:ext>
            </a:extLst>
          </p:cNvPr>
          <p:cNvSpPr txBox="1"/>
          <p:nvPr/>
        </p:nvSpPr>
        <p:spPr>
          <a:xfrm>
            <a:off x="3565134" y="2787496"/>
            <a:ext cx="1969596" cy="369332"/>
          </a:xfrm>
          <a:prstGeom prst="rect">
            <a:avLst/>
          </a:prstGeom>
          <a:noFill/>
        </p:spPr>
        <p:txBody>
          <a:bodyPr wrap="square" rtlCol="0">
            <a:spAutoFit/>
          </a:bodyPr>
          <a:lstStyle/>
          <a:p>
            <a:r>
              <a:rPr lang="en-US" dirty="0"/>
              <a:t>MIT App Inventor</a:t>
            </a:r>
          </a:p>
        </p:txBody>
      </p:sp>
      <p:cxnSp>
        <p:nvCxnSpPr>
          <p:cNvPr id="10" name="Straight Arrow Connector 9">
            <a:extLst>
              <a:ext uri="{FF2B5EF4-FFF2-40B4-BE49-F238E27FC236}">
                <a16:creationId xmlns:a16="http://schemas.microsoft.com/office/drawing/2014/main" id="{1F9AB206-212A-D075-C9BF-4F0BAA804FDE}"/>
              </a:ext>
            </a:extLst>
          </p:cNvPr>
          <p:cNvCxnSpPr>
            <a:cxnSpLocks/>
            <a:endCxn id="7" idx="1"/>
          </p:cNvCxnSpPr>
          <p:nvPr/>
        </p:nvCxnSpPr>
        <p:spPr>
          <a:xfrm>
            <a:off x="5479645" y="4179811"/>
            <a:ext cx="1254252" cy="1029845"/>
          </a:xfrm>
          <a:prstGeom prst="straightConnector1">
            <a:avLst/>
          </a:prstGeom>
          <a:ln w="22225">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20963DD-AD07-617F-BCB6-2D806D18F6A4}"/>
              </a:ext>
            </a:extLst>
          </p:cNvPr>
          <p:cNvCxnSpPr>
            <a:cxnSpLocks/>
            <a:stCxn id="6" idx="3"/>
          </p:cNvCxnSpPr>
          <p:nvPr/>
        </p:nvCxnSpPr>
        <p:spPr>
          <a:xfrm>
            <a:off x="5479645" y="3655176"/>
            <a:ext cx="1283136" cy="1020856"/>
          </a:xfrm>
          <a:prstGeom prst="straightConnector1">
            <a:avLst/>
          </a:prstGeom>
          <a:ln w="22225">
            <a:solidFill>
              <a:schemeClr val="tx1"/>
            </a:solidFill>
            <a:headEnd type="stealth" w="lg" len="lg"/>
            <a:tailEnd type="non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B7DD31C-9083-74A4-F58B-AAAA77E2FFE0}"/>
              </a:ext>
            </a:extLst>
          </p:cNvPr>
          <p:cNvSpPr txBox="1"/>
          <p:nvPr/>
        </p:nvSpPr>
        <p:spPr>
          <a:xfrm>
            <a:off x="2112910" y="6335697"/>
            <a:ext cx="4008303" cy="369332"/>
          </a:xfrm>
          <a:prstGeom prst="rect">
            <a:avLst/>
          </a:prstGeom>
          <a:noFill/>
        </p:spPr>
        <p:txBody>
          <a:bodyPr wrap="square" rtlCol="0">
            <a:spAutoFit/>
          </a:bodyPr>
          <a:lstStyle/>
          <a:p>
            <a:r>
              <a:rPr lang="en-US" dirty="0"/>
              <a:t>ML4K is Machine Learning for Kids</a:t>
            </a:r>
          </a:p>
        </p:txBody>
      </p:sp>
      <p:sp>
        <p:nvSpPr>
          <p:cNvPr id="13" name="Rectangle 12">
            <a:extLst>
              <a:ext uri="{FF2B5EF4-FFF2-40B4-BE49-F238E27FC236}">
                <a16:creationId xmlns:a16="http://schemas.microsoft.com/office/drawing/2014/main" id="{9B6F56B4-1194-D5DB-B60B-8B7D6BD1939B}"/>
              </a:ext>
            </a:extLst>
          </p:cNvPr>
          <p:cNvSpPr/>
          <p:nvPr/>
        </p:nvSpPr>
        <p:spPr>
          <a:xfrm>
            <a:off x="2287728" y="3188578"/>
            <a:ext cx="969484" cy="9083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Camera</a:t>
            </a:r>
          </a:p>
          <a:p>
            <a:pPr algn="ctr"/>
            <a:r>
              <a:rPr lang="en-US" sz="1400" dirty="0"/>
              <a:t>/</a:t>
            </a:r>
          </a:p>
          <a:p>
            <a:pPr algn="ctr"/>
            <a:r>
              <a:rPr lang="en-US" sz="1400" dirty="0"/>
              <a:t>Sensor</a:t>
            </a:r>
          </a:p>
        </p:txBody>
      </p:sp>
      <p:sp>
        <p:nvSpPr>
          <p:cNvPr id="14" name="Rectangle 13">
            <a:extLst>
              <a:ext uri="{FF2B5EF4-FFF2-40B4-BE49-F238E27FC236}">
                <a16:creationId xmlns:a16="http://schemas.microsoft.com/office/drawing/2014/main" id="{93B26CA9-87B1-1403-FCD6-8586C25472CD}"/>
              </a:ext>
            </a:extLst>
          </p:cNvPr>
          <p:cNvSpPr/>
          <p:nvPr/>
        </p:nvSpPr>
        <p:spPr>
          <a:xfrm>
            <a:off x="6733897" y="5767440"/>
            <a:ext cx="1801368" cy="63336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Training Data</a:t>
            </a:r>
          </a:p>
        </p:txBody>
      </p:sp>
      <p:cxnSp>
        <p:nvCxnSpPr>
          <p:cNvPr id="15" name="Straight Arrow Connector 14">
            <a:extLst>
              <a:ext uri="{FF2B5EF4-FFF2-40B4-BE49-F238E27FC236}">
                <a16:creationId xmlns:a16="http://schemas.microsoft.com/office/drawing/2014/main" id="{B828630E-F9A0-BAC8-B7D3-5D0F79385264}"/>
              </a:ext>
            </a:extLst>
          </p:cNvPr>
          <p:cNvCxnSpPr>
            <a:stCxn id="13" idx="3"/>
            <a:endCxn id="6" idx="1"/>
          </p:cNvCxnSpPr>
          <p:nvPr/>
        </p:nvCxnSpPr>
        <p:spPr>
          <a:xfrm>
            <a:off x="3257212" y="3642776"/>
            <a:ext cx="421065" cy="12400"/>
          </a:xfrm>
          <a:prstGeom prst="straightConnector1">
            <a:avLst/>
          </a:prstGeom>
          <a:ln w="22225">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12FB96E1-9F60-F8FA-59A8-61C88AF6E0ED}"/>
              </a:ext>
            </a:extLst>
          </p:cNvPr>
          <p:cNvSpPr txBox="1"/>
          <p:nvPr/>
        </p:nvSpPr>
        <p:spPr>
          <a:xfrm>
            <a:off x="2287246" y="4117818"/>
            <a:ext cx="969485" cy="400110"/>
          </a:xfrm>
          <a:prstGeom prst="rect">
            <a:avLst/>
          </a:prstGeom>
          <a:noFill/>
        </p:spPr>
        <p:txBody>
          <a:bodyPr wrap="square" rtlCol="0">
            <a:spAutoFit/>
          </a:bodyPr>
          <a:lstStyle/>
          <a:p>
            <a:r>
              <a:rPr lang="en-US" sz="1000" dirty="0"/>
              <a:t>Android Phone</a:t>
            </a:r>
          </a:p>
          <a:p>
            <a:r>
              <a:rPr lang="en-US" sz="1000" dirty="0"/>
              <a:t>Laptop Camera</a:t>
            </a:r>
          </a:p>
        </p:txBody>
      </p:sp>
      <p:sp>
        <p:nvSpPr>
          <p:cNvPr id="17" name="Oval 16">
            <a:extLst>
              <a:ext uri="{FF2B5EF4-FFF2-40B4-BE49-F238E27FC236}">
                <a16:creationId xmlns:a16="http://schemas.microsoft.com/office/drawing/2014/main" id="{AB1DF032-846B-92D1-05FB-B6CB85FAFBF1}"/>
              </a:ext>
            </a:extLst>
          </p:cNvPr>
          <p:cNvSpPr/>
          <p:nvPr/>
        </p:nvSpPr>
        <p:spPr>
          <a:xfrm>
            <a:off x="701079" y="3284478"/>
            <a:ext cx="969484" cy="650494"/>
          </a:xfrm>
          <a:prstGeom prst="ellipse">
            <a:avLst/>
          </a:prstGeom>
          <a:solidFill>
            <a:schemeClr val="tx1"/>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200" dirty="0"/>
              <a:t>Sample</a:t>
            </a:r>
          </a:p>
        </p:txBody>
      </p:sp>
      <p:cxnSp>
        <p:nvCxnSpPr>
          <p:cNvPr id="18" name="Straight Arrow Connector 17">
            <a:extLst>
              <a:ext uri="{FF2B5EF4-FFF2-40B4-BE49-F238E27FC236}">
                <a16:creationId xmlns:a16="http://schemas.microsoft.com/office/drawing/2014/main" id="{7C0ACF8D-B085-FAE4-90A5-70EBB6329336}"/>
              </a:ext>
            </a:extLst>
          </p:cNvPr>
          <p:cNvCxnSpPr>
            <a:cxnSpLocks/>
            <a:stCxn id="17" idx="6"/>
            <a:endCxn id="13" idx="1"/>
          </p:cNvCxnSpPr>
          <p:nvPr/>
        </p:nvCxnSpPr>
        <p:spPr>
          <a:xfrm>
            <a:off x="1670563" y="3609725"/>
            <a:ext cx="617165" cy="33051"/>
          </a:xfrm>
          <a:prstGeom prst="straightConnector1">
            <a:avLst/>
          </a:prstGeom>
          <a:ln w="22225">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64D66DE-659D-5290-76C3-FF14F10A37E2}"/>
              </a:ext>
            </a:extLst>
          </p:cNvPr>
          <p:cNvSpPr txBox="1"/>
          <p:nvPr/>
        </p:nvSpPr>
        <p:spPr>
          <a:xfrm>
            <a:off x="11430001" y="9525"/>
            <a:ext cx="748058" cy="307777"/>
          </a:xfrm>
          <a:prstGeom prst="rect">
            <a:avLst/>
          </a:prstGeom>
          <a:noFill/>
        </p:spPr>
        <p:txBody>
          <a:bodyPr wrap="square" rtlCol="0">
            <a:spAutoFit/>
          </a:bodyPr>
          <a:lstStyle/>
          <a:p>
            <a:pPr algn="r"/>
            <a:r>
              <a:rPr lang="en-US" sz="1400" dirty="0"/>
              <a:t>Girisha</a:t>
            </a:r>
          </a:p>
        </p:txBody>
      </p:sp>
    </p:spTree>
    <p:extLst>
      <p:ext uri="{BB962C8B-B14F-4D97-AF65-F5344CB8AC3E}">
        <p14:creationId xmlns:p14="http://schemas.microsoft.com/office/powerpoint/2010/main" val="4847535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A0C1C-77DA-E24A-3D8C-A4E8F896CA68}"/>
              </a:ext>
            </a:extLst>
          </p:cNvPr>
          <p:cNvSpPr>
            <a:spLocks noGrp="1"/>
          </p:cNvSpPr>
          <p:nvPr>
            <p:ph type="title"/>
          </p:nvPr>
        </p:nvSpPr>
        <p:spPr/>
        <p:txBody>
          <a:bodyPr/>
          <a:lstStyle/>
          <a:p>
            <a:r>
              <a:rPr lang="en-US" b="1" dirty="0"/>
              <a:t>Iterate</a:t>
            </a:r>
            <a:r>
              <a:rPr lang="en-US" dirty="0"/>
              <a:t>/ AI Model</a:t>
            </a:r>
          </a:p>
        </p:txBody>
      </p:sp>
      <p:sp>
        <p:nvSpPr>
          <p:cNvPr id="3" name="Content Placeholder 2">
            <a:extLst>
              <a:ext uri="{FF2B5EF4-FFF2-40B4-BE49-F238E27FC236}">
                <a16:creationId xmlns:a16="http://schemas.microsoft.com/office/drawing/2014/main" id="{C9DBE903-E5C2-DDC3-4EA0-A2903376230C}"/>
              </a:ext>
            </a:extLst>
          </p:cNvPr>
          <p:cNvSpPr>
            <a:spLocks noGrp="1"/>
          </p:cNvSpPr>
          <p:nvPr>
            <p:ph idx="1"/>
          </p:nvPr>
        </p:nvSpPr>
        <p:spPr/>
        <p:txBody>
          <a:bodyPr/>
          <a:lstStyle/>
          <a:p>
            <a:r>
              <a:rPr lang="en-US" dirty="0"/>
              <a:t>Trained the model</a:t>
            </a:r>
          </a:p>
          <a:p>
            <a:pPr lvl="1"/>
            <a:r>
              <a:rPr lang="en-US" dirty="0"/>
              <a:t> By giving it 10 or more samples for each color</a:t>
            </a:r>
          </a:p>
          <a:p>
            <a:r>
              <a:rPr lang="en-US" dirty="0"/>
              <a:t>Adjusted the model as we went on</a:t>
            </a:r>
          </a:p>
          <a:p>
            <a:pPr lvl="1"/>
            <a:r>
              <a:rPr lang="en-US" dirty="0"/>
              <a:t>Reviewed the results and trained the model further</a:t>
            </a:r>
          </a:p>
          <a:p>
            <a:endParaRPr lang="en-US" dirty="0"/>
          </a:p>
        </p:txBody>
      </p:sp>
      <p:pic>
        <p:nvPicPr>
          <p:cNvPr id="4" name="Picture 3">
            <a:extLst>
              <a:ext uri="{FF2B5EF4-FFF2-40B4-BE49-F238E27FC236}">
                <a16:creationId xmlns:a16="http://schemas.microsoft.com/office/drawing/2014/main" id="{01955568-F3AE-CF97-D3B1-23437155C047}"/>
              </a:ext>
            </a:extLst>
          </p:cNvPr>
          <p:cNvPicPr>
            <a:picLocks noChangeAspect="1"/>
          </p:cNvPicPr>
          <p:nvPr/>
        </p:nvPicPr>
        <p:blipFill>
          <a:blip r:embed="rId3"/>
          <a:stretch>
            <a:fillRect/>
          </a:stretch>
        </p:blipFill>
        <p:spPr>
          <a:xfrm>
            <a:off x="9773642" y="4704947"/>
            <a:ext cx="2418358" cy="2153053"/>
          </a:xfrm>
          <a:prstGeom prst="rect">
            <a:avLst/>
          </a:prstGeom>
        </p:spPr>
      </p:pic>
      <p:sp>
        <p:nvSpPr>
          <p:cNvPr id="5" name="Rectangle 4">
            <a:extLst>
              <a:ext uri="{FF2B5EF4-FFF2-40B4-BE49-F238E27FC236}">
                <a16:creationId xmlns:a16="http://schemas.microsoft.com/office/drawing/2014/main" id="{CCD1CAEB-D38F-253B-0F05-78CBF9857CF0}"/>
              </a:ext>
            </a:extLst>
          </p:cNvPr>
          <p:cNvSpPr/>
          <p:nvPr/>
        </p:nvSpPr>
        <p:spPr>
          <a:xfrm rot="18252979">
            <a:off x="10254288" y="5814608"/>
            <a:ext cx="493776" cy="994581"/>
          </a:xfrm>
          <a:prstGeom prst="rect">
            <a:avLst/>
          </a:prstGeom>
          <a:no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24AF995-DBA9-26D7-930E-EC6D43868E11}"/>
              </a:ext>
            </a:extLst>
          </p:cNvPr>
          <p:cNvSpPr txBox="1"/>
          <p:nvPr/>
        </p:nvSpPr>
        <p:spPr>
          <a:xfrm>
            <a:off x="11654183" y="9525"/>
            <a:ext cx="523875" cy="276999"/>
          </a:xfrm>
          <a:prstGeom prst="rect">
            <a:avLst/>
          </a:prstGeom>
          <a:noFill/>
        </p:spPr>
        <p:txBody>
          <a:bodyPr wrap="square" rtlCol="0">
            <a:spAutoFit/>
          </a:bodyPr>
          <a:lstStyle/>
          <a:p>
            <a:pPr algn="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Riya</a:t>
            </a:r>
            <a:endParaRPr lang="en-US" sz="1400" dirty="0"/>
          </a:p>
        </p:txBody>
      </p:sp>
    </p:spTree>
    <p:extLst>
      <p:ext uri="{BB962C8B-B14F-4D97-AF65-F5344CB8AC3E}">
        <p14:creationId xmlns:p14="http://schemas.microsoft.com/office/powerpoint/2010/main" val="3165588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2C09F5-AF71-8266-8D3E-17C4B2659BEB}"/>
              </a:ext>
            </a:extLst>
          </p:cNvPr>
          <p:cNvSpPr>
            <a:spLocks noGrp="1"/>
          </p:cNvSpPr>
          <p:nvPr>
            <p:ph type="title"/>
          </p:nvPr>
        </p:nvSpPr>
        <p:spPr/>
        <p:txBody>
          <a:bodyPr/>
          <a:lstStyle/>
          <a:p>
            <a:r>
              <a:rPr lang="en-US" b="1" dirty="0"/>
              <a:t>Communicate</a:t>
            </a:r>
          </a:p>
        </p:txBody>
      </p:sp>
      <p:sp>
        <p:nvSpPr>
          <p:cNvPr id="3" name="Content Placeholder 2">
            <a:extLst>
              <a:ext uri="{FF2B5EF4-FFF2-40B4-BE49-F238E27FC236}">
                <a16:creationId xmlns:a16="http://schemas.microsoft.com/office/drawing/2014/main" id="{2C0B09F1-7F89-AE78-4DC0-A332028BC202}"/>
              </a:ext>
            </a:extLst>
          </p:cNvPr>
          <p:cNvSpPr>
            <a:spLocks noGrp="1"/>
          </p:cNvSpPr>
          <p:nvPr>
            <p:ph idx="1"/>
          </p:nvPr>
        </p:nvSpPr>
        <p:spPr/>
        <p:txBody>
          <a:bodyPr/>
          <a:lstStyle/>
          <a:p>
            <a:r>
              <a:rPr lang="en-US" dirty="0"/>
              <a:t>Result, Learning and Outcome</a:t>
            </a:r>
          </a:p>
          <a:p>
            <a:pPr lvl="1"/>
            <a:r>
              <a:rPr lang="en-US" dirty="0"/>
              <a:t>Natural dyes are better for everyone’s health and the environment</a:t>
            </a:r>
          </a:p>
          <a:p>
            <a:pPr lvl="1"/>
            <a:r>
              <a:rPr lang="en-US" dirty="0"/>
              <a:t>AI can help to keep consistency with the manufacturing of the colors using natural resources or ingredients</a:t>
            </a:r>
          </a:p>
          <a:p>
            <a:pPr lvl="1"/>
            <a:r>
              <a:rPr lang="en-US" dirty="0"/>
              <a:t>Team is working on creating a Functional App to raise awareness</a:t>
            </a:r>
          </a:p>
          <a:p>
            <a:pPr lvl="1"/>
            <a:endParaRPr lang="en-US" dirty="0"/>
          </a:p>
          <a:p>
            <a:r>
              <a:rPr lang="en-US" dirty="0"/>
              <a:t>Recommendation (hand out samples) </a:t>
            </a:r>
          </a:p>
          <a:p>
            <a:pPr lvl="1"/>
            <a:r>
              <a:rPr lang="en-US" dirty="0"/>
              <a:t>Switch to start using natural dyes</a:t>
            </a:r>
          </a:p>
        </p:txBody>
      </p:sp>
      <p:pic>
        <p:nvPicPr>
          <p:cNvPr id="4" name="Picture 3">
            <a:extLst>
              <a:ext uri="{FF2B5EF4-FFF2-40B4-BE49-F238E27FC236}">
                <a16:creationId xmlns:a16="http://schemas.microsoft.com/office/drawing/2014/main" id="{129114F7-5359-53FF-001D-3BF437F60F76}"/>
              </a:ext>
            </a:extLst>
          </p:cNvPr>
          <p:cNvPicPr>
            <a:picLocks noChangeAspect="1"/>
          </p:cNvPicPr>
          <p:nvPr/>
        </p:nvPicPr>
        <p:blipFill>
          <a:blip r:embed="rId3"/>
          <a:stretch>
            <a:fillRect/>
          </a:stretch>
        </p:blipFill>
        <p:spPr>
          <a:xfrm>
            <a:off x="9773642" y="4704947"/>
            <a:ext cx="2418358" cy="2153053"/>
          </a:xfrm>
          <a:prstGeom prst="rect">
            <a:avLst/>
          </a:prstGeom>
        </p:spPr>
      </p:pic>
      <p:sp>
        <p:nvSpPr>
          <p:cNvPr id="5" name="Rectangle 4">
            <a:extLst>
              <a:ext uri="{FF2B5EF4-FFF2-40B4-BE49-F238E27FC236}">
                <a16:creationId xmlns:a16="http://schemas.microsoft.com/office/drawing/2014/main" id="{C48310FE-A76F-FED1-0967-7DEBB2B71440}"/>
              </a:ext>
            </a:extLst>
          </p:cNvPr>
          <p:cNvSpPr/>
          <p:nvPr/>
        </p:nvSpPr>
        <p:spPr>
          <a:xfrm rot="1524279">
            <a:off x="10034833" y="4939153"/>
            <a:ext cx="493776" cy="994581"/>
          </a:xfrm>
          <a:prstGeom prst="rect">
            <a:avLst/>
          </a:prstGeom>
          <a:no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9A056B6F-6177-C561-635A-DE0F5A86D997}"/>
              </a:ext>
            </a:extLst>
          </p:cNvPr>
          <p:cNvSpPr txBox="1"/>
          <p:nvPr/>
        </p:nvSpPr>
        <p:spPr>
          <a:xfrm>
            <a:off x="11654183" y="9525"/>
            <a:ext cx="523875" cy="307777"/>
          </a:xfrm>
          <a:prstGeom prst="rect">
            <a:avLst/>
          </a:prstGeom>
          <a:noFill/>
        </p:spPr>
        <p:txBody>
          <a:bodyPr wrap="square" rtlCol="0">
            <a:spAutoFit/>
          </a:bodyPr>
          <a:lstStyle/>
          <a:p>
            <a:pPr algn="r"/>
            <a:r>
              <a:rPr lang="en-US" sz="1400" dirty="0"/>
              <a:t>Riya</a:t>
            </a:r>
          </a:p>
        </p:txBody>
      </p:sp>
    </p:spTree>
    <p:extLst>
      <p:ext uri="{BB962C8B-B14F-4D97-AF65-F5344CB8AC3E}">
        <p14:creationId xmlns:p14="http://schemas.microsoft.com/office/powerpoint/2010/main" val="7072820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39F1516-B9E3-49F5-790A-A2427C605ECC}"/>
              </a:ext>
            </a:extLst>
          </p:cNvPr>
          <p:cNvSpPr>
            <a:spLocks noGrp="1"/>
          </p:cNvSpPr>
          <p:nvPr>
            <p:ph type="ctrTitle"/>
          </p:nvPr>
        </p:nvSpPr>
        <p:spPr/>
        <p:txBody>
          <a:bodyPr/>
          <a:lstStyle/>
          <a:p>
            <a:r>
              <a:rPr lang="en-US" dirty="0"/>
              <a:t>Thank you!</a:t>
            </a:r>
          </a:p>
        </p:txBody>
      </p:sp>
      <p:sp>
        <p:nvSpPr>
          <p:cNvPr id="3" name="TextBox 2">
            <a:extLst>
              <a:ext uri="{FF2B5EF4-FFF2-40B4-BE49-F238E27FC236}">
                <a16:creationId xmlns:a16="http://schemas.microsoft.com/office/drawing/2014/main" id="{CCD6555E-04CB-559A-A3E5-C028AA8BDF6B}"/>
              </a:ext>
            </a:extLst>
          </p:cNvPr>
          <p:cNvSpPr txBox="1"/>
          <p:nvPr/>
        </p:nvSpPr>
        <p:spPr>
          <a:xfrm>
            <a:off x="11654183" y="9525"/>
            <a:ext cx="523875" cy="307777"/>
          </a:xfrm>
          <a:prstGeom prst="rect">
            <a:avLst/>
          </a:prstGeom>
          <a:noFill/>
        </p:spPr>
        <p:txBody>
          <a:bodyPr wrap="square" rtlCol="0">
            <a:spAutoFit/>
          </a:bodyPr>
          <a:lstStyle/>
          <a:p>
            <a:pPr algn="r"/>
            <a:r>
              <a:rPr lang="en-US" sz="1400" dirty="0"/>
              <a:t>Riya</a:t>
            </a:r>
          </a:p>
        </p:txBody>
      </p:sp>
      <p:pic>
        <p:nvPicPr>
          <p:cNvPr id="6" name="Picture 5">
            <a:extLst>
              <a:ext uri="{FF2B5EF4-FFF2-40B4-BE49-F238E27FC236}">
                <a16:creationId xmlns:a16="http://schemas.microsoft.com/office/drawing/2014/main" id="{E5DD5846-ECE7-825A-4B55-A3C828546FF7}"/>
              </a:ext>
            </a:extLst>
          </p:cNvPr>
          <p:cNvPicPr>
            <a:picLocks noChangeAspect="1"/>
          </p:cNvPicPr>
          <p:nvPr/>
        </p:nvPicPr>
        <p:blipFill>
          <a:blip r:embed="rId3"/>
          <a:srcRect b="47337"/>
          <a:stretch>
            <a:fillRect/>
          </a:stretch>
        </p:blipFill>
        <p:spPr>
          <a:xfrm>
            <a:off x="9006840" y="5735637"/>
            <a:ext cx="3028343" cy="691924"/>
          </a:xfrm>
          <a:prstGeom prst="rect">
            <a:avLst/>
          </a:prstGeom>
        </p:spPr>
      </p:pic>
      <p:pic>
        <p:nvPicPr>
          <p:cNvPr id="8" name="Picture 2" descr="FIRST LEGO League seizoen 2025-2026 | Beleef je Beroep">
            <a:extLst>
              <a:ext uri="{FF2B5EF4-FFF2-40B4-BE49-F238E27FC236}">
                <a16:creationId xmlns:a16="http://schemas.microsoft.com/office/drawing/2014/main" id="{C015F4A7-5256-DF88-7287-756DDAD8053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8383" r="46643" b="15440"/>
          <a:stretch>
            <a:fillRect/>
          </a:stretch>
        </p:blipFill>
        <p:spPr bwMode="auto">
          <a:xfrm>
            <a:off x="306215" y="5257800"/>
            <a:ext cx="1454385" cy="13897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3288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5F471E7-6DD3-F741-4D94-A47532469A71}"/>
              </a:ext>
            </a:extLst>
          </p:cNvPr>
          <p:cNvPicPr>
            <a:picLocks noChangeAspect="1"/>
          </p:cNvPicPr>
          <p:nvPr/>
        </p:nvPicPr>
        <p:blipFill>
          <a:blip r:embed="rId2"/>
          <a:stretch>
            <a:fillRect/>
          </a:stretch>
        </p:blipFill>
        <p:spPr>
          <a:xfrm>
            <a:off x="0" y="1025581"/>
            <a:ext cx="12192000" cy="4806838"/>
          </a:xfrm>
          <a:prstGeom prst="rect">
            <a:avLst/>
          </a:prstGeom>
        </p:spPr>
      </p:pic>
    </p:spTree>
    <p:extLst>
      <p:ext uri="{BB962C8B-B14F-4D97-AF65-F5344CB8AC3E}">
        <p14:creationId xmlns:p14="http://schemas.microsoft.com/office/powerpoint/2010/main" val="25440816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9674F-65CE-C57B-8504-2EE694BA9917}"/>
              </a:ext>
            </a:extLst>
          </p:cNvPr>
          <p:cNvSpPr>
            <a:spLocks noGrp="1"/>
          </p:cNvSpPr>
          <p:nvPr>
            <p:ph type="title"/>
          </p:nvPr>
        </p:nvSpPr>
        <p:spPr>
          <a:xfrm>
            <a:off x="838200" y="1103889"/>
            <a:ext cx="10515600" cy="1325563"/>
          </a:xfrm>
        </p:spPr>
        <p:txBody>
          <a:bodyPr>
            <a:normAutofit/>
          </a:bodyPr>
          <a:lstStyle/>
          <a:p>
            <a:r>
              <a:rPr lang="en-US" sz="2800" dirty="0"/>
              <a:t>Civilizations Researched</a:t>
            </a:r>
          </a:p>
        </p:txBody>
      </p:sp>
      <p:pic>
        <p:nvPicPr>
          <p:cNvPr id="5" name="Content Placeholder 4">
            <a:extLst>
              <a:ext uri="{FF2B5EF4-FFF2-40B4-BE49-F238E27FC236}">
                <a16:creationId xmlns:a16="http://schemas.microsoft.com/office/drawing/2014/main" id="{0BEB83BA-713B-4B5A-CBEE-76DE759DBCFF}"/>
              </a:ext>
            </a:extLst>
          </p:cNvPr>
          <p:cNvPicPr>
            <a:picLocks noGrp="1" noChangeAspect="1"/>
          </p:cNvPicPr>
          <p:nvPr>
            <p:ph idx="1"/>
          </p:nvPr>
        </p:nvPicPr>
        <p:blipFill>
          <a:blip r:embed="rId2"/>
          <a:stretch>
            <a:fillRect/>
          </a:stretch>
        </p:blipFill>
        <p:spPr>
          <a:xfrm>
            <a:off x="2961200" y="2305593"/>
            <a:ext cx="4029637" cy="3591426"/>
          </a:xfrm>
          <a:prstGeom prst="rect">
            <a:avLst/>
          </a:prstGeom>
        </p:spPr>
      </p:pic>
      <p:sp>
        <p:nvSpPr>
          <p:cNvPr id="7" name="Title 1">
            <a:extLst>
              <a:ext uri="{FF2B5EF4-FFF2-40B4-BE49-F238E27FC236}">
                <a16:creationId xmlns:a16="http://schemas.microsoft.com/office/drawing/2014/main" id="{3B46F890-7E7E-4692-FB79-F1B7B8BC1433}"/>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a:t>Create </a:t>
            </a:r>
            <a:r>
              <a:rPr lang="en-US"/>
              <a:t>/ Summary</a:t>
            </a:r>
            <a:endParaRPr lang="en-US" dirty="0"/>
          </a:p>
        </p:txBody>
      </p:sp>
    </p:spTree>
    <p:extLst>
      <p:ext uri="{BB962C8B-B14F-4D97-AF65-F5344CB8AC3E}">
        <p14:creationId xmlns:p14="http://schemas.microsoft.com/office/powerpoint/2010/main" val="2034437179"/>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5317</TotalTime>
  <Words>723</Words>
  <Application>Microsoft Office PowerPoint</Application>
  <PresentationFormat>Widescreen</PresentationFormat>
  <Paragraphs>138</Paragraphs>
  <Slides>17</Slides>
  <Notes>14</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Trebuchet MS</vt:lpstr>
      <vt:lpstr>Wingdings 3</vt:lpstr>
      <vt:lpstr>Facet</vt:lpstr>
      <vt:lpstr>Unearthed  Innovation Project</vt:lpstr>
      <vt:lpstr>Identify / Problem Selection</vt:lpstr>
      <vt:lpstr>Identify / Problem Details</vt:lpstr>
      <vt:lpstr>Identify / Problem Details</vt:lpstr>
      <vt:lpstr>Design / Solution</vt:lpstr>
      <vt:lpstr>Create / Summary</vt:lpstr>
      <vt:lpstr>Create/ Egyptian Civilization</vt:lpstr>
      <vt:lpstr>Create/ Indus River Valley Civilization</vt:lpstr>
      <vt:lpstr>Create/ Chinese Civilization</vt:lpstr>
      <vt:lpstr>Create/ Aztec &amp; Maya Civilization</vt:lpstr>
      <vt:lpstr>Create/ Greece Civilization</vt:lpstr>
      <vt:lpstr>Create/ AI Model</vt:lpstr>
      <vt:lpstr>Iterate/ AI Model</vt:lpstr>
      <vt:lpstr>Communicate</vt:lpstr>
      <vt:lpstr>Thank you!</vt:lpstr>
      <vt:lpstr>PowerPoint Presentation</vt:lpstr>
      <vt:lpstr>Civilizations Researched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vikas loomba</dc:creator>
  <cp:lastModifiedBy>vikas loomba</cp:lastModifiedBy>
  <cp:revision>71</cp:revision>
  <dcterms:created xsi:type="dcterms:W3CDTF">2025-10-11T21:23:57Z</dcterms:created>
  <dcterms:modified xsi:type="dcterms:W3CDTF">2025-12-13T11:16:51Z</dcterms:modified>
</cp:coreProperties>
</file>